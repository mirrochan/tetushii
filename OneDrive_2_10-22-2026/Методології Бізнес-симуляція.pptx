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rawing1.xml" ContentType="application/vnd.ms-office.drawingml.diagramDrawing+xml"/>
  <Override PartName="/ppt/theme/theme1.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 id="279"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64" r:id="rId24"/>
    <p:sldId id="278" r:id="rId25"/>
    <p:sldId id="280" r:id="rId26"/>
    <p:sldId id="281" r:id="rId27"/>
    <p:sldId id="282" r:id="rId28"/>
    <p:sldId id="294" r:id="rId29"/>
    <p:sldId id="295" r:id="rId30"/>
    <p:sldId id="296" r:id="rId31"/>
    <p:sldId id="297" r:id="rId32"/>
    <p:sldId id="298" r:id="rId33"/>
    <p:sldId id="299" r:id="rId34"/>
    <p:sldId id="300" r:id="rId35"/>
    <p:sldId id="301" r:id="rId36"/>
    <p:sldId id="302" r:id="rId37"/>
    <p:sldId id="303" r:id="rId38"/>
    <p:sldId id="283" r:id="rId39"/>
    <p:sldId id="284" r:id="rId40"/>
    <p:sldId id="285" r:id="rId41"/>
    <p:sldId id="286" r:id="rId42"/>
    <p:sldId id="287" r:id="rId43"/>
    <p:sldId id="288" r:id="rId44"/>
    <p:sldId id="289" r:id="rId45"/>
    <p:sldId id="290" r:id="rId46"/>
    <p:sldId id="291" r:id="rId47"/>
    <p:sldId id="292" r:id="rId48"/>
    <p:sldId id="293"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3F6864-2CAF-454B-B6F6-A76FA4B941DA}" type="doc">
      <dgm:prSet loTypeId="urn:microsoft.com/office/officeart/2005/8/layout/hierarchy6" loCatId="hierarchy" qsTypeId="urn:microsoft.com/office/officeart/2005/8/quickstyle/simple3" qsCatId="simple" csTypeId="urn:microsoft.com/office/officeart/2005/8/colors/colorful4" csCatId="colorful" phldr="1"/>
      <dgm:spPr/>
      <dgm:t>
        <a:bodyPr/>
        <a:lstStyle/>
        <a:p>
          <a:endParaRPr lang="en-US"/>
        </a:p>
      </dgm:t>
    </dgm:pt>
    <dgm:pt modelId="{571D74B8-2ECD-49A7-8BF4-6375A674DC32}">
      <dgm:prSet phldrT="[Text]"/>
      <dgm:spPr/>
      <dgm:t>
        <a:bodyPr/>
        <a:lstStyle/>
        <a:p>
          <a:r>
            <a:rPr lang="en-US" dirty="0"/>
            <a:t>Project Manager (PM)</a:t>
          </a:r>
        </a:p>
      </dgm:t>
    </dgm:pt>
    <dgm:pt modelId="{DE5BCBF9-45A7-47D2-8D1C-B6985AE9F276}" type="parTrans" cxnId="{3E681DA1-F808-4FC1-893F-30CE219FC41E}">
      <dgm:prSet/>
      <dgm:spPr/>
      <dgm:t>
        <a:bodyPr/>
        <a:lstStyle/>
        <a:p>
          <a:endParaRPr lang="en-US"/>
        </a:p>
      </dgm:t>
    </dgm:pt>
    <dgm:pt modelId="{48C09843-52F2-4968-AA19-03EEC3659DA4}" type="sibTrans" cxnId="{3E681DA1-F808-4FC1-893F-30CE219FC41E}">
      <dgm:prSet/>
      <dgm:spPr/>
      <dgm:t>
        <a:bodyPr/>
        <a:lstStyle/>
        <a:p>
          <a:endParaRPr lang="en-US"/>
        </a:p>
      </dgm:t>
    </dgm:pt>
    <dgm:pt modelId="{46CD7EBA-A682-4BA9-9DD5-6ED7549F33ED}">
      <dgm:prSet phldrT="[Text]"/>
      <dgm:spPr/>
      <dgm:t>
        <a:bodyPr/>
        <a:lstStyle/>
        <a:p>
          <a:r>
            <a:rPr lang="en-US" dirty="0"/>
            <a:t>Technical Leader</a:t>
          </a:r>
        </a:p>
      </dgm:t>
    </dgm:pt>
    <dgm:pt modelId="{30C8F5F4-CE5E-4945-BFB6-E8693DA8E6B1}" type="parTrans" cxnId="{118C73C3-5420-4DD0-AB7D-89929C19FEA8}">
      <dgm:prSet/>
      <dgm:spPr/>
      <dgm:t>
        <a:bodyPr/>
        <a:lstStyle/>
        <a:p>
          <a:endParaRPr lang="en-US">
            <a:solidFill>
              <a:schemeClr val="bg1"/>
            </a:solidFill>
          </a:endParaRPr>
        </a:p>
      </dgm:t>
    </dgm:pt>
    <dgm:pt modelId="{475F530A-FD8A-4C37-9C3D-6D00C5CBCAF9}" type="sibTrans" cxnId="{118C73C3-5420-4DD0-AB7D-89929C19FEA8}">
      <dgm:prSet/>
      <dgm:spPr/>
      <dgm:t>
        <a:bodyPr/>
        <a:lstStyle/>
        <a:p>
          <a:endParaRPr lang="en-US"/>
        </a:p>
      </dgm:t>
    </dgm:pt>
    <dgm:pt modelId="{ED17BB1A-6784-49AE-82A7-FA4E002A2C6C}">
      <dgm:prSet phldrT="[Text]"/>
      <dgm:spPr/>
      <dgm:t>
        <a:bodyPr/>
        <a:lstStyle/>
        <a:p>
          <a:r>
            <a:rPr lang="en-US" dirty="0"/>
            <a:t>Developer 1</a:t>
          </a:r>
        </a:p>
      </dgm:t>
    </dgm:pt>
    <dgm:pt modelId="{F6231982-B625-41DD-954A-FEDD06553638}" type="parTrans" cxnId="{80431727-F0FB-4E99-AC1A-1475D1F908E9}">
      <dgm:prSet/>
      <dgm:spPr/>
      <dgm:t>
        <a:bodyPr/>
        <a:lstStyle/>
        <a:p>
          <a:endParaRPr lang="en-US"/>
        </a:p>
      </dgm:t>
    </dgm:pt>
    <dgm:pt modelId="{833CD780-C8F4-441F-A364-F75E9583CA5E}" type="sibTrans" cxnId="{80431727-F0FB-4E99-AC1A-1475D1F908E9}">
      <dgm:prSet/>
      <dgm:spPr/>
      <dgm:t>
        <a:bodyPr/>
        <a:lstStyle/>
        <a:p>
          <a:endParaRPr lang="en-US"/>
        </a:p>
      </dgm:t>
    </dgm:pt>
    <dgm:pt modelId="{385510B3-9EFD-4B79-BBB2-3EA58681C2CD}">
      <dgm:prSet phldrT="[Text]"/>
      <dgm:spPr/>
      <dgm:t>
        <a:bodyPr/>
        <a:lstStyle/>
        <a:p>
          <a:r>
            <a:rPr lang="en-US" dirty="0"/>
            <a:t>Developer2</a:t>
          </a:r>
        </a:p>
      </dgm:t>
    </dgm:pt>
    <dgm:pt modelId="{A7B61CE2-90C7-4C24-A91B-365BDCEA180F}" type="parTrans" cxnId="{3D41EFBC-B883-4426-9441-13C92F2833A8}">
      <dgm:prSet/>
      <dgm:spPr/>
      <dgm:t>
        <a:bodyPr/>
        <a:lstStyle/>
        <a:p>
          <a:endParaRPr lang="en-US"/>
        </a:p>
      </dgm:t>
    </dgm:pt>
    <dgm:pt modelId="{B945F7E6-8845-46C7-A5A4-535ACB46AEDC}" type="sibTrans" cxnId="{3D41EFBC-B883-4426-9441-13C92F2833A8}">
      <dgm:prSet/>
      <dgm:spPr/>
      <dgm:t>
        <a:bodyPr/>
        <a:lstStyle/>
        <a:p>
          <a:endParaRPr lang="en-US"/>
        </a:p>
      </dgm:t>
    </dgm:pt>
    <dgm:pt modelId="{41806239-7AD7-4699-8D76-6A4E30AB0D13}">
      <dgm:prSet phldrT="[Text]"/>
      <dgm:spPr/>
      <dgm:t>
        <a:bodyPr/>
        <a:lstStyle/>
        <a:p>
          <a:r>
            <a:rPr lang="en-US" dirty="0"/>
            <a:t>QC 2</a:t>
          </a:r>
        </a:p>
      </dgm:t>
    </dgm:pt>
    <dgm:pt modelId="{5A83F867-4E1A-42E5-AB5B-9EBF9590C4CF}" type="parTrans" cxnId="{ED98C9B2-1D1E-43CE-BBFB-50889326D712}">
      <dgm:prSet/>
      <dgm:spPr/>
      <dgm:t>
        <a:bodyPr/>
        <a:lstStyle/>
        <a:p>
          <a:endParaRPr lang="en-US"/>
        </a:p>
      </dgm:t>
    </dgm:pt>
    <dgm:pt modelId="{C24903C5-554D-484F-AD88-EE17D423847F}" type="sibTrans" cxnId="{ED98C9B2-1D1E-43CE-BBFB-50889326D712}">
      <dgm:prSet/>
      <dgm:spPr/>
      <dgm:t>
        <a:bodyPr/>
        <a:lstStyle/>
        <a:p>
          <a:endParaRPr lang="en-US"/>
        </a:p>
      </dgm:t>
    </dgm:pt>
    <dgm:pt modelId="{1DCAADC0-10E5-4EB7-85D0-464D5004A662}">
      <dgm:prSet phldrT="[Text]"/>
      <dgm:spPr/>
      <dgm:t>
        <a:bodyPr/>
        <a:lstStyle/>
        <a:p>
          <a:r>
            <a:rPr lang="en-US" dirty="0"/>
            <a:t>QC 1</a:t>
          </a:r>
        </a:p>
      </dgm:t>
    </dgm:pt>
    <dgm:pt modelId="{BF417656-64B7-4381-9746-BDBCC1633D63}" type="parTrans" cxnId="{DA2BB51B-E533-4968-B873-4061D8FBFA0B}">
      <dgm:prSet/>
      <dgm:spPr/>
      <dgm:t>
        <a:bodyPr/>
        <a:lstStyle/>
        <a:p>
          <a:endParaRPr lang="en-US"/>
        </a:p>
      </dgm:t>
    </dgm:pt>
    <dgm:pt modelId="{AEAB0F5B-D620-4C13-BC13-E52E2E18634D}" type="sibTrans" cxnId="{DA2BB51B-E533-4968-B873-4061D8FBFA0B}">
      <dgm:prSet/>
      <dgm:spPr/>
      <dgm:t>
        <a:bodyPr/>
        <a:lstStyle/>
        <a:p>
          <a:endParaRPr lang="en-US"/>
        </a:p>
      </dgm:t>
    </dgm:pt>
    <dgm:pt modelId="{3EB2BDC1-1A1B-490D-9347-560BFF4C052E}">
      <dgm:prSet phldrT="[Text]"/>
      <dgm:spPr/>
      <dgm:t>
        <a:bodyPr/>
        <a:lstStyle/>
        <a:p>
          <a:r>
            <a:rPr lang="en-US" dirty="0"/>
            <a:t>Business Analyst (BA) </a:t>
          </a:r>
        </a:p>
      </dgm:t>
    </dgm:pt>
    <dgm:pt modelId="{436ECC53-B2B1-420E-88C3-198039AAD6FE}" type="parTrans" cxnId="{02B0474F-1E6C-4672-9C3A-60845B25041F}">
      <dgm:prSet/>
      <dgm:spPr/>
      <dgm:t>
        <a:bodyPr/>
        <a:lstStyle/>
        <a:p>
          <a:endParaRPr lang="en-US"/>
        </a:p>
      </dgm:t>
    </dgm:pt>
    <dgm:pt modelId="{78818031-1AE7-4E9A-90C3-665990B0E194}" type="sibTrans" cxnId="{02B0474F-1E6C-4672-9C3A-60845B25041F}">
      <dgm:prSet/>
      <dgm:spPr/>
      <dgm:t>
        <a:bodyPr/>
        <a:lstStyle/>
        <a:p>
          <a:endParaRPr lang="en-US"/>
        </a:p>
      </dgm:t>
    </dgm:pt>
    <dgm:pt modelId="{74213C60-A55C-47AC-BE3A-8FA86DC90727}">
      <dgm:prSet phldrT="[Text]"/>
      <dgm:spPr/>
      <dgm:t>
        <a:bodyPr/>
        <a:lstStyle/>
        <a:p>
          <a:r>
            <a:rPr lang="en-US" dirty="0"/>
            <a:t>QC Leader</a:t>
          </a:r>
        </a:p>
      </dgm:t>
    </dgm:pt>
    <dgm:pt modelId="{3E0C3BD1-226B-463E-8C48-48B07DCB535F}" type="parTrans" cxnId="{DA81DB4E-1E6E-41D7-9C07-701D95AD034F}">
      <dgm:prSet/>
      <dgm:spPr/>
      <dgm:t>
        <a:bodyPr/>
        <a:lstStyle/>
        <a:p>
          <a:endParaRPr lang="en-US"/>
        </a:p>
      </dgm:t>
    </dgm:pt>
    <dgm:pt modelId="{2D9261A7-CF65-4C24-BB57-06B2AC7BE6DA}" type="sibTrans" cxnId="{DA81DB4E-1E6E-41D7-9C07-701D95AD034F}">
      <dgm:prSet/>
      <dgm:spPr/>
      <dgm:t>
        <a:bodyPr/>
        <a:lstStyle/>
        <a:p>
          <a:endParaRPr lang="en-US"/>
        </a:p>
      </dgm:t>
    </dgm:pt>
    <dgm:pt modelId="{068A6811-07DE-4837-922A-92D767B150F5}" type="pres">
      <dgm:prSet presAssocID="{D63F6864-2CAF-454B-B6F6-A76FA4B941DA}" presName="mainComposite" presStyleCnt="0">
        <dgm:presLayoutVars>
          <dgm:chPref val="1"/>
          <dgm:dir/>
          <dgm:animOne val="branch"/>
          <dgm:animLvl val="lvl"/>
          <dgm:resizeHandles val="exact"/>
        </dgm:presLayoutVars>
      </dgm:prSet>
      <dgm:spPr/>
    </dgm:pt>
    <dgm:pt modelId="{A8BFD8AA-438A-4DA9-956C-B08E617C3C26}" type="pres">
      <dgm:prSet presAssocID="{D63F6864-2CAF-454B-B6F6-A76FA4B941DA}" presName="hierFlow" presStyleCnt="0"/>
      <dgm:spPr/>
    </dgm:pt>
    <dgm:pt modelId="{135F74C4-8B09-4553-962A-A68607A8C333}" type="pres">
      <dgm:prSet presAssocID="{D63F6864-2CAF-454B-B6F6-A76FA4B941DA}" presName="hierChild1" presStyleCnt="0">
        <dgm:presLayoutVars>
          <dgm:chPref val="1"/>
          <dgm:animOne val="branch"/>
          <dgm:animLvl val="lvl"/>
        </dgm:presLayoutVars>
      </dgm:prSet>
      <dgm:spPr/>
    </dgm:pt>
    <dgm:pt modelId="{79993801-198A-4F1F-BE17-6F24DD3C3E70}" type="pres">
      <dgm:prSet presAssocID="{571D74B8-2ECD-49A7-8BF4-6375A674DC32}" presName="Name14" presStyleCnt="0"/>
      <dgm:spPr/>
    </dgm:pt>
    <dgm:pt modelId="{8EFD97C8-3DD7-4637-A58A-0A30FC0A1B53}" type="pres">
      <dgm:prSet presAssocID="{571D74B8-2ECD-49A7-8BF4-6375A674DC32}" presName="level1Shape" presStyleLbl="node0" presStyleIdx="0" presStyleCnt="1">
        <dgm:presLayoutVars>
          <dgm:chPref val="3"/>
        </dgm:presLayoutVars>
      </dgm:prSet>
      <dgm:spPr/>
    </dgm:pt>
    <dgm:pt modelId="{2ADB98E5-F099-4AE9-8968-F536FA6C4A0A}" type="pres">
      <dgm:prSet presAssocID="{571D74B8-2ECD-49A7-8BF4-6375A674DC32}" presName="hierChild2" presStyleCnt="0"/>
      <dgm:spPr/>
    </dgm:pt>
    <dgm:pt modelId="{B606378D-4B69-44CF-8B72-9DD66119CD83}" type="pres">
      <dgm:prSet presAssocID="{30C8F5F4-CE5E-4945-BFB6-E8693DA8E6B1}" presName="Name19" presStyleLbl="parChTrans1D2" presStyleIdx="0" presStyleCnt="3"/>
      <dgm:spPr/>
    </dgm:pt>
    <dgm:pt modelId="{9242CB9C-8D0E-4C08-895A-293654238587}" type="pres">
      <dgm:prSet presAssocID="{46CD7EBA-A682-4BA9-9DD5-6ED7549F33ED}" presName="Name21" presStyleCnt="0"/>
      <dgm:spPr/>
    </dgm:pt>
    <dgm:pt modelId="{5FF66F25-1BCA-4673-8662-BD5AFB4831BB}" type="pres">
      <dgm:prSet presAssocID="{46CD7EBA-A682-4BA9-9DD5-6ED7549F33ED}" presName="level2Shape" presStyleLbl="node2" presStyleIdx="0" presStyleCnt="3"/>
      <dgm:spPr/>
    </dgm:pt>
    <dgm:pt modelId="{B68387D7-7125-4CBC-A679-5D296FC983C7}" type="pres">
      <dgm:prSet presAssocID="{46CD7EBA-A682-4BA9-9DD5-6ED7549F33ED}" presName="hierChild3" presStyleCnt="0"/>
      <dgm:spPr/>
    </dgm:pt>
    <dgm:pt modelId="{DD9F2BFA-29D6-4187-B843-C984580F0241}" type="pres">
      <dgm:prSet presAssocID="{F6231982-B625-41DD-954A-FEDD06553638}" presName="Name19" presStyleLbl="parChTrans1D3" presStyleIdx="0" presStyleCnt="4"/>
      <dgm:spPr/>
    </dgm:pt>
    <dgm:pt modelId="{36CBE953-9D9E-4565-97B9-2290FB9E8806}" type="pres">
      <dgm:prSet presAssocID="{ED17BB1A-6784-49AE-82A7-FA4E002A2C6C}" presName="Name21" presStyleCnt="0"/>
      <dgm:spPr/>
    </dgm:pt>
    <dgm:pt modelId="{E6F7C166-7CA9-4B6C-AEA6-31F4FAFC510E}" type="pres">
      <dgm:prSet presAssocID="{ED17BB1A-6784-49AE-82A7-FA4E002A2C6C}" presName="level2Shape" presStyleLbl="node3" presStyleIdx="0" presStyleCnt="4"/>
      <dgm:spPr/>
    </dgm:pt>
    <dgm:pt modelId="{5BF1CDB2-041C-4ACE-9CC7-898808D4C56B}" type="pres">
      <dgm:prSet presAssocID="{ED17BB1A-6784-49AE-82A7-FA4E002A2C6C}" presName="hierChild3" presStyleCnt="0"/>
      <dgm:spPr/>
    </dgm:pt>
    <dgm:pt modelId="{7971E49E-E261-43A7-B60C-161EB4F20F82}" type="pres">
      <dgm:prSet presAssocID="{A7B61CE2-90C7-4C24-A91B-365BDCEA180F}" presName="Name19" presStyleLbl="parChTrans1D3" presStyleIdx="1" presStyleCnt="4"/>
      <dgm:spPr/>
    </dgm:pt>
    <dgm:pt modelId="{594CE59F-C0B0-43B3-923B-7B016AF37A14}" type="pres">
      <dgm:prSet presAssocID="{385510B3-9EFD-4B79-BBB2-3EA58681C2CD}" presName="Name21" presStyleCnt="0"/>
      <dgm:spPr/>
    </dgm:pt>
    <dgm:pt modelId="{B75A094D-D468-4FB5-B201-03B877041687}" type="pres">
      <dgm:prSet presAssocID="{385510B3-9EFD-4B79-BBB2-3EA58681C2CD}" presName="level2Shape" presStyleLbl="node3" presStyleIdx="1" presStyleCnt="4"/>
      <dgm:spPr/>
    </dgm:pt>
    <dgm:pt modelId="{786898DA-4629-49DE-B1BE-7D402A986C9A}" type="pres">
      <dgm:prSet presAssocID="{385510B3-9EFD-4B79-BBB2-3EA58681C2CD}" presName="hierChild3" presStyleCnt="0"/>
      <dgm:spPr/>
    </dgm:pt>
    <dgm:pt modelId="{2E96FF69-DF5A-41BB-B0BE-D007F611B5E7}" type="pres">
      <dgm:prSet presAssocID="{436ECC53-B2B1-420E-88C3-198039AAD6FE}" presName="Name19" presStyleLbl="parChTrans1D2" presStyleIdx="1" presStyleCnt="3"/>
      <dgm:spPr/>
    </dgm:pt>
    <dgm:pt modelId="{8C7B09A8-D61B-4E76-A4C8-FCDAD8CF9393}" type="pres">
      <dgm:prSet presAssocID="{3EB2BDC1-1A1B-490D-9347-560BFF4C052E}" presName="Name21" presStyleCnt="0"/>
      <dgm:spPr/>
    </dgm:pt>
    <dgm:pt modelId="{5CA30BCC-C628-45D5-B38E-7F183DA518A0}" type="pres">
      <dgm:prSet presAssocID="{3EB2BDC1-1A1B-490D-9347-560BFF4C052E}" presName="level2Shape" presStyleLbl="node2" presStyleIdx="1" presStyleCnt="3"/>
      <dgm:spPr/>
    </dgm:pt>
    <dgm:pt modelId="{3471BA9F-7399-47FD-A458-9F625AB58F7C}" type="pres">
      <dgm:prSet presAssocID="{3EB2BDC1-1A1B-490D-9347-560BFF4C052E}" presName="hierChild3" presStyleCnt="0"/>
      <dgm:spPr/>
    </dgm:pt>
    <dgm:pt modelId="{BE8E655F-E48D-4E9E-9AC0-952794334E60}" type="pres">
      <dgm:prSet presAssocID="{3E0C3BD1-226B-463E-8C48-48B07DCB535F}" presName="Name19" presStyleLbl="parChTrans1D2" presStyleIdx="2" presStyleCnt="3"/>
      <dgm:spPr/>
    </dgm:pt>
    <dgm:pt modelId="{F9719E78-599F-44C9-ADA1-33AB8D0EE67B}" type="pres">
      <dgm:prSet presAssocID="{74213C60-A55C-47AC-BE3A-8FA86DC90727}" presName="Name21" presStyleCnt="0"/>
      <dgm:spPr/>
    </dgm:pt>
    <dgm:pt modelId="{1B2ADE80-DE65-46C4-A945-D5A9B5320BF8}" type="pres">
      <dgm:prSet presAssocID="{74213C60-A55C-47AC-BE3A-8FA86DC90727}" presName="level2Shape" presStyleLbl="node2" presStyleIdx="2" presStyleCnt="3"/>
      <dgm:spPr/>
    </dgm:pt>
    <dgm:pt modelId="{0F1F69A3-0054-432D-9D0E-B1182E779F1B}" type="pres">
      <dgm:prSet presAssocID="{74213C60-A55C-47AC-BE3A-8FA86DC90727}" presName="hierChild3" presStyleCnt="0"/>
      <dgm:spPr/>
    </dgm:pt>
    <dgm:pt modelId="{FFABF9E8-9376-4C5B-9117-CBFA21D4EA58}" type="pres">
      <dgm:prSet presAssocID="{BF417656-64B7-4381-9746-BDBCC1633D63}" presName="Name19" presStyleLbl="parChTrans1D3" presStyleIdx="2" presStyleCnt="4"/>
      <dgm:spPr/>
    </dgm:pt>
    <dgm:pt modelId="{41EFD0B5-3CB3-4D78-85D8-03649A6C2988}" type="pres">
      <dgm:prSet presAssocID="{1DCAADC0-10E5-4EB7-85D0-464D5004A662}" presName="Name21" presStyleCnt="0"/>
      <dgm:spPr/>
    </dgm:pt>
    <dgm:pt modelId="{8C06B03D-7DB6-43B4-A48B-8B9183FEC54E}" type="pres">
      <dgm:prSet presAssocID="{1DCAADC0-10E5-4EB7-85D0-464D5004A662}" presName="level2Shape" presStyleLbl="node3" presStyleIdx="2" presStyleCnt="4" custLinFactNeighborX="-2737" custLinFactNeighborY="1976"/>
      <dgm:spPr/>
    </dgm:pt>
    <dgm:pt modelId="{DB95A274-4A18-4A12-ADDA-5087B30E671C}" type="pres">
      <dgm:prSet presAssocID="{1DCAADC0-10E5-4EB7-85D0-464D5004A662}" presName="hierChild3" presStyleCnt="0"/>
      <dgm:spPr/>
    </dgm:pt>
    <dgm:pt modelId="{EFFC2F58-57C9-4C56-8B95-FF1076B05037}" type="pres">
      <dgm:prSet presAssocID="{5A83F867-4E1A-42E5-AB5B-9EBF9590C4CF}" presName="Name19" presStyleLbl="parChTrans1D3" presStyleIdx="3" presStyleCnt="4"/>
      <dgm:spPr/>
    </dgm:pt>
    <dgm:pt modelId="{6E7782DB-183D-4E28-AD12-4D234A8925A2}" type="pres">
      <dgm:prSet presAssocID="{41806239-7AD7-4699-8D76-6A4E30AB0D13}" presName="Name21" presStyleCnt="0"/>
      <dgm:spPr/>
    </dgm:pt>
    <dgm:pt modelId="{C243B1BC-ED04-4A06-BC1F-6E3E977F4517}" type="pres">
      <dgm:prSet presAssocID="{41806239-7AD7-4699-8D76-6A4E30AB0D13}" presName="level2Shape" presStyleLbl="node3" presStyleIdx="3" presStyleCnt="4"/>
      <dgm:spPr/>
    </dgm:pt>
    <dgm:pt modelId="{27426845-55D8-4CD8-9D23-B37044AF9A5F}" type="pres">
      <dgm:prSet presAssocID="{41806239-7AD7-4699-8D76-6A4E30AB0D13}" presName="hierChild3" presStyleCnt="0"/>
      <dgm:spPr/>
    </dgm:pt>
    <dgm:pt modelId="{73CAD802-9E1C-4F43-AC82-D63694AC6CC8}" type="pres">
      <dgm:prSet presAssocID="{D63F6864-2CAF-454B-B6F6-A76FA4B941DA}" presName="bgShapesFlow" presStyleCnt="0"/>
      <dgm:spPr/>
    </dgm:pt>
  </dgm:ptLst>
  <dgm:cxnLst>
    <dgm:cxn modelId="{DA2BB51B-E533-4968-B873-4061D8FBFA0B}" srcId="{74213C60-A55C-47AC-BE3A-8FA86DC90727}" destId="{1DCAADC0-10E5-4EB7-85D0-464D5004A662}" srcOrd="0" destOrd="0" parTransId="{BF417656-64B7-4381-9746-BDBCC1633D63}" sibTransId="{AEAB0F5B-D620-4C13-BC13-E52E2E18634D}"/>
    <dgm:cxn modelId="{1D411C20-D589-4591-A1E5-E2A67C67BEE5}" type="presOf" srcId="{D63F6864-2CAF-454B-B6F6-A76FA4B941DA}" destId="{068A6811-07DE-4837-922A-92D767B150F5}" srcOrd="0" destOrd="0" presId="urn:microsoft.com/office/officeart/2005/8/layout/hierarchy6"/>
    <dgm:cxn modelId="{80431727-F0FB-4E99-AC1A-1475D1F908E9}" srcId="{46CD7EBA-A682-4BA9-9DD5-6ED7549F33ED}" destId="{ED17BB1A-6784-49AE-82A7-FA4E002A2C6C}" srcOrd="0" destOrd="0" parTransId="{F6231982-B625-41DD-954A-FEDD06553638}" sibTransId="{833CD780-C8F4-441F-A364-F75E9583CA5E}"/>
    <dgm:cxn modelId="{EB70242B-CC48-4B0A-BD4B-E726CB56C2BB}" type="presOf" srcId="{41806239-7AD7-4699-8D76-6A4E30AB0D13}" destId="{C243B1BC-ED04-4A06-BC1F-6E3E977F4517}" srcOrd="0" destOrd="0" presId="urn:microsoft.com/office/officeart/2005/8/layout/hierarchy6"/>
    <dgm:cxn modelId="{E2EA4B2B-39E4-4DB9-A18C-7353B105EF23}" type="presOf" srcId="{46CD7EBA-A682-4BA9-9DD5-6ED7549F33ED}" destId="{5FF66F25-1BCA-4673-8662-BD5AFB4831BB}" srcOrd="0" destOrd="0" presId="urn:microsoft.com/office/officeart/2005/8/layout/hierarchy6"/>
    <dgm:cxn modelId="{BF4BBC2C-5C29-4D9D-BE9A-E66966BEE06F}" type="presOf" srcId="{F6231982-B625-41DD-954A-FEDD06553638}" destId="{DD9F2BFA-29D6-4187-B843-C984580F0241}" srcOrd="0" destOrd="0" presId="urn:microsoft.com/office/officeart/2005/8/layout/hierarchy6"/>
    <dgm:cxn modelId="{1091AD3A-21BC-4083-AA9A-12EE410E514B}" type="presOf" srcId="{3E0C3BD1-226B-463E-8C48-48B07DCB535F}" destId="{BE8E655F-E48D-4E9E-9AC0-952794334E60}" srcOrd="0" destOrd="0" presId="urn:microsoft.com/office/officeart/2005/8/layout/hierarchy6"/>
    <dgm:cxn modelId="{48E62843-0C43-4F76-885E-6A4443A3B69A}" type="presOf" srcId="{ED17BB1A-6784-49AE-82A7-FA4E002A2C6C}" destId="{E6F7C166-7CA9-4B6C-AEA6-31F4FAFC510E}" srcOrd="0" destOrd="0" presId="urn:microsoft.com/office/officeart/2005/8/layout/hierarchy6"/>
    <dgm:cxn modelId="{E1303C63-AE2B-4DCE-AAA8-F2BECEE7E67E}" type="presOf" srcId="{74213C60-A55C-47AC-BE3A-8FA86DC90727}" destId="{1B2ADE80-DE65-46C4-A945-D5A9B5320BF8}" srcOrd="0" destOrd="0" presId="urn:microsoft.com/office/officeart/2005/8/layout/hierarchy6"/>
    <dgm:cxn modelId="{930FFE66-3535-42AE-B126-40D537C306AA}" type="presOf" srcId="{385510B3-9EFD-4B79-BBB2-3EA58681C2CD}" destId="{B75A094D-D468-4FB5-B201-03B877041687}" srcOrd="0" destOrd="0" presId="urn:microsoft.com/office/officeart/2005/8/layout/hierarchy6"/>
    <dgm:cxn modelId="{261D3F4C-F0A9-4509-B575-E8866FE810A4}" type="presOf" srcId="{436ECC53-B2B1-420E-88C3-198039AAD6FE}" destId="{2E96FF69-DF5A-41BB-B0BE-D007F611B5E7}" srcOrd="0" destOrd="0" presId="urn:microsoft.com/office/officeart/2005/8/layout/hierarchy6"/>
    <dgm:cxn modelId="{DA81DB4E-1E6E-41D7-9C07-701D95AD034F}" srcId="{571D74B8-2ECD-49A7-8BF4-6375A674DC32}" destId="{74213C60-A55C-47AC-BE3A-8FA86DC90727}" srcOrd="2" destOrd="0" parTransId="{3E0C3BD1-226B-463E-8C48-48B07DCB535F}" sibTransId="{2D9261A7-CF65-4C24-BB57-06B2AC7BE6DA}"/>
    <dgm:cxn modelId="{02B0474F-1E6C-4672-9C3A-60845B25041F}" srcId="{571D74B8-2ECD-49A7-8BF4-6375A674DC32}" destId="{3EB2BDC1-1A1B-490D-9347-560BFF4C052E}" srcOrd="1" destOrd="0" parTransId="{436ECC53-B2B1-420E-88C3-198039AAD6FE}" sibTransId="{78818031-1AE7-4E9A-90C3-665990B0E194}"/>
    <dgm:cxn modelId="{43EFA54F-116D-447F-9E8B-7ABEDDDF7E66}" type="presOf" srcId="{A7B61CE2-90C7-4C24-A91B-365BDCEA180F}" destId="{7971E49E-E261-43A7-B60C-161EB4F20F82}" srcOrd="0" destOrd="0" presId="urn:microsoft.com/office/officeart/2005/8/layout/hierarchy6"/>
    <dgm:cxn modelId="{24CB4879-DF22-4D61-9653-1BA04643D095}" type="presOf" srcId="{30C8F5F4-CE5E-4945-BFB6-E8693DA8E6B1}" destId="{B606378D-4B69-44CF-8B72-9DD66119CD83}" srcOrd="0" destOrd="0" presId="urn:microsoft.com/office/officeart/2005/8/layout/hierarchy6"/>
    <dgm:cxn modelId="{C5CECF79-A0F2-41B2-81A7-AE51D55F59B3}" type="presOf" srcId="{571D74B8-2ECD-49A7-8BF4-6375A674DC32}" destId="{8EFD97C8-3DD7-4637-A58A-0A30FC0A1B53}" srcOrd="0" destOrd="0" presId="urn:microsoft.com/office/officeart/2005/8/layout/hierarchy6"/>
    <dgm:cxn modelId="{B6FC7883-8EB9-47E9-8CB2-E0721F657B7B}" type="presOf" srcId="{5A83F867-4E1A-42E5-AB5B-9EBF9590C4CF}" destId="{EFFC2F58-57C9-4C56-8B95-FF1076B05037}" srcOrd="0" destOrd="0" presId="urn:microsoft.com/office/officeart/2005/8/layout/hierarchy6"/>
    <dgm:cxn modelId="{3E681DA1-F808-4FC1-893F-30CE219FC41E}" srcId="{D63F6864-2CAF-454B-B6F6-A76FA4B941DA}" destId="{571D74B8-2ECD-49A7-8BF4-6375A674DC32}" srcOrd="0" destOrd="0" parTransId="{DE5BCBF9-45A7-47D2-8D1C-B6985AE9F276}" sibTransId="{48C09843-52F2-4968-AA19-03EEC3659DA4}"/>
    <dgm:cxn modelId="{D9DBF1A1-47E1-4AAA-9838-BBF4686BDD35}" type="presOf" srcId="{BF417656-64B7-4381-9746-BDBCC1633D63}" destId="{FFABF9E8-9376-4C5B-9117-CBFA21D4EA58}" srcOrd="0" destOrd="0" presId="urn:microsoft.com/office/officeart/2005/8/layout/hierarchy6"/>
    <dgm:cxn modelId="{ED98C9B2-1D1E-43CE-BBFB-50889326D712}" srcId="{74213C60-A55C-47AC-BE3A-8FA86DC90727}" destId="{41806239-7AD7-4699-8D76-6A4E30AB0D13}" srcOrd="1" destOrd="0" parTransId="{5A83F867-4E1A-42E5-AB5B-9EBF9590C4CF}" sibTransId="{C24903C5-554D-484F-AD88-EE17D423847F}"/>
    <dgm:cxn modelId="{3D41EFBC-B883-4426-9441-13C92F2833A8}" srcId="{46CD7EBA-A682-4BA9-9DD5-6ED7549F33ED}" destId="{385510B3-9EFD-4B79-BBB2-3EA58681C2CD}" srcOrd="1" destOrd="0" parTransId="{A7B61CE2-90C7-4C24-A91B-365BDCEA180F}" sibTransId="{B945F7E6-8845-46C7-A5A4-535ACB46AEDC}"/>
    <dgm:cxn modelId="{46D733C0-576B-41C0-8D5F-93E6905D7AA8}" type="presOf" srcId="{3EB2BDC1-1A1B-490D-9347-560BFF4C052E}" destId="{5CA30BCC-C628-45D5-B38E-7F183DA518A0}" srcOrd="0" destOrd="0" presId="urn:microsoft.com/office/officeart/2005/8/layout/hierarchy6"/>
    <dgm:cxn modelId="{118C73C3-5420-4DD0-AB7D-89929C19FEA8}" srcId="{571D74B8-2ECD-49A7-8BF4-6375A674DC32}" destId="{46CD7EBA-A682-4BA9-9DD5-6ED7549F33ED}" srcOrd="0" destOrd="0" parTransId="{30C8F5F4-CE5E-4945-BFB6-E8693DA8E6B1}" sibTransId="{475F530A-FD8A-4C37-9C3D-6D00C5CBCAF9}"/>
    <dgm:cxn modelId="{123912F4-CB96-4222-A808-AB706F5383ED}" type="presOf" srcId="{1DCAADC0-10E5-4EB7-85D0-464D5004A662}" destId="{8C06B03D-7DB6-43B4-A48B-8B9183FEC54E}" srcOrd="0" destOrd="0" presId="urn:microsoft.com/office/officeart/2005/8/layout/hierarchy6"/>
    <dgm:cxn modelId="{B6B68A38-E064-4A91-A602-DEC67FF13FBB}" type="presParOf" srcId="{068A6811-07DE-4837-922A-92D767B150F5}" destId="{A8BFD8AA-438A-4DA9-956C-B08E617C3C26}" srcOrd="0" destOrd="0" presId="urn:microsoft.com/office/officeart/2005/8/layout/hierarchy6"/>
    <dgm:cxn modelId="{EBBA0F5F-A6AA-40A1-8DD8-60973DEE06FF}" type="presParOf" srcId="{A8BFD8AA-438A-4DA9-956C-B08E617C3C26}" destId="{135F74C4-8B09-4553-962A-A68607A8C333}" srcOrd="0" destOrd="0" presId="urn:microsoft.com/office/officeart/2005/8/layout/hierarchy6"/>
    <dgm:cxn modelId="{74CC7461-E84C-49F7-BFC6-90406404F189}" type="presParOf" srcId="{135F74C4-8B09-4553-962A-A68607A8C333}" destId="{79993801-198A-4F1F-BE17-6F24DD3C3E70}" srcOrd="0" destOrd="0" presId="urn:microsoft.com/office/officeart/2005/8/layout/hierarchy6"/>
    <dgm:cxn modelId="{FBD3A2A6-1C47-4C97-8248-F8995B01352B}" type="presParOf" srcId="{79993801-198A-4F1F-BE17-6F24DD3C3E70}" destId="{8EFD97C8-3DD7-4637-A58A-0A30FC0A1B53}" srcOrd="0" destOrd="0" presId="urn:microsoft.com/office/officeart/2005/8/layout/hierarchy6"/>
    <dgm:cxn modelId="{0FE8F41E-F1A6-4A82-8E78-932043DAC70C}" type="presParOf" srcId="{79993801-198A-4F1F-BE17-6F24DD3C3E70}" destId="{2ADB98E5-F099-4AE9-8968-F536FA6C4A0A}" srcOrd="1" destOrd="0" presId="urn:microsoft.com/office/officeart/2005/8/layout/hierarchy6"/>
    <dgm:cxn modelId="{592DF36C-5D11-4DA6-AF4F-07C183316345}" type="presParOf" srcId="{2ADB98E5-F099-4AE9-8968-F536FA6C4A0A}" destId="{B606378D-4B69-44CF-8B72-9DD66119CD83}" srcOrd="0" destOrd="0" presId="urn:microsoft.com/office/officeart/2005/8/layout/hierarchy6"/>
    <dgm:cxn modelId="{049BCD63-EA45-49B9-9377-CD299313B06A}" type="presParOf" srcId="{2ADB98E5-F099-4AE9-8968-F536FA6C4A0A}" destId="{9242CB9C-8D0E-4C08-895A-293654238587}" srcOrd="1" destOrd="0" presId="urn:microsoft.com/office/officeart/2005/8/layout/hierarchy6"/>
    <dgm:cxn modelId="{55ACBEDA-DFC2-4176-8DD1-F5D5C4765AE5}" type="presParOf" srcId="{9242CB9C-8D0E-4C08-895A-293654238587}" destId="{5FF66F25-1BCA-4673-8662-BD5AFB4831BB}" srcOrd="0" destOrd="0" presId="urn:microsoft.com/office/officeart/2005/8/layout/hierarchy6"/>
    <dgm:cxn modelId="{1DD82F7F-37D4-4124-8E5B-478D0C6D1203}" type="presParOf" srcId="{9242CB9C-8D0E-4C08-895A-293654238587}" destId="{B68387D7-7125-4CBC-A679-5D296FC983C7}" srcOrd="1" destOrd="0" presId="urn:microsoft.com/office/officeart/2005/8/layout/hierarchy6"/>
    <dgm:cxn modelId="{7D847929-1B66-4F02-B5AB-3853D33882F3}" type="presParOf" srcId="{B68387D7-7125-4CBC-A679-5D296FC983C7}" destId="{DD9F2BFA-29D6-4187-B843-C984580F0241}" srcOrd="0" destOrd="0" presId="urn:microsoft.com/office/officeart/2005/8/layout/hierarchy6"/>
    <dgm:cxn modelId="{F2E689F4-5BBB-4F21-BC29-C5AF45E5F5FC}" type="presParOf" srcId="{B68387D7-7125-4CBC-A679-5D296FC983C7}" destId="{36CBE953-9D9E-4565-97B9-2290FB9E8806}" srcOrd="1" destOrd="0" presId="urn:microsoft.com/office/officeart/2005/8/layout/hierarchy6"/>
    <dgm:cxn modelId="{6C9ADD2D-FEAA-4D2D-881D-28B36D5DA204}" type="presParOf" srcId="{36CBE953-9D9E-4565-97B9-2290FB9E8806}" destId="{E6F7C166-7CA9-4B6C-AEA6-31F4FAFC510E}" srcOrd="0" destOrd="0" presId="urn:microsoft.com/office/officeart/2005/8/layout/hierarchy6"/>
    <dgm:cxn modelId="{6224FC55-ED40-44FE-8FE4-AA942F8757F1}" type="presParOf" srcId="{36CBE953-9D9E-4565-97B9-2290FB9E8806}" destId="{5BF1CDB2-041C-4ACE-9CC7-898808D4C56B}" srcOrd="1" destOrd="0" presId="urn:microsoft.com/office/officeart/2005/8/layout/hierarchy6"/>
    <dgm:cxn modelId="{28307B6B-AAF9-406D-88CE-C6A2556620E5}" type="presParOf" srcId="{B68387D7-7125-4CBC-A679-5D296FC983C7}" destId="{7971E49E-E261-43A7-B60C-161EB4F20F82}" srcOrd="2" destOrd="0" presId="urn:microsoft.com/office/officeart/2005/8/layout/hierarchy6"/>
    <dgm:cxn modelId="{D433328A-D682-4FBD-B689-0DAB5F62237B}" type="presParOf" srcId="{B68387D7-7125-4CBC-A679-5D296FC983C7}" destId="{594CE59F-C0B0-43B3-923B-7B016AF37A14}" srcOrd="3" destOrd="0" presId="urn:microsoft.com/office/officeart/2005/8/layout/hierarchy6"/>
    <dgm:cxn modelId="{B59E7CFC-E1FF-413D-A578-7A1EF9D9B5A1}" type="presParOf" srcId="{594CE59F-C0B0-43B3-923B-7B016AF37A14}" destId="{B75A094D-D468-4FB5-B201-03B877041687}" srcOrd="0" destOrd="0" presId="urn:microsoft.com/office/officeart/2005/8/layout/hierarchy6"/>
    <dgm:cxn modelId="{8D17DF8F-6F18-43FA-AE4E-E544C011C05A}" type="presParOf" srcId="{594CE59F-C0B0-43B3-923B-7B016AF37A14}" destId="{786898DA-4629-49DE-B1BE-7D402A986C9A}" srcOrd="1" destOrd="0" presId="urn:microsoft.com/office/officeart/2005/8/layout/hierarchy6"/>
    <dgm:cxn modelId="{5E16F283-877F-4849-9BB4-FD9DDBE7F1F0}" type="presParOf" srcId="{2ADB98E5-F099-4AE9-8968-F536FA6C4A0A}" destId="{2E96FF69-DF5A-41BB-B0BE-D007F611B5E7}" srcOrd="2" destOrd="0" presId="urn:microsoft.com/office/officeart/2005/8/layout/hierarchy6"/>
    <dgm:cxn modelId="{08CB1A98-E663-4FA3-98E4-68FB14B36665}" type="presParOf" srcId="{2ADB98E5-F099-4AE9-8968-F536FA6C4A0A}" destId="{8C7B09A8-D61B-4E76-A4C8-FCDAD8CF9393}" srcOrd="3" destOrd="0" presId="urn:microsoft.com/office/officeart/2005/8/layout/hierarchy6"/>
    <dgm:cxn modelId="{82CDA731-E2BC-4904-BD23-EF545DDA86DF}" type="presParOf" srcId="{8C7B09A8-D61B-4E76-A4C8-FCDAD8CF9393}" destId="{5CA30BCC-C628-45D5-B38E-7F183DA518A0}" srcOrd="0" destOrd="0" presId="urn:microsoft.com/office/officeart/2005/8/layout/hierarchy6"/>
    <dgm:cxn modelId="{E6B537D1-32F4-4115-8F55-CE0534C57440}" type="presParOf" srcId="{8C7B09A8-D61B-4E76-A4C8-FCDAD8CF9393}" destId="{3471BA9F-7399-47FD-A458-9F625AB58F7C}" srcOrd="1" destOrd="0" presId="urn:microsoft.com/office/officeart/2005/8/layout/hierarchy6"/>
    <dgm:cxn modelId="{86D680F3-4AEE-4D65-98CD-43E2467E8653}" type="presParOf" srcId="{2ADB98E5-F099-4AE9-8968-F536FA6C4A0A}" destId="{BE8E655F-E48D-4E9E-9AC0-952794334E60}" srcOrd="4" destOrd="0" presId="urn:microsoft.com/office/officeart/2005/8/layout/hierarchy6"/>
    <dgm:cxn modelId="{4702B542-2C4B-4FD6-BDFB-CA68B1933EFA}" type="presParOf" srcId="{2ADB98E5-F099-4AE9-8968-F536FA6C4A0A}" destId="{F9719E78-599F-44C9-ADA1-33AB8D0EE67B}" srcOrd="5" destOrd="0" presId="urn:microsoft.com/office/officeart/2005/8/layout/hierarchy6"/>
    <dgm:cxn modelId="{B60925E7-CBC6-4D17-BF58-53B6EB3C163A}" type="presParOf" srcId="{F9719E78-599F-44C9-ADA1-33AB8D0EE67B}" destId="{1B2ADE80-DE65-46C4-A945-D5A9B5320BF8}" srcOrd="0" destOrd="0" presId="urn:microsoft.com/office/officeart/2005/8/layout/hierarchy6"/>
    <dgm:cxn modelId="{7F33AA0F-BF58-4B22-BA22-07A79A57B2A4}" type="presParOf" srcId="{F9719E78-599F-44C9-ADA1-33AB8D0EE67B}" destId="{0F1F69A3-0054-432D-9D0E-B1182E779F1B}" srcOrd="1" destOrd="0" presId="urn:microsoft.com/office/officeart/2005/8/layout/hierarchy6"/>
    <dgm:cxn modelId="{C35B0932-A461-4EB0-8163-BAF39BEBD7CF}" type="presParOf" srcId="{0F1F69A3-0054-432D-9D0E-B1182E779F1B}" destId="{FFABF9E8-9376-4C5B-9117-CBFA21D4EA58}" srcOrd="0" destOrd="0" presId="urn:microsoft.com/office/officeart/2005/8/layout/hierarchy6"/>
    <dgm:cxn modelId="{87440ED7-5325-4AA0-B073-984546768E5F}" type="presParOf" srcId="{0F1F69A3-0054-432D-9D0E-B1182E779F1B}" destId="{41EFD0B5-3CB3-4D78-85D8-03649A6C2988}" srcOrd="1" destOrd="0" presId="urn:microsoft.com/office/officeart/2005/8/layout/hierarchy6"/>
    <dgm:cxn modelId="{DD97432A-8BEB-4E94-B4EA-3F09107D8E60}" type="presParOf" srcId="{41EFD0B5-3CB3-4D78-85D8-03649A6C2988}" destId="{8C06B03D-7DB6-43B4-A48B-8B9183FEC54E}" srcOrd="0" destOrd="0" presId="urn:microsoft.com/office/officeart/2005/8/layout/hierarchy6"/>
    <dgm:cxn modelId="{C8F752CF-0DF5-41C3-89AD-06AFD6736F54}" type="presParOf" srcId="{41EFD0B5-3CB3-4D78-85D8-03649A6C2988}" destId="{DB95A274-4A18-4A12-ADDA-5087B30E671C}" srcOrd="1" destOrd="0" presId="urn:microsoft.com/office/officeart/2005/8/layout/hierarchy6"/>
    <dgm:cxn modelId="{76F914B7-284F-4D94-B679-FEECC43B9AAA}" type="presParOf" srcId="{0F1F69A3-0054-432D-9D0E-B1182E779F1B}" destId="{EFFC2F58-57C9-4C56-8B95-FF1076B05037}" srcOrd="2" destOrd="0" presId="urn:microsoft.com/office/officeart/2005/8/layout/hierarchy6"/>
    <dgm:cxn modelId="{488EFF49-A46D-4910-A6F3-42C81F0E49E1}" type="presParOf" srcId="{0F1F69A3-0054-432D-9D0E-B1182E779F1B}" destId="{6E7782DB-183D-4E28-AD12-4D234A8925A2}" srcOrd="3" destOrd="0" presId="urn:microsoft.com/office/officeart/2005/8/layout/hierarchy6"/>
    <dgm:cxn modelId="{9E503F49-849B-48D2-BDEE-68E23FF0A25D}" type="presParOf" srcId="{6E7782DB-183D-4E28-AD12-4D234A8925A2}" destId="{C243B1BC-ED04-4A06-BC1F-6E3E977F4517}" srcOrd="0" destOrd="0" presId="urn:microsoft.com/office/officeart/2005/8/layout/hierarchy6"/>
    <dgm:cxn modelId="{D64C4005-F0C9-47BB-85E3-756BF7D7CC12}" type="presParOf" srcId="{6E7782DB-183D-4E28-AD12-4D234A8925A2}" destId="{27426845-55D8-4CD8-9D23-B37044AF9A5F}" srcOrd="1" destOrd="0" presId="urn:microsoft.com/office/officeart/2005/8/layout/hierarchy6"/>
    <dgm:cxn modelId="{A83C7B67-AFAD-4EBC-B5E1-4F22BD3624D5}" type="presParOf" srcId="{068A6811-07DE-4837-922A-92D767B150F5}" destId="{73CAD802-9E1C-4F43-AC82-D63694AC6CC8}"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FD97C8-3DD7-4637-A58A-0A30FC0A1B53}">
      <dsp:nvSpPr>
        <dsp:cNvPr id="0" name=""/>
        <dsp:cNvSpPr/>
      </dsp:nvSpPr>
      <dsp:spPr>
        <a:xfrm>
          <a:off x="3112498" y="629329"/>
          <a:ext cx="1593950" cy="1062633"/>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Project Manager (PM)</a:t>
          </a:r>
        </a:p>
      </dsp:txBody>
      <dsp:txXfrm>
        <a:off x="3143621" y="660452"/>
        <a:ext cx="1531704" cy="1000387"/>
      </dsp:txXfrm>
    </dsp:sp>
    <dsp:sp modelId="{B606378D-4B69-44CF-8B72-9DD66119CD83}">
      <dsp:nvSpPr>
        <dsp:cNvPr id="0" name=""/>
        <dsp:cNvSpPr/>
      </dsp:nvSpPr>
      <dsp:spPr>
        <a:xfrm>
          <a:off x="1837338" y="1691963"/>
          <a:ext cx="2072135" cy="425053"/>
        </a:xfrm>
        <a:custGeom>
          <a:avLst/>
          <a:gdLst/>
          <a:ahLst/>
          <a:cxnLst/>
          <a:rect l="0" t="0" r="0" b="0"/>
          <a:pathLst>
            <a:path>
              <a:moveTo>
                <a:pt x="2072135" y="0"/>
              </a:moveTo>
              <a:lnTo>
                <a:pt x="2072135" y="212526"/>
              </a:lnTo>
              <a:lnTo>
                <a:pt x="0" y="212526"/>
              </a:lnTo>
              <a:lnTo>
                <a:pt x="0" y="42505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F66F25-1BCA-4673-8662-BD5AFB4831BB}">
      <dsp:nvSpPr>
        <dsp:cNvPr id="0" name=""/>
        <dsp:cNvSpPr/>
      </dsp:nvSpPr>
      <dsp:spPr>
        <a:xfrm>
          <a:off x="1040362" y="2117017"/>
          <a:ext cx="1593950" cy="1062633"/>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Technical Leader</a:t>
          </a:r>
        </a:p>
      </dsp:txBody>
      <dsp:txXfrm>
        <a:off x="1071485" y="2148140"/>
        <a:ext cx="1531704" cy="1000387"/>
      </dsp:txXfrm>
    </dsp:sp>
    <dsp:sp modelId="{DD9F2BFA-29D6-4187-B843-C984580F0241}">
      <dsp:nvSpPr>
        <dsp:cNvPr id="0" name=""/>
        <dsp:cNvSpPr/>
      </dsp:nvSpPr>
      <dsp:spPr>
        <a:xfrm>
          <a:off x="801270" y="3179650"/>
          <a:ext cx="1036067" cy="425053"/>
        </a:xfrm>
        <a:custGeom>
          <a:avLst/>
          <a:gdLst/>
          <a:ahLst/>
          <a:cxnLst/>
          <a:rect l="0" t="0" r="0" b="0"/>
          <a:pathLst>
            <a:path>
              <a:moveTo>
                <a:pt x="1036067" y="0"/>
              </a:moveTo>
              <a:lnTo>
                <a:pt x="1036067" y="212526"/>
              </a:lnTo>
              <a:lnTo>
                <a:pt x="0" y="212526"/>
              </a:lnTo>
              <a:lnTo>
                <a:pt x="0" y="42505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F7C166-7CA9-4B6C-AEA6-31F4FAFC510E}">
      <dsp:nvSpPr>
        <dsp:cNvPr id="0" name=""/>
        <dsp:cNvSpPr/>
      </dsp:nvSpPr>
      <dsp:spPr>
        <a:xfrm>
          <a:off x="4295" y="3604704"/>
          <a:ext cx="1593950" cy="1062633"/>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Developer 1</a:t>
          </a:r>
        </a:p>
      </dsp:txBody>
      <dsp:txXfrm>
        <a:off x="35418" y="3635827"/>
        <a:ext cx="1531704" cy="1000387"/>
      </dsp:txXfrm>
    </dsp:sp>
    <dsp:sp modelId="{7971E49E-E261-43A7-B60C-161EB4F20F82}">
      <dsp:nvSpPr>
        <dsp:cNvPr id="0" name=""/>
        <dsp:cNvSpPr/>
      </dsp:nvSpPr>
      <dsp:spPr>
        <a:xfrm>
          <a:off x="1837338" y="3179650"/>
          <a:ext cx="1036067" cy="425053"/>
        </a:xfrm>
        <a:custGeom>
          <a:avLst/>
          <a:gdLst/>
          <a:ahLst/>
          <a:cxnLst/>
          <a:rect l="0" t="0" r="0" b="0"/>
          <a:pathLst>
            <a:path>
              <a:moveTo>
                <a:pt x="0" y="0"/>
              </a:moveTo>
              <a:lnTo>
                <a:pt x="0" y="212526"/>
              </a:lnTo>
              <a:lnTo>
                <a:pt x="1036067" y="212526"/>
              </a:lnTo>
              <a:lnTo>
                <a:pt x="1036067" y="42505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5A094D-D468-4FB5-B201-03B877041687}">
      <dsp:nvSpPr>
        <dsp:cNvPr id="0" name=""/>
        <dsp:cNvSpPr/>
      </dsp:nvSpPr>
      <dsp:spPr>
        <a:xfrm>
          <a:off x="2076430" y="3604704"/>
          <a:ext cx="1593950" cy="1062633"/>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Developer2</a:t>
          </a:r>
        </a:p>
      </dsp:txBody>
      <dsp:txXfrm>
        <a:off x="2107553" y="3635827"/>
        <a:ext cx="1531704" cy="1000387"/>
      </dsp:txXfrm>
    </dsp:sp>
    <dsp:sp modelId="{2E96FF69-DF5A-41BB-B0BE-D007F611B5E7}">
      <dsp:nvSpPr>
        <dsp:cNvPr id="0" name=""/>
        <dsp:cNvSpPr/>
      </dsp:nvSpPr>
      <dsp:spPr>
        <a:xfrm>
          <a:off x="3863754" y="1691963"/>
          <a:ext cx="91440" cy="425053"/>
        </a:xfrm>
        <a:custGeom>
          <a:avLst/>
          <a:gdLst/>
          <a:ahLst/>
          <a:cxnLst/>
          <a:rect l="0" t="0" r="0" b="0"/>
          <a:pathLst>
            <a:path>
              <a:moveTo>
                <a:pt x="45720" y="0"/>
              </a:moveTo>
              <a:lnTo>
                <a:pt x="45720" y="42505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A30BCC-C628-45D5-B38E-7F183DA518A0}">
      <dsp:nvSpPr>
        <dsp:cNvPr id="0" name=""/>
        <dsp:cNvSpPr/>
      </dsp:nvSpPr>
      <dsp:spPr>
        <a:xfrm>
          <a:off x="3112498" y="2117017"/>
          <a:ext cx="1593950" cy="1062633"/>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Business Analyst (BA) </a:t>
          </a:r>
        </a:p>
      </dsp:txBody>
      <dsp:txXfrm>
        <a:off x="3143621" y="2148140"/>
        <a:ext cx="1531704" cy="1000387"/>
      </dsp:txXfrm>
    </dsp:sp>
    <dsp:sp modelId="{BE8E655F-E48D-4E9E-9AC0-952794334E60}">
      <dsp:nvSpPr>
        <dsp:cNvPr id="0" name=""/>
        <dsp:cNvSpPr/>
      </dsp:nvSpPr>
      <dsp:spPr>
        <a:xfrm>
          <a:off x="3909474" y="1691963"/>
          <a:ext cx="2072135" cy="425053"/>
        </a:xfrm>
        <a:custGeom>
          <a:avLst/>
          <a:gdLst/>
          <a:ahLst/>
          <a:cxnLst/>
          <a:rect l="0" t="0" r="0" b="0"/>
          <a:pathLst>
            <a:path>
              <a:moveTo>
                <a:pt x="0" y="0"/>
              </a:moveTo>
              <a:lnTo>
                <a:pt x="0" y="212526"/>
              </a:lnTo>
              <a:lnTo>
                <a:pt x="2072135" y="212526"/>
              </a:lnTo>
              <a:lnTo>
                <a:pt x="2072135" y="42505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B2ADE80-DE65-46C4-A945-D5A9B5320BF8}">
      <dsp:nvSpPr>
        <dsp:cNvPr id="0" name=""/>
        <dsp:cNvSpPr/>
      </dsp:nvSpPr>
      <dsp:spPr>
        <a:xfrm>
          <a:off x="5184634" y="2117017"/>
          <a:ext cx="1593950" cy="1062633"/>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QC Leader</a:t>
          </a:r>
        </a:p>
      </dsp:txBody>
      <dsp:txXfrm>
        <a:off x="5215757" y="2148140"/>
        <a:ext cx="1531704" cy="1000387"/>
      </dsp:txXfrm>
    </dsp:sp>
    <dsp:sp modelId="{FFABF9E8-9376-4C5B-9117-CBFA21D4EA58}">
      <dsp:nvSpPr>
        <dsp:cNvPr id="0" name=""/>
        <dsp:cNvSpPr/>
      </dsp:nvSpPr>
      <dsp:spPr>
        <a:xfrm>
          <a:off x="4901915" y="3179650"/>
          <a:ext cx="1079694" cy="446051"/>
        </a:xfrm>
        <a:custGeom>
          <a:avLst/>
          <a:gdLst/>
          <a:ahLst/>
          <a:cxnLst/>
          <a:rect l="0" t="0" r="0" b="0"/>
          <a:pathLst>
            <a:path>
              <a:moveTo>
                <a:pt x="1079694" y="0"/>
              </a:moveTo>
              <a:lnTo>
                <a:pt x="1079694" y="223025"/>
              </a:lnTo>
              <a:lnTo>
                <a:pt x="0" y="223025"/>
              </a:lnTo>
              <a:lnTo>
                <a:pt x="0" y="44605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06B03D-7DB6-43B4-A48B-8B9183FEC54E}">
      <dsp:nvSpPr>
        <dsp:cNvPr id="0" name=""/>
        <dsp:cNvSpPr/>
      </dsp:nvSpPr>
      <dsp:spPr>
        <a:xfrm>
          <a:off x="4104940" y="3625701"/>
          <a:ext cx="1593950" cy="1062633"/>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QC 1</a:t>
          </a:r>
        </a:p>
      </dsp:txBody>
      <dsp:txXfrm>
        <a:off x="4136063" y="3656824"/>
        <a:ext cx="1531704" cy="1000387"/>
      </dsp:txXfrm>
    </dsp:sp>
    <dsp:sp modelId="{EFFC2F58-57C9-4C56-8B95-FF1076B05037}">
      <dsp:nvSpPr>
        <dsp:cNvPr id="0" name=""/>
        <dsp:cNvSpPr/>
      </dsp:nvSpPr>
      <dsp:spPr>
        <a:xfrm>
          <a:off x="5981609" y="3179650"/>
          <a:ext cx="1036067" cy="425053"/>
        </a:xfrm>
        <a:custGeom>
          <a:avLst/>
          <a:gdLst/>
          <a:ahLst/>
          <a:cxnLst/>
          <a:rect l="0" t="0" r="0" b="0"/>
          <a:pathLst>
            <a:path>
              <a:moveTo>
                <a:pt x="0" y="0"/>
              </a:moveTo>
              <a:lnTo>
                <a:pt x="0" y="212526"/>
              </a:lnTo>
              <a:lnTo>
                <a:pt x="1036067" y="212526"/>
              </a:lnTo>
              <a:lnTo>
                <a:pt x="1036067" y="42505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43B1BC-ED04-4A06-BC1F-6E3E977F4517}">
      <dsp:nvSpPr>
        <dsp:cNvPr id="0" name=""/>
        <dsp:cNvSpPr/>
      </dsp:nvSpPr>
      <dsp:spPr>
        <a:xfrm>
          <a:off x="6220702" y="3604704"/>
          <a:ext cx="1593950" cy="1062633"/>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QC 2</a:t>
          </a:r>
        </a:p>
      </dsp:txBody>
      <dsp:txXfrm>
        <a:off x="6251825" y="3635827"/>
        <a:ext cx="1531704" cy="100038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01FF7-89B3-43CD-B37A-F6CF0263AD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66C863-CCF4-4986-AF12-D9228D6F3B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11EFE11-DF57-4935-9F8B-D63299BB2984}"/>
              </a:ext>
            </a:extLst>
          </p:cNvPr>
          <p:cNvSpPr>
            <a:spLocks noGrp="1"/>
          </p:cNvSpPr>
          <p:nvPr>
            <p:ph type="dt" sz="half" idx="10"/>
          </p:nvPr>
        </p:nvSpPr>
        <p:spPr/>
        <p:txBody>
          <a:bodyPr/>
          <a:lstStyle/>
          <a:p>
            <a:fld id="{3EBBCFFF-3236-440D-956F-6E9DC07365FB}" type="datetimeFigureOut">
              <a:rPr lang="en-US" smtClean="0"/>
              <a:t>9/11/2025</a:t>
            </a:fld>
            <a:endParaRPr lang="en-US"/>
          </a:p>
        </p:txBody>
      </p:sp>
      <p:sp>
        <p:nvSpPr>
          <p:cNvPr id="5" name="Footer Placeholder 4">
            <a:extLst>
              <a:ext uri="{FF2B5EF4-FFF2-40B4-BE49-F238E27FC236}">
                <a16:creationId xmlns:a16="http://schemas.microsoft.com/office/drawing/2014/main" id="{B6F354D3-5D68-4D31-8C43-7EA52887EB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3C8852-C4AA-458B-9108-80E969C39924}"/>
              </a:ext>
            </a:extLst>
          </p:cNvPr>
          <p:cNvSpPr>
            <a:spLocks noGrp="1"/>
          </p:cNvSpPr>
          <p:nvPr>
            <p:ph type="sldNum" sz="quarter" idx="12"/>
          </p:nvPr>
        </p:nvSpPr>
        <p:spPr/>
        <p:txBody>
          <a:bodyPr/>
          <a:lstStyle/>
          <a:p>
            <a:fld id="{7C9F163B-5F54-4693-8E5D-0E52F99A6B03}" type="slidenum">
              <a:rPr lang="en-US" smtClean="0"/>
              <a:t>‹#›</a:t>
            </a:fld>
            <a:endParaRPr lang="en-US"/>
          </a:p>
        </p:txBody>
      </p:sp>
    </p:spTree>
    <p:extLst>
      <p:ext uri="{BB962C8B-B14F-4D97-AF65-F5344CB8AC3E}">
        <p14:creationId xmlns:p14="http://schemas.microsoft.com/office/powerpoint/2010/main" val="2517238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9B677-465F-43A8-8C07-004E06A65F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F5B652-FB80-4805-852C-6EB8E6C2EE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A3FD4D-1F98-4B07-BEFB-B3C8D12141C0}"/>
              </a:ext>
            </a:extLst>
          </p:cNvPr>
          <p:cNvSpPr>
            <a:spLocks noGrp="1"/>
          </p:cNvSpPr>
          <p:nvPr>
            <p:ph type="dt" sz="half" idx="10"/>
          </p:nvPr>
        </p:nvSpPr>
        <p:spPr/>
        <p:txBody>
          <a:bodyPr/>
          <a:lstStyle/>
          <a:p>
            <a:fld id="{3EBBCFFF-3236-440D-956F-6E9DC07365FB}" type="datetimeFigureOut">
              <a:rPr lang="en-US" smtClean="0"/>
              <a:t>9/11/2025</a:t>
            </a:fld>
            <a:endParaRPr lang="en-US"/>
          </a:p>
        </p:txBody>
      </p:sp>
      <p:sp>
        <p:nvSpPr>
          <p:cNvPr id="5" name="Footer Placeholder 4">
            <a:extLst>
              <a:ext uri="{FF2B5EF4-FFF2-40B4-BE49-F238E27FC236}">
                <a16:creationId xmlns:a16="http://schemas.microsoft.com/office/drawing/2014/main" id="{A20A5F7C-9780-4BD2-8D54-E11E8CA2EC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AE0DB3-98A3-4795-996B-AAC3AC16DF87}"/>
              </a:ext>
            </a:extLst>
          </p:cNvPr>
          <p:cNvSpPr>
            <a:spLocks noGrp="1"/>
          </p:cNvSpPr>
          <p:nvPr>
            <p:ph type="sldNum" sz="quarter" idx="12"/>
          </p:nvPr>
        </p:nvSpPr>
        <p:spPr/>
        <p:txBody>
          <a:bodyPr/>
          <a:lstStyle/>
          <a:p>
            <a:fld id="{7C9F163B-5F54-4693-8E5D-0E52F99A6B03}" type="slidenum">
              <a:rPr lang="en-US" smtClean="0"/>
              <a:t>‹#›</a:t>
            </a:fld>
            <a:endParaRPr lang="en-US"/>
          </a:p>
        </p:txBody>
      </p:sp>
    </p:spTree>
    <p:extLst>
      <p:ext uri="{BB962C8B-B14F-4D97-AF65-F5344CB8AC3E}">
        <p14:creationId xmlns:p14="http://schemas.microsoft.com/office/powerpoint/2010/main" val="417491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B4088-DBA0-4347-A997-A60A7413F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BA1DF2-C7EC-4E63-BB3D-5C729913E1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0526CA-696A-4B09-BDA5-417DCD938AAF}"/>
              </a:ext>
            </a:extLst>
          </p:cNvPr>
          <p:cNvSpPr>
            <a:spLocks noGrp="1"/>
          </p:cNvSpPr>
          <p:nvPr>
            <p:ph type="dt" sz="half" idx="10"/>
          </p:nvPr>
        </p:nvSpPr>
        <p:spPr/>
        <p:txBody>
          <a:bodyPr/>
          <a:lstStyle/>
          <a:p>
            <a:fld id="{3EBBCFFF-3236-440D-956F-6E9DC07365FB}" type="datetimeFigureOut">
              <a:rPr lang="en-US" smtClean="0"/>
              <a:t>9/11/2025</a:t>
            </a:fld>
            <a:endParaRPr lang="en-US"/>
          </a:p>
        </p:txBody>
      </p:sp>
      <p:sp>
        <p:nvSpPr>
          <p:cNvPr id="5" name="Footer Placeholder 4">
            <a:extLst>
              <a:ext uri="{FF2B5EF4-FFF2-40B4-BE49-F238E27FC236}">
                <a16:creationId xmlns:a16="http://schemas.microsoft.com/office/drawing/2014/main" id="{58529820-F3F1-437F-A0DC-6E4A6B9E9A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B770A3-EC93-45A3-AD2B-A203EB30B025}"/>
              </a:ext>
            </a:extLst>
          </p:cNvPr>
          <p:cNvSpPr>
            <a:spLocks noGrp="1"/>
          </p:cNvSpPr>
          <p:nvPr>
            <p:ph type="sldNum" sz="quarter" idx="12"/>
          </p:nvPr>
        </p:nvSpPr>
        <p:spPr/>
        <p:txBody>
          <a:bodyPr/>
          <a:lstStyle/>
          <a:p>
            <a:fld id="{7C9F163B-5F54-4693-8E5D-0E52F99A6B03}" type="slidenum">
              <a:rPr lang="en-US" smtClean="0"/>
              <a:t>‹#›</a:t>
            </a:fld>
            <a:endParaRPr lang="en-US"/>
          </a:p>
        </p:txBody>
      </p:sp>
    </p:spTree>
    <p:extLst>
      <p:ext uri="{BB962C8B-B14F-4D97-AF65-F5344CB8AC3E}">
        <p14:creationId xmlns:p14="http://schemas.microsoft.com/office/powerpoint/2010/main" val="1051792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CEF0D-FD75-4919-AF18-BD7809A629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9E5D90-9AB8-48D8-A125-5BF9015A7A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7C21D9-C1C1-4E83-BDD0-7DB10635B5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3E1A83-208F-4B21-8B1D-56F03F9BCBC8}"/>
              </a:ext>
            </a:extLst>
          </p:cNvPr>
          <p:cNvSpPr>
            <a:spLocks noGrp="1"/>
          </p:cNvSpPr>
          <p:nvPr>
            <p:ph type="dt" sz="half" idx="10"/>
          </p:nvPr>
        </p:nvSpPr>
        <p:spPr/>
        <p:txBody>
          <a:bodyPr/>
          <a:lstStyle/>
          <a:p>
            <a:fld id="{3EBBCFFF-3236-440D-956F-6E9DC07365FB}" type="datetimeFigureOut">
              <a:rPr lang="en-US" smtClean="0"/>
              <a:t>9/11/2025</a:t>
            </a:fld>
            <a:endParaRPr lang="en-US"/>
          </a:p>
        </p:txBody>
      </p:sp>
      <p:sp>
        <p:nvSpPr>
          <p:cNvPr id="6" name="Footer Placeholder 5">
            <a:extLst>
              <a:ext uri="{FF2B5EF4-FFF2-40B4-BE49-F238E27FC236}">
                <a16:creationId xmlns:a16="http://schemas.microsoft.com/office/drawing/2014/main" id="{854F15C1-741F-4D4F-A8D9-CC2D212F59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63EB67-BB3E-4B0A-A19F-C2127AF45B2E}"/>
              </a:ext>
            </a:extLst>
          </p:cNvPr>
          <p:cNvSpPr>
            <a:spLocks noGrp="1"/>
          </p:cNvSpPr>
          <p:nvPr>
            <p:ph type="sldNum" sz="quarter" idx="12"/>
          </p:nvPr>
        </p:nvSpPr>
        <p:spPr/>
        <p:txBody>
          <a:bodyPr/>
          <a:lstStyle/>
          <a:p>
            <a:fld id="{7C9F163B-5F54-4693-8E5D-0E52F99A6B03}" type="slidenum">
              <a:rPr lang="en-US" smtClean="0"/>
              <a:t>‹#›</a:t>
            </a:fld>
            <a:endParaRPr lang="en-US"/>
          </a:p>
        </p:txBody>
      </p:sp>
    </p:spTree>
    <p:extLst>
      <p:ext uri="{BB962C8B-B14F-4D97-AF65-F5344CB8AC3E}">
        <p14:creationId xmlns:p14="http://schemas.microsoft.com/office/powerpoint/2010/main" val="757041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EE1EE-CFC6-46C4-9C23-38DC3A3DD9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FF62F3-FE5D-4A1E-BFD6-9415DF818F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02D88A-CAC8-490C-81F5-3E2FE41D8D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86FB50-5E98-49FD-BBE4-467583FF33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384013-FBC4-4FA2-A9FD-CA17402DF6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AE51D0-CE29-49BB-B3FC-900937F956CF}"/>
              </a:ext>
            </a:extLst>
          </p:cNvPr>
          <p:cNvSpPr>
            <a:spLocks noGrp="1"/>
          </p:cNvSpPr>
          <p:nvPr>
            <p:ph type="dt" sz="half" idx="10"/>
          </p:nvPr>
        </p:nvSpPr>
        <p:spPr/>
        <p:txBody>
          <a:bodyPr/>
          <a:lstStyle/>
          <a:p>
            <a:fld id="{3EBBCFFF-3236-440D-956F-6E9DC07365FB}" type="datetimeFigureOut">
              <a:rPr lang="en-US" smtClean="0"/>
              <a:t>9/11/2025</a:t>
            </a:fld>
            <a:endParaRPr lang="en-US"/>
          </a:p>
        </p:txBody>
      </p:sp>
      <p:sp>
        <p:nvSpPr>
          <p:cNvPr id="8" name="Footer Placeholder 7">
            <a:extLst>
              <a:ext uri="{FF2B5EF4-FFF2-40B4-BE49-F238E27FC236}">
                <a16:creationId xmlns:a16="http://schemas.microsoft.com/office/drawing/2014/main" id="{623FA693-C229-4496-A917-1225CDF5FB7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63CC0A-51DD-4B86-BB1C-C44B41B6767A}"/>
              </a:ext>
            </a:extLst>
          </p:cNvPr>
          <p:cNvSpPr>
            <a:spLocks noGrp="1"/>
          </p:cNvSpPr>
          <p:nvPr>
            <p:ph type="sldNum" sz="quarter" idx="12"/>
          </p:nvPr>
        </p:nvSpPr>
        <p:spPr/>
        <p:txBody>
          <a:bodyPr/>
          <a:lstStyle/>
          <a:p>
            <a:fld id="{7C9F163B-5F54-4693-8E5D-0E52F99A6B03}" type="slidenum">
              <a:rPr lang="en-US" smtClean="0"/>
              <a:t>‹#›</a:t>
            </a:fld>
            <a:endParaRPr lang="en-US"/>
          </a:p>
        </p:txBody>
      </p:sp>
    </p:spTree>
    <p:extLst>
      <p:ext uri="{BB962C8B-B14F-4D97-AF65-F5344CB8AC3E}">
        <p14:creationId xmlns:p14="http://schemas.microsoft.com/office/powerpoint/2010/main" val="1530399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EAA69-552B-4671-81AF-D499A5C55D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1841E1-095F-48F5-90F2-2A337D58C172}"/>
              </a:ext>
            </a:extLst>
          </p:cNvPr>
          <p:cNvSpPr>
            <a:spLocks noGrp="1"/>
          </p:cNvSpPr>
          <p:nvPr>
            <p:ph type="dt" sz="half" idx="10"/>
          </p:nvPr>
        </p:nvSpPr>
        <p:spPr/>
        <p:txBody>
          <a:bodyPr/>
          <a:lstStyle/>
          <a:p>
            <a:fld id="{3EBBCFFF-3236-440D-956F-6E9DC07365FB}" type="datetimeFigureOut">
              <a:rPr lang="en-US" smtClean="0"/>
              <a:t>9/11/2025</a:t>
            </a:fld>
            <a:endParaRPr lang="en-US"/>
          </a:p>
        </p:txBody>
      </p:sp>
      <p:sp>
        <p:nvSpPr>
          <p:cNvPr id="4" name="Footer Placeholder 3">
            <a:extLst>
              <a:ext uri="{FF2B5EF4-FFF2-40B4-BE49-F238E27FC236}">
                <a16:creationId xmlns:a16="http://schemas.microsoft.com/office/drawing/2014/main" id="{FED69CD2-074A-4393-BBBF-961E0F68DD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7F222B5-BFAA-4BD5-AA59-5513C4C3F5AB}"/>
              </a:ext>
            </a:extLst>
          </p:cNvPr>
          <p:cNvSpPr>
            <a:spLocks noGrp="1"/>
          </p:cNvSpPr>
          <p:nvPr>
            <p:ph type="sldNum" sz="quarter" idx="12"/>
          </p:nvPr>
        </p:nvSpPr>
        <p:spPr/>
        <p:txBody>
          <a:bodyPr/>
          <a:lstStyle/>
          <a:p>
            <a:fld id="{7C9F163B-5F54-4693-8E5D-0E52F99A6B03}" type="slidenum">
              <a:rPr lang="en-US" smtClean="0"/>
              <a:t>‹#›</a:t>
            </a:fld>
            <a:endParaRPr lang="en-US"/>
          </a:p>
        </p:txBody>
      </p:sp>
    </p:spTree>
    <p:extLst>
      <p:ext uri="{BB962C8B-B14F-4D97-AF65-F5344CB8AC3E}">
        <p14:creationId xmlns:p14="http://schemas.microsoft.com/office/powerpoint/2010/main" val="2077510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74327C-ED2A-4AE6-B4A4-0333E84966B2}"/>
              </a:ext>
            </a:extLst>
          </p:cNvPr>
          <p:cNvSpPr>
            <a:spLocks noGrp="1"/>
          </p:cNvSpPr>
          <p:nvPr>
            <p:ph type="dt" sz="half" idx="10"/>
          </p:nvPr>
        </p:nvSpPr>
        <p:spPr/>
        <p:txBody>
          <a:bodyPr/>
          <a:lstStyle/>
          <a:p>
            <a:fld id="{3EBBCFFF-3236-440D-956F-6E9DC07365FB}" type="datetimeFigureOut">
              <a:rPr lang="en-US" smtClean="0"/>
              <a:t>9/11/2025</a:t>
            </a:fld>
            <a:endParaRPr lang="en-US"/>
          </a:p>
        </p:txBody>
      </p:sp>
      <p:sp>
        <p:nvSpPr>
          <p:cNvPr id="3" name="Footer Placeholder 2">
            <a:extLst>
              <a:ext uri="{FF2B5EF4-FFF2-40B4-BE49-F238E27FC236}">
                <a16:creationId xmlns:a16="http://schemas.microsoft.com/office/drawing/2014/main" id="{C4EFA90B-A92E-4916-90DD-3270833DA3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A83555-2E92-45D6-BC36-0F0EA6F7BD28}"/>
              </a:ext>
            </a:extLst>
          </p:cNvPr>
          <p:cNvSpPr>
            <a:spLocks noGrp="1"/>
          </p:cNvSpPr>
          <p:nvPr>
            <p:ph type="sldNum" sz="quarter" idx="12"/>
          </p:nvPr>
        </p:nvSpPr>
        <p:spPr/>
        <p:txBody>
          <a:bodyPr/>
          <a:lstStyle/>
          <a:p>
            <a:fld id="{7C9F163B-5F54-4693-8E5D-0E52F99A6B03}" type="slidenum">
              <a:rPr lang="en-US" smtClean="0"/>
              <a:t>‹#›</a:t>
            </a:fld>
            <a:endParaRPr lang="en-US"/>
          </a:p>
        </p:txBody>
      </p:sp>
    </p:spTree>
    <p:extLst>
      <p:ext uri="{BB962C8B-B14F-4D97-AF65-F5344CB8AC3E}">
        <p14:creationId xmlns:p14="http://schemas.microsoft.com/office/powerpoint/2010/main" val="618001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DFA5F-FB17-4AB4-8DF9-043EA29EC0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EE5EE4-DA18-4F9A-9C44-83EAA0D984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1393C2-D765-4818-84DE-FCC675F29D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878688-271B-4DE6-BC63-9B2734B68CD3}"/>
              </a:ext>
            </a:extLst>
          </p:cNvPr>
          <p:cNvSpPr>
            <a:spLocks noGrp="1"/>
          </p:cNvSpPr>
          <p:nvPr>
            <p:ph type="dt" sz="half" idx="10"/>
          </p:nvPr>
        </p:nvSpPr>
        <p:spPr/>
        <p:txBody>
          <a:bodyPr/>
          <a:lstStyle/>
          <a:p>
            <a:fld id="{3EBBCFFF-3236-440D-956F-6E9DC07365FB}" type="datetimeFigureOut">
              <a:rPr lang="en-US" smtClean="0"/>
              <a:t>9/11/2025</a:t>
            </a:fld>
            <a:endParaRPr lang="en-US"/>
          </a:p>
        </p:txBody>
      </p:sp>
      <p:sp>
        <p:nvSpPr>
          <p:cNvPr id="6" name="Footer Placeholder 5">
            <a:extLst>
              <a:ext uri="{FF2B5EF4-FFF2-40B4-BE49-F238E27FC236}">
                <a16:creationId xmlns:a16="http://schemas.microsoft.com/office/drawing/2014/main" id="{937F91E4-A87D-41A0-95A6-04B9146C4F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284633-C178-4822-A04E-4E53E92FEB1B}"/>
              </a:ext>
            </a:extLst>
          </p:cNvPr>
          <p:cNvSpPr>
            <a:spLocks noGrp="1"/>
          </p:cNvSpPr>
          <p:nvPr>
            <p:ph type="sldNum" sz="quarter" idx="12"/>
          </p:nvPr>
        </p:nvSpPr>
        <p:spPr/>
        <p:txBody>
          <a:bodyPr/>
          <a:lstStyle/>
          <a:p>
            <a:fld id="{7C9F163B-5F54-4693-8E5D-0E52F99A6B03}" type="slidenum">
              <a:rPr lang="en-US" smtClean="0"/>
              <a:t>‹#›</a:t>
            </a:fld>
            <a:endParaRPr lang="en-US"/>
          </a:p>
        </p:txBody>
      </p:sp>
    </p:spTree>
    <p:extLst>
      <p:ext uri="{BB962C8B-B14F-4D97-AF65-F5344CB8AC3E}">
        <p14:creationId xmlns:p14="http://schemas.microsoft.com/office/powerpoint/2010/main" val="533763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2DF21-B76A-4C56-8C21-ECB9AF19D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CD8E7C6-3991-497D-BFA9-1831D94EBB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21E848-9379-45EC-AD46-2B3CF85A1B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DD973E-2571-4145-8D19-025369C64DAC}"/>
              </a:ext>
            </a:extLst>
          </p:cNvPr>
          <p:cNvSpPr>
            <a:spLocks noGrp="1"/>
          </p:cNvSpPr>
          <p:nvPr>
            <p:ph type="dt" sz="half" idx="10"/>
          </p:nvPr>
        </p:nvSpPr>
        <p:spPr/>
        <p:txBody>
          <a:bodyPr/>
          <a:lstStyle/>
          <a:p>
            <a:fld id="{3EBBCFFF-3236-440D-956F-6E9DC07365FB}" type="datetimeFigureOut">
              <a:rPr lang="en-US" smtClean="0"/>
              <a:t>9/11/2025</a:t>
            </a:fld>
            <a:endParaRPr lang="en-US"/>
          </a:p>
        </p:txBody>
      </p:sp>
      <p:sp>
        <p:nvSpPr>
          <p:cNvPr id="6" name="Footer Placeholder 5">
            <a:extLst>
              <a:ext uri="{FF2B5EF4-FFF2-40B4-BE49-F238E27FC236}">
                <a16:creationId xmlns:a16="http://schemas.microsoft.com/office/drawing/2014/main" id="{D4DB6299-D373-46D5-B10A-1B13CDC41C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484524-3F9E-4A10-B8DA-5A1C883699A1}"/>
              </a:ext>
            </a:extLst>
          </p:cNvPr>
          <p:cNvSpPr>
            <a:spLocks noGrp="1"/>
          </p:cNvSpPr>
          <p:nvPr>
            <p:ph type="sldNum" sz="quarter" idx="12"/>
          </p:nvPr>
        </p:nvSpPr>
        <p:spPr/>
        <p:txBody>
          <a:bodyPr/>
          <a:lstStyle/>
          <a:p>
            <a:fld id="{7C9F163B-5F54-4693-8E5D-0E52F99A6B03}" type="slidenum">
              <a:rPr lang="en-US" smtClean="0"/>
              <a:t>‹#›</a:t>
            </a:fld>
            <a:endParaRPr lang="en-US"/>
          </a:p>
        </p:txBody>
      </p:sp>
    </p:spTree>
    <p:extLst>
      <p:ext uri="{BB962C8B-B14F-4D97-AF65-F5344CB8AC3E}">
        <p14:creationId xmlns:p14="http://schemas.microsoft.com/office/powerpoint/2010/main" val="2003502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9321B-CBCC-4253-A9D2-5C74211375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8C7083-DB39-4C89-84D0-A574FDFB4F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0DA847-D17C-424F-B315-470989471A64}"/>
              </a:ext>
            </a:extLst>
          </p:cNvPr>
          <p:cNvSpPr>
            <a:spLocks noGrp="1"/>
          </p:cNvSpPr>
          <p:nvPr>
            <p:ph type="dt" sz="half" idx="10"/>
          </p:nvPr>
        </p:nvSpPr>
        <p:spPr/>
        <p:txBody>
          <a:bodyPr/>
          <a:lstStyle/>
          <a:p>
            <a:fld id="{3EBBCFFF-3236-440D-956F-6E9DC07365FB}" type="datetimeFigureOut">
              <a:rPr lang="en-US" smtClean="0"/>
              <a:t>9/11/2025</a:t>
            </a:fld>
            <a:endParaRPr lang="en-US"/>
          </a:p>
        </p:txBody>
      </p:sp>
      <p:sp>
        <p:nvSpPr>
          <p:cNvPr id="5" name="Footer Placeholder 4">
            <a:extLst>
              <a:ext uri="{FF2B5EF4-FFF2-40B4-BE49-F238E27FC236}">
                <a16:creationId xmlns:a16="http://schemas.microsoft.com/office/drawing/2014/main" id="{9DB946CC-AA85-46F4-BED8-ACCEEBEF9D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BEE9A9-EDAB-4F85-9A19-FD850F1056B8}"/>
              </a:ext>
            </a:extLst>
          </p:cNvPr>
          <p:cNvSpPr>
            <a:spLocks noGrp="1"/>
          </p:cNvSpPr>
          <p:nvPr>
            <p:ph type="sldNum" sz="quarter" idx="12"/>
          </p:nvPr>
        </p:nvSpPr>
        <p:spPr/>
        <p:txBody>
          <a:bodyPr/>
          <a:lstStyle/>
          <a:p>
            <a:fld id="{7C9F163B-5F54-4693-8E5D-0E52F99A6B03}" type="slidenum">
              <a:rPr lang="en-US" smtClean="0"/>
              <a:t>‹#›</a:t>
            </a:fld>
            <a:endParaRPr lang="en-US"/>
          </a:p>
        </p:txBody>
      </p:sp>
    </p:spTree>
    <p:extLst>
      <p:ext uri="{BB962C8B-B14F-4D97-AF65-F5344CB8AC3E}">
        <p14:creationId xmlns:p14="http://schemas.microsoft.com/office/powerpoint/2010/main" val="3260996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BDC1F1-C6D8-4B1E-AA6B-1C23C09E44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20279F-0D7C-48E4-B1F2-DBE493D2E1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91AD7F-5C40-458E-9DA0-BE7DA8648432}"/>
              </a:ext>
            </a:extLst>
          </p:cNvPr>
          <p:cNvSpPr>
            <a:spLocks noGrp="1"/>
          </p:cNvSpPr>
          <p:nvPr>
            <p:ph type="dt" sz="half" idx="10"/>
          </p:nvPr>
        </p:nvSpPr>
        <p:spPr/>
        <p:txBody>
          <a:bodyPr/>
          <a:lstStyle/>
          <a:p>
            <a:fld id="{3EBBCFFF-3236-440D-956F-6E9DC07365FB}" type="datetimeFigureOut">
              <a:rPr lang="en-US" smtClean="0"/>
              <a:t>9/11/2025</a:t>
            </a:fld>
            <a:endParaRPr lang="en-US"/>
          </a:p>
        </p:txBody>
      </p:sp>
      <p:sp>
        <p:nvSpPr>
          <p:cNvPr id="5" name="Footer Placeholder 4">
            <a:extLst>
              <a:ext uri="{FF2B5EF4-FFF2-40B4-BE49-F238E27FC236}">
                <a16:creationId xmlns:a16="http://schemas.microsoft.com/office/drawing/2014/main" id="{5F953A2C-EB13-4453-8C61-82742327C7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99D49D-8AA7-4B0A-A871-8417F811999F}"/>
              </a:ext>
            </a:extLst>
          </p:cNvPr>
          <p:cNvSpPr>
            <a:spLocks noGrp="1"/>
          </p:cNvSpPr>
          <p:nvPr>
            <p:ph type="sldNum" sz="quarter" idx="12"/>
          </p:nvPr>
        </p:nvSpPr>
        <p:spPr/>
        <p:txBody>
          <a:bodyPr/>
          <a:lstStyle/>
          <a:p>
            <a:fld id="{7C9F163B-5F54-4693-8E5D-0E52F99A6B03}" type="slidenum">
              <a:rPr lang="en-US" smtClean="0"/>
              <a:t>‹#›</a:t>
            </a:fld>
            <a:endParaRPr lang="en-US"/>
          </a:p>
        </p:txBody>
      </p:sp>
    </p:spTree>
    <p:extLst>
      <p:ext uri="{BB962C8B-B14F-4D97-AF65-F5344CB8AC3E}">
        <p14:creationId xmlns:p14="http://schemas.microsoft.com/office/powerpoint/2010/main" val="1281301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DDD909-F4DC-40FC-9803-FCEE134EBD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AC72597-6AF9-4BE1-A96A-813850160C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5C6571-7164-4493-98F3-1B1705647A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BBCFFF-3236-440D-956F-6E9DC07365FB}" type="datetimeFigureOut">
              <a:rPr lang="en-US" smtClean="0"/>
              <a:t>9/11/2025</a:t>
            </a:fld>
            <a:endParaRPr lang="en-US"/>
          </a:p>
        </p:txBody>
      </p:sp>
      <p:sp>
        <p:nvSpPr>
          <p:cNvPr id="5" name="Footer Placeholder 4">
            <a:extLst>
              <a:ext uri="{FF2B5EF4-FFF2-40B4-BE49-F238E27FC236}">
                <a16:creationId xmlns:a16="http://schemas.microsoft.com/office/drawing/2014/main" id="{179D26C8-72CE-4C0D-A909-23D2BD9849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9EECED0-36E6-4788-B141-102BFA1ACD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9F163B-5F54-4693-8E5D-0E52F99A6B03}" type="slidenum">
              <a:rPr lang="en-US" smtClean="0"/>
              <a:t>‹#›</a:t>
            </a:fld>
            <a:endParaRPr lang="en-US"/>
          </a:p>
        </p:txBody>
      </p:sp>
    </p:spTree>
    <p:extLst>
      <p:ext uri="{BB962C8B-B14F-4D97-AF65-F5344CB8AC3E}">
        <p14:creationId xmlns:p14="http://schemas.microsoft.com/office/powerpoint/2010/main" val="2989885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dou.ua/lenta/articles/what-is-kanban/" TargetMode="External"/><Relationship Id="rId2" Type="http://schemas.openxmlformats.org/officeDocument/2006/relationships/image" Target="../media/image35.jpeg"/><Relationship Id="rId1" Type="http://schemas.openxmlformats.org/officeDocument/2006/relationships/slideLayout" Target="../slideLayouts/slideLayout2.xml"/><Relationship Id="rId4" Type="http://schemas.openxmlformats.org/officeDocument/2006/relationships/hyperlink" Target="https://agile-scrum-kanban.ru/osnovnye-principy-kanban/"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9">
            <a:extLst>
              <a:ext uri="{FF2B5EF4-FFF2-40B4-BE49-F238E27FC236}">
                <a16:creationId xmlns:a16="http://schemas.microsoft.com/office/drawing/2014/main" id="{967D8725-C6AE-4DE5-96C9-86534B1B7166}"/>
              </a:ext>
            </a:extLst>
          </p:cNvPr>
          <p:cNvSpPr>
            <a:spLocks noGrp="1"/>
          </p:cNvSpPr>
          <p:nvPr>
            <p:ph type="ctrTitle"/>
          </p:nvPr>
        </p:nvSpPr>
        <p:spPr>
          <a:xfrm>
            <a:off x="0" y="162560"/>
            <a:ext cx="12283440" cy="4236719"/>
          </a:xfrm>
        </p:spPr>
        <p:txBody>
          <a:bodyPr>
            <a:normAutofit/>
          </a:bodyPr>
          <a:lstStyle/>
          <a:p>
            <a:pPr algn="l"/>
            <a:r>
              <a:rPr lang="ru-RU" sz="7500" b="1" dirty="0">
                <a:effectLst/>
                <a:latin typeface="Segoe UI Variable Text Semibold" pitchFamily="2" charset="0"/>
                <a:ea typeface="Calibri" panose="020F0502020204030204" pitchFamily="34" charset="0"/>
              </a:rPr>
              <a:t>МЕТОДОЛОГІЇ </a:t>
            </a:r>
            <a:br>
              <a:rPr lang="ru-RU" sz="7500" b="1" dirty="0">
                <a:effectLst/>
                <a:latin typeface="Segoe UI Variable Text Semibold" pitchFamily="2" charset="0"/>
                <a:ea typeface="Calibri" panose="020F0502020204030204" pitchFamily="34" charset="0"/>
              </a:rPr>
            </a:br>
            <a:r>
              <a:rPr lang="ru-RU" sz="7500" b="1" dirty="0">
                <a:effectLst/>
                <a:latin typeface="Segoe UI Variable Text Semibold" pitchFamily="2" charset="0"/>
                <a:ea typeface="Calibri" panose="020F0502020204030204" pitchFamily="34" charset="0"/>
              </a:rPr>
              <a:t>РОЗРОБКИ ІТ </a:t>
            </a:r>
            <a:r>
              <a:rPr lang="ru-RU" sz="7500" b="1" dirty="0">
                <a:latin typeface="Segoe UI Variable Text Semibold" pitchFamily="2" charset="0"/>
                <a:ea typeface="Calibri" panose="020F0502020204030204" pitchFamily="34" charset="0"/>
              </a:rPr>
              <a:t>ПРОЄКТІВ</a:t>
            </a:r>
            <a:br>
              <a:rPr lang="ru-RU" sz="7500" b="1" dirty="0">
                <a:latin typeface="Segoe UI Variable Text Semibold" pitchFamily="2" charset="0"/>
                <a:ea typeface="Calibri" panose="020F0502020204030204" pitchFamily="34" charset="0"/>
              </a:rPr>
            </a:br>
            <a:br>
              <a:rPr lang="ru-RU" sz="9000" b="1" dirty="0">
                <a:effectLst/>
                <a:latin typeface="Segoe UI Variable Text Semibold" pitchFamily="2" charset="0"/>
                <a:ea typeface="Calibri" panose="020F0502020204030204" pitchFamily="34" charset="0"/>
              </a:rPr>
            </a:br>
            <a:r>
              <a:rPr lang="ru-RU" sz="4000" b="1" dirty="0">
                <a:latin typeface="Segoe UI Variable Text Semibold" pitchFamily="2" charset="0"/>
                <a:ea typeface="Calibri" panose="020F0502020204030204" pitchFamily="34" charset="0"/>
              </a:rPr>
              <a:t>ЯК ОБРАТИ НАЙЕФЕКТИВНІШУ</a:t>
            </a:r>
            <a:endParaRPr lang="uk-UA" sz="9000" dirty="0">
              <a:latin typeface="Segoe UI Variable Text Semibold" pitchFamily="2" charset="0"/>
            </a:endParaRPr>
          </a:p>
        </p:txBody>
      </p:sp>
      <p:sp>
        <p:nvSpPr>
          <p:cNvPr id="6" name="TextBox 5">
            <a:extLst>
              <a:ext uri="{FF2B5EF4-FFF2-40B4-BE49-F238E27FC236}">
                <a16:creationId xmlns:a16="http://schemas.microsoft.com/office/drawing/2014/main" id="{F0CD4A59-6EAD-4A6E-8E53-4642C27ABD86}"/>
              </a:ext>
            </a:extLst>
          </p:cNvPr>
          <p:cNvSpPr txBox="1"/>
          <p:nvPr/>
        </p:nvSpPr>
        <p:spPr>
          <a:xfrm>
            <a:off x="7368540" y="6221214"/>
            <a:ext cx="6385560" cy="369332"/>
          </a:xfrm>
          <a:prstGeom prst="rect">
            <a:avLst/>
          </a:prstGeom>
          <a:noFill/>
        </p:spPr>
        <p:txBody>
          <a:bodyPr wrap="square">
            <a:spAutoFit/>
          </a:bodyPr>
          <a:lstStyle/>
          <a:p>
            <a:r>
              <a:rPr lang="uk-UA" b="1" i="0" dirty="0">
                <a:solidFill>
                  <a:srgbClr val="242424"/>
                </a:solidFill>
                <a:effectLst/>
                <a:latin typeface="-apple-system"/>
              </a:rPr>
              <a:t>Практичний курс </a:t>
            </a:r>
            <a:r>
              <a:rPr lang="en-US" b="1" dirty="0">
                <a:solidFill>
                  <a:srgbClr val="242424"/>
                </a:solidFill>
                <a:latin typeface="-apple-system"/>
              </a:rPr>
              <a:t>“</a:t>
            </a:r>
            <a:r>
              <a:rPr lang="uk-UA" b="1" i="0" dirty="0">
                <a:solidFill>
                  <a:srgbClr val="242424"/>
                </a:solidFill>
                <a:effectLst/>
                <a:latin typeface="-apple-system"/>
              </a:rPr>
              <a:t>Бізнес-симуляція</a:t>
            </a:r>
            <a:r>
              <a:rPr lang="en-US" b="1" dirty="0">
                <a:solidFill>
                  <a:srgbClr val="242424"/>
                </a:solidFill>
                <a:latin typeface="-apple-system"/>
              </a:rPr>
              <a:t>”</a:t>
            </a:r>
            <a:r>
              <a:rPr lang="uk-UA" b="1" i="0" dirty="0">
                <a:solidFill>
                  <a:srgbClr val="242424"/>
                </a:solidFill>
                <a:effectLst/>
                <a:latin typeface="-apple-system"/>
              </a:rPr>
              <a:t>, 2025</a:t>
            </a:r>
            <a:endParaRPr lang="en-US" dirty="0"/>
          </a:p>
        </p:txBody>
      </p:sp>
      <p:sp>
        <p:nvSpPr>
          <p:cNvPr id="7" name="TextBox 6">
            <a:extLst>
              <a:ext uri="{FF2B5EF4-FFF2-40B4-BE49-F238E27FC236}">
                <a16:creationId xmlns:a16="http://schemas.microsoft.com/office/drawing/2014/main" id="{CB1947BB-23BE-410C-9509-35364CC00D18}"/>
              </a:ext>
            </a:extLst>
          </p:cNvPr>
          <p:cNvSpPr txBox="1"/>
          <p:nvPr/>
        </p:nvSpPr>
        <p:spPr>
          <a:xfrm>
            <a:off x="320041" y="6221214"/>
            <a:ext cx="6385560" cy="369332"/>
          </a:xfrm>
          <a:prstGeom prst="rect">
            <a:avLst/>
          </a:prstGeom>
          <a:noFill/>
        </p:spPr>
        <p:txBody>
          <a:bodyPr wrap="square">
            <a:spAutoFit/>
          </a:bodyPr>
          <a:lstStyle/>
          <a:p>
            <a:r>
              <a:rPr lang="uk-UA" b="1" dirty="0">
                <a:solidFill>
                  <a:srgbClr val="242424"/>
                </a:solidFill>
                <a:latin typeface="-apple-system"/>
              </a:rPr>
              <a:t>Віталій Сватко</a:t>
            </a:r>
            <a:endParaRPr lang="en-US" dirty="0"/>
          </a:p>
        </p:txBody>
      </p:sp>
    </p:spTree>
    <p:extLst>
      <p:ext uri="{BB962C8B-B14F-4D97-AF65-F5344CB8AC3E}">
        <p14:creationId xmlns:p14="http://schemas.microsoft.com/office/powerpoint/2010/main" val="1759667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F6673E-C801-4FCB-BB84-C65E708725FF}"/>
              </a:ext>
            </a:extLst>
          </p:cNvPr>
          <p:cNvSpPr txBox="1"/>
          <p:nvPr/>
        </p:nvSpPr>
        <p:spPr>
          <a:xfrm>
            <a:off x="4381500" y="1215189"/>
            <a:ext cx="7124700" cy="4271211"/>
          </a:xfrm>
          <a:prstGeom prst="rect">
            <a:avLst/>
          </a:prstGeom>
        </p:spPr>
        <p:txBody>
          <a:bodyPr lIns="0">
            <a:noAutofit/>
          </a:bodyPr>
          <a:lstStyle/>
          <a:p>
            <a:pPr marL="1257300" marR="0" indent="-342900" algn="just" eaLnBrk="1" hangingPunct="1">
              <a:spcBef>
                <a:spcPts val="600"/>
              </a:spcBef>
              <a:spcAft>
                <a:spcPts val="1200"/>
              </a:spcAft>
              <a:buFont typeface="Wingdings" panose="05000000000000000000" pitchFamily="2" charset="2"/>
              <a:buChar char="q"/>
            </a:pPr>
            <a:r>
              <a:rPr lang="en-US" sz="2200" dirty="0">
                <a:effectLst/>
                <a:ea typeface="Open Sans" panose="020B0606030504020204" pitchFamily="34" charset="0"/>
                <a:cs typeface="Open Sans" panose="020B0606030504020204" pitchFamily="34" charset="0"/>
              </a:rPr>
              <a:t>&gt;18 </a:t>
            </a:r>
            <a:r>
              <a:rPr lang="en-US" sz="2200" dirty="0" err="1">
                <a:effectLst/>
                <a:ea typeface="Open Sans" panose="020B0606030504020204" pitchFamily="34" charset="0"/>
                <a:cs typeface="Open Sans" panose="020B0606030504020204" pitchFamily="34" charset="0"/>
              </a:rPr>
              <a:t>років</a:t>
            </a:r>
            <a:r>
              <a:rPr lang="en-US" sz="2200" dirty="0">
                <a:effectLst/>
                <a:ea typeface="Open Sans" panose="020B0606030504020204" pitchFamily="34" charset="0"/>
                <a:cs typeface="Open Sans" panose="020B0606030504020204" pitchFamily="34" charset="0"/>
              </a:rPr>
              <a:t> </a:t>
            </a:r>
            <a:r>
              <a:rPr lang="en-US" sz="2200" dirty="0" err="1">
                <a:effectLst/>
                <a:ea typeface="Open Sans" panose="020B0606030504020204" pitchFamily="34" charset="0"/>
                <a:cs typeface="Open Sans" panose="020B0606030504020204" pitchFamily="34" charset="0"/>
              </a:rPr>
              <a:t>практичного</a:t>
            </a:r>
            <a:r>
              <a:rPr lang="en-US" sz="2200" dirty="0">
                <a:effectLst/>
                <a:ea typeface="Open Sans" panose="020B0606030504020204" pitchFamily="34" charset="0"/>
                <a:cs typeface="Open Sans" panose="020B0606030504020204" pitchFamily="34" charset="0"/>
              </a:rPr>
              <a:t> </a:t>
            </a:r>
            <a:r>
              <a:rPr lang="en-US" sz="2200" dirty="0" err="1">
                <a:effectLst/>
                <a:ea typeface="Open Sans" panose="020B0606030504020204" pitchFamily="34" charset="0"/>
                <a:cs typeface="Open Sans" panose="020B0606030504020204" pitchFamily="34" charset="0"/>
              </a:rPr>
              <a:t>досвіду</a:t>
            </a:r>
            <a:r>
              <a:rPr lang="en-US" sz="2200" dirty="0">
                <a:effectLst/>
                <a:ea typeface="Open Sans" panose="020B0606030504020204" pitchFamily="34" charset="0"/>
                <a:cs typeface="Open Sans" panose="020B0606030504020204" pitchFamily="34" charset="0"/>
              </a:rPr>
              <a:t> в ІТ, з </a:t>
            </a:r>
            <a:r>
              <a:rPr lang="en-US" sz="2200" dirty="0" err="1">
                <a:effectLst/>
                <a:ea typeface="Open Sans" panose="020B0606030504020204" pitchFamily="34" charset="0"/>
                <a:cs typeface="Open Sans" panose="020B0606030504020204" pitchFamily="34" charset="0"/>
              </a:rPr>
              <a:t>них</a:t>
            </a:r>
            <a:r>
              <a:rPr lang="en-US" sz="2200" dirty="0">
                <a:effectLst/>
                <a:ea typeface="Open Sans" panose="020B0606030504020204" pitchFamily="34" charset="0"/>
                <a:cs typeface="Open Sans" panose="020B0606030504020204" pitchFamily="34" charset="0"/>
              </a:rPr>
              <a:t> </a:t>
            </a:r>
            <a:r>
              <a:rPr lang="uk-UA" sz="2200" dirty="0">
                <a:ea typeface="Open Sans" panose="020B0606030504020204" pitchFamily="34" charset="0"/>
                <a:cs typeface="Open Sans" panose="020B0606030504020204" pitchFamily="34" charset="0"/>
              </a:rPr>
              <a:t>більше </a:t>
            </a:r>
            <a:r>
              <a:rPr lang="en-US" sz="2200" dirty="0">
                <a:effectLst/>
                <a:ea typeface="Open Sans" panose="020B0606030504020204" pitchFamily="34" charset="0"/>
                <a:cs typeface="Open Sans" panose="020B0606030504020204" pitchFamily="34" charset="0"/>
              </a:rPr>
              <a:t>1</a:t>
            </a:r>
            <a:r>
              <a:rPr lang="uk-UA" sz="2200" dirty="0">
                <a:effectLst/>
                <a:ea typeface="Open Sans" panose="020B0606030504020204" pitchFamily="34" charset="0"/>
                <a:cs typeface="Open Sans" panose="020B0606030504020204" pitchFamily="34" charset="0"/>
              </a:rPr>
              <a:t>2</a:t>
            </a:r>
            <a:r>
              <a:rPr lang="en-US" sz="2200" dirty="0">
                <a:effectLst/>
                <a:ea typeface="Open Sans" panose="020B0606030504020204" pitchFamily="34" charset="0"/>
                <a:cs typeface="Open Sans" panose="020B0606030504020204" pitchFamily="34" charset="0"/>
              </a:rPr>
              <a:t> </a:t>
            </a:r>
            <a:r>
              <a:rPr lang="en-US" sz="2200" dirty="0" err="1">
                <a:effectLst/>
                <a:ea typeface="Open Sans" panose="020B0606030504020204" pitchFamily="34" charset="0"/>
                <a:cs typeface="Open Sans" panose="020B0606030504020204" pitchFamily="34" charset="0"/>
              </a:rPr>
              <a:t>на</a:t>
            </a:r>
            <a:r>
              <a:rPr lang="en-US" sz="2200" dirty="0">
                <a:effectLst/>
                <a:ea typeface="Open Sans" panose="020B0606030504020204" pitchFamily="34" charset="0"/>
                <a:cs typeface="Open Sans" panose="020B0606030504020204" pitchFamily="34" charset="0"/>
              </a:rPr>
              <a:t> </a:t>
            </a:r>
            <a:r>
              <a:rPr lang="en-US" sz="2200" dirty="0" err="1">
                <a:effectLst/>
                <a:ea typeface="Open Sans" panose="020B0606030504020204" pitchFamily="34" charset="0"/>
                <a:cs typeface="Open Sans" panose="020B0606030504020204" pitchFamily="34" charset="0"/>
              </a:rPr>
              <a:t>посад</a:t>
            </a:r>
            <a:r>
              <a:rPr lang="uk-UA" sz="2200" dirty="0">
                <a:effectLst/>
                <a:ea typeface="Open Sans" panose="020B0606030504020204" pitchFamily="34" charset="0"/>
                <a:cs typeface="Open Sans" panose="020B0606030504020204" pitchFamily="34" charset="0"/>
              </a:rPr>
              <a:t>ах</a:t>
            </a:r>
            <a:r>
              <a:rPr lang="en-US" sz="2200" dirty="0">
                <a:effectLst/>
                <a:ea typeface="Open Sans" panose="020B0606030504020204" pitchFamily="34" charset="0"/>
                <a:cs typeface="Open Sans" panose="020B0606030504020204" pitchFamily="34" charset="0"/>
              </a:rPr>
              <a:t> </a:t>
            </a:r>
            <a:r>
              <a:rPr lang="en-US" sz="2200" dirty="0" err="1">
                <a:effectLst/>
                <a:ea typeface="Open Sans" panose="020B0606030504020204" pitchFamily="34" charset="0"/>
                <a:cs typeface="Open Sans" panose="020B0606030504020204" pitchFamily="34" charset="0"/>
              </a:rPr>
              <a:t>керівника</a:t>
            </a:r>
            <a:r>
              <a:rPr lang="en-US" sz="2200" dirty="0">
                <a:effectLst/>
                <a:ea typeface="Open Sans" panose="020B0606030504020204" pitchFamily="34" charset="0"/>
                <a:cs typeface="Open Sans" panose="020B0606030504020204" pitchFamily="34" charset="0"/>
              </a:rPr>
              <a:t> </a:t>
            </a:r>
            <a:r>
              <a:rPr lang="en-US" sz="2200" dirty="0" err="1">
                <a:effectLst/>
                <a:ea typeface="Open Sans" panose="020B0606030504020204" pitchFamily="34" charset="0"/>
                <a:cs typeface="Open Sans" panose="020B0606030504020204" pitchFamily="34" charset="0"/>
              </a:rPr>
              <a:t>відділу</a:t>
            </a:r>
            <a:r>
              <a:rPr lang="en-US" sz="2200" dirty="0">
                <a:effectLst/>
                <a:ea typeface="Open Sans" panose="020B0606030504020204" pitchFamily="34" charset="0"/>
                <a:cs typeface="Open Sans" panose="020B0606030504020204" pitchFamily="34" charset="0"/>
              </a:rPr>
              <a:t> з </a:t>
            </a:r>
            <a:r>
              <a:rPr lang="en-US" sz="2200" dirty="0" err="1">
                <a:effectLst/>
                <a:ea typeface="Open Sans" panose="020B0606030504020204" pitchFamily="34" charset="0"/>
                <a:cs typeface="Open Sans" panose="020B0606030504020204" pitchFamily="34" charset="0"/>
              </a:rPr>
              <a:t>розробки</a:t>
            </a:r>
            <a:r>
              <a:rPr lang="en-US" sz="2200" dirty="0">
                <a:effectLst/>
                <a:ea typeface="Open Sans" panose="020B0606030504020204" pitchFamily="34" charset="0"/>
                <a:cs typeface="Open Sans" panose="020B0606030504020204" pitchFamily="34" charset="0"/>
              </a:rPr>
              <a:t> </a:t>
            </a:r>
            <a:r>
              <a:rPr lang="en-US" sz="2200" dirty="0" err="1">
                <a:effectLst/>
                <a:ea typeface="Open Sans" panose="020B0606030504020204" pitchFamily="34" charset="0"/>
                <a:cs typeface="Open Sans" panose="020B0606030504020204" pitchFamily="34" charset="0"/>
              </a:rPr>
              <a:t>та</a:t>
            </a:r>
            <a:r>
              <a:rPr lang="en-US" sz="2200" dirty="0">
                <a:effectLst/>
                <a:ea typeface="Open Sans" panose="020B0606030504020204" pitchFamily="34" charset="0"/>
                <a:cs typeface="Open Sans" panose="020B0606030504020204" pitchFamily="34" charset="0"/>
              </a:rPr>
              <a:t> </a:t>
            </a:r>
            <a:r>
              <a:rPr lang="en-US" sz="2200" dirty="0" err="1">
                <a:effectLst/>
                <a:ea typeface="Open Sans" panose="020B0606030504020204" pitchFamily="34" charset="0"/>
                <a:cs typeface="Open Sans" panose="020B0606030504020204" pitchFamily="34" charset="0"/>
              </a:rPr>
              <a:t>впровадження</a:t>
            </a:r>
            <a:r>
              <a:rPr lang="en-US" sz="2200" dirty="0">
                <a:effectLst/>
                <a:ea typeface="Open Sans" panose="020B0606030504020204" pitchFamily="34" charset="0"/>
                <a:cs typeface="Open Sans" panose="020B0606030504020204" pitchFamily="34" charset="0"/>
              </a:rPr>
              <a:t> </a:t>
            </a:r>
            <a:r>
              <a:rPr lang="en-US" sz="2200" dirty="0" err="1">
                <a:effectLst/>
                <a:ea typeface="Open Sans" panose="020B0606030504020204" pitchFamily="34" charset="0"/>
                <a:cs typeface="Open Sans" panose="020B0606030504020204" pitchFamily="34" charset="0"/>
              </a:rPr>
              <a:t>програмних</a:t>
            </a:r>
            <a:r>
              <a:rPr lang="en-US" sz="2200" dirty="0">
                <a:effectLst/>
                <a:ea typeface="Open Sans" panose="020B0606030504020204" pitchFamily="34" charset="0"/>
                <a:cs typeface="Open Sans" panose="020B0606030504020204" pitchFamily="34" charset="0"/>
              </a:rPr>
              <a:t> </a:t>
            </a:r>
            <a:r>
              <a:rPr lang="en-US" sz="2200" dirty="0" err="1">
                <a:effectLst/>
                <a:ea typeface="Open Sans" panose="020B0606030504020204" pitchFamily="34" charset="0"/>
                <a:cs typeface="Open Sans" panose="020B0606030504020204" pitchFamily="34" charset="0"/>
              </a:rPr>
              <a:t>продуктів</a:t>
            </a:r>
            <a:endParaRPr lang="en-US" sz="2200" dirty="0">
              <a:effectLst/>
              <a:ea typeface="Open Sans" panose="020B0606030504020204" pitchFamily="34" charset="0"/>
              <a:cs typeface="Open Sans" panose="020B0606030504020204" pitchFamily="34" charset="0"/>
            </a:endParaRPr>
          </a:p>
          <a:p>
            <a:pPr marL="1257300" marR="0" indent="-342900" algn="just" eaLnBrk="1" hangingPunct="1">
              <a:spcBef>
                <a:spcPts val="600"/>
              </a:spcBef>
              <a:spcAft>
                <a:spcPts val="1200"/>
              </a:spcAft>
              <a:buFont typeface="Wingdings" panose="05000000000000000000" pitchFamily="2" charset="2"/>
              <a:buChar char="q"/>
            </a:pPr>
            <a:r>
              <a:rPr lang="en-US" sz="2200" dirty="0" err="1">
                <a:effectLst/>
                <a:ea typeface="Open Sans" panose="020B0606030504020204" pitchFamily="34" charset="0"/>
                <a:cs typeface="Open Sans" panose="020B0606030504020204" pitchFamily="34" charset="0"/>
              </a:rPr>
              <a:t>Технології</a:t>
            </a:r>
            <a:r>
              <a:rPr lang="en-US" sz="2200" dirty="0">
                <a:effectLst/>
                <a:ea typeface="Open Sans" panose="020B0606030504020204" pitchFamily="34" charset="0"/>
                <a:cs typeface="Open Sans" panose="020B0606030504020204" pitchFamily="34" charset="0"/>
              </a:rPr>
              <a:t>: Salesforce, QC, Go, Java, TAQC</a:t>
            </a:r>
          </a:p>
          <a:p>
            <a:pPr marL="1257300" marR="0" indent="-342900" algn="just" eaLnBrk="1" hangingPunct="1">
              <a:spcBef>
                <a:spcPts val="600"/>
              </a:spcBef>
              <a:spcAft>
                <a:spcPts val="1200"/>
              </a:spcAft>
              <a:buFont typeface="Wingdings" panose="05000000000000000000" pitchFamily="2" charset="2"/>
              <a:buChar char="q"/>
            </a:pPr>
            <a:r>
              <a:rPr lang="en-US" sz="2200" dirty="0">
                <a:effectLst/>
                <a:ea typeface="Open Sans" panose="020B0606030504020204" pitchFamily="34" charset="0"/>
                <a:cs typeface="Open Sans" panose="020B0606030504020204" pitchFamily="34" charset="0"/>
              </a:rPr>
              <a:t>PhD Information Technology</a:t>
            </a:r>
          </a:p>
          <a:p>
            <a:pPr marL="1257300" marR="0" indent="-342900" algn="just" eaLnBrk="1" hangingPunct="1">
              <a:spcBef>
                <a:spcPts val="600"/>
              </a:spcBef>
              <a:spcAft>
                <a:spcPts val="1200"/>
              </a:spcAft>
              <a:buFont typeface="Wingdings" panose="05000000000000000000" pitchFamily="2" charset="2"/>
              <a:buChar char="q"/>
            </a:pPr>
            <a:r>
              <a:rPr lang="en-US" sz="2200" dirty="0" err="1">
                <a:effectLst/>
                <a:ea typeface="Open Sans" panose="020B0606030504020204" pitchFamily="34" charset="0"/>
                <a:cs typeface="Open Sans" panose="020B0606030504020204" pitchFamily="34" charset="0"/>
              </a:rPr>
              <a:t>Сфера</a:t>
            </a:r>
            <a:r>
              <a:rPr lang="en-US" sz="2200" dirty="0">
                <a:effectLst/>
                <a:ea typeface="Open Sans" panose="020B0606030504020204" pitchFamily="34" charset="0"/>
                <a:cs typeface="Open Sans" panose="020B0606030504020204" pitchFamily="34" charset="0"/>
              </a:rPr>
              <a:t> </a:t>
            </a:r>
            <a:r>
              <a:rPr lang="en-US" sz="2200" dirty="0" err="1">
                <a:effectLst/>
                <a:ea typeface="Open Sans" panose="020B0606030504020204" pitchFamily="34" charset="0"/>
                <a:cs typeface="Open Sans" panose="020B0606030504020204" pitchFamily="34" charset="0"/>
              </a:rPr>
              <a:t>наукових</a:t>
            </a:r>
            <a:r>
              <a:rPr lang="en-US" sz="2200" dirty="0">
                <a:effectLst/>
                <a:ea typeface="Open Sans" panose="020B0606030504020204" pitchFamily="34" charset="0"/>
                <a:cs typeface="Open Sans" panose="020B0606030504020204" pitchFamily="34" charset="0"/>
              </a:rPr>
              <a:t> </a:t>
            </a:r>
            <a:r>
              <a:rPr lang="en-US" sz="2200" dirty="0" err="1">
                <a:effectLst/>
                <a:ea typeface="Open Sans" panose="020B0606030504020204" pitchFamily="34" charset="0"/>
                <a:cs typeface="Open Sans" panose="020B0606030504020204" pitchFamily="34" charset="0"/>
              </a:rPr>
              <a:t>інтересів</a:t>
            </a:r>
            <a:r>
              <a:rPr lang="en-US" sz="2200" dirty="0">
                <a:effectLst/>
                <a:ea typeface="Open Sans" panose="020B0606030504020204" pitchFamily="34" charset="0"/>
                <a:cs typeface="Open Sans" panose="020B0606030504020204" pitchFamily="34" charset="0"/>
              </a:rPr>
              <a:t> – </a:t>
            </a:r>
            <a:r>
              <a:rPr lang="uk-UA" sz="2200" dirty="0">
                <a:ea typeface="Open Sans" panose="020B0606030504020204" pitchFamily="34" charset="0"/>
                <a:cs typeface="Open Sans" panose="020B0606030504020204" pitchFamily="34" charset="0"/>
              </a:rPr>
              <a:t>І</a:t>
            </a:r>
            <a:r>
              <a:rPr lang="en-US" sz="2200" dirty="0" err="1">
                <a:effectLst/>
                <a:ea typeface="Open Sans" panose="020B0606030504020204" pitchFamily="34" charset="0"/>
                <a:cs typeface="Open Sans" panose="020B0606030504020204" pitchFamily="34" charset="0"/>
              </a:rPr>
              <a:t>нтелектуальн</a:t>
            </a:r>
            <a:r>
              <a:rPr lang="uk-UA" sz="2200" dirty="0">
                <a:effectLst/>
                <a:ea typeface="Open Sans" panose="020B0606030504020204" pitchFamily="34" charset="0"/>
                <a:cs typeface="Open Sans" panose="020B0606030504020204" pitchFamily="34" charset="0"/>
              </a:rPr>
              <a:t>і</a:t>
            </a:r>
            <a:r>
              <a:rPr lang="en-US" sz="2200" dirty="0">
                <a:effectLst/>
                <a:ea typeface="Open Sans" panose="020B0606030504020204" pitchFamily="34" charset="0"/>
                <a:cs typeface="Open Sans" panose="020B0606030504020204" pitchFamily="34" charset="0"/>
              </a:rPr>
              <a:t> </a:t>
            </a:r>
            <a:r>
              <a:rPr lang="en-US" sz="2200" dirty="0" err="1">
                <a:effectLst/>
                <a:ea typeface="Open Sans" panose="020B0606030504020204" pitchFamily="34" charset="0"/>
                <a:cs typeface="Open Sans" panose="020B0606030504020204" pitchFamily="34" charset="0"/>
              </a:rPr>
              <a:t>транспортн</a:t>
            </a:r>
            <a:r>
              <a:rPr lang="uk-UA" sz="2200" dirty="0">
                <a:effectLst/>
                <a:ea typeface="Open Sans" panose="020B0606030504020204" pitchFamily="34" charset="0"/>
                <a:cs typeface="Open Sans" panose="020B0606030504020204" pitchFamily="34" charset="0"/>
              </a:rPr>
              <a:t>і</a:t>
            </a:r>
            <a:r>
              <a:rPr lang="en-US" sz="2200" dirty="0">
                <a:effectLst/>
                <a:ea typeface="Open Sans" panose="020B0606030504020204" pitchFamily="34" charset="0"/>
                <a:cs typeface="Open Sans" panose="020B0606030504020204" pitchFamily="34" charset="0"/>
              </a:rPr>
              <a:t> </a:t>
            </a:r>
            <a:r>
              <a:rPr lang="en-US" sz="2200" dirty="0" err="1">
                <a:effectLst/>
                <a:ea typeface="Open Sans" panose="020B0606030504020204" pitchFamily="34" charset="0"/>
                <a:cs typeface="Open Sans" panose="020B0606030504020204" pitchFamily="34" charset="0"/>
              </a:rPr>
              <a:t>систем</a:t>
            </a:r>
            <a:r>
              <a:rPr lang="uk-UA" sz="2200" dirty="0">
                <a:effectLst/>
                <a:ea typeface="Open Sans" panose="020B0606030504020204" pitchFamily="34" charset="0"/>
                <a:cs typeface="Open Sans" panose="020B0606030504020204" pitchFamily="34" charset="0"/>
              </a:rPr>
              <a:t>и</a:t>
            </a:r>
            <a:r>
              <a:rPr lang="en-US" sz="2200" dirty="0">
                <a:effectLst/>
                <a:ea typeface="Open Sans" panose="020B0606030504020204" pitchFamily="34" charset="0"/>
                <a:cs typeface="Open Sans" panose="020B0606030504020204" pitchFamily="34" charset="0"/>
              </a:rPr>
              <a:t>, </a:t>
            </a:r>
            <a:r>
              <a:rPr lang="en-US" sz="2200" dirty="0" err="1">
                <a:effectLst/>
                <a:ea typeface="Open Sans" panose="020B0606030504020204" pitchFamily="34" charset="0"/>
                <a:cs typeface="Open Sans" panose="020B0606030504020204" pitchFamily="34" charset="0"/>
              </a:rPr>
              <a:t>SmartCity</a:t>
            </a:r>
            <a:endParaRPr lang="en-US" sz="2200" dirty="0">
              <a:effectLst/>
              <a:ea typeface="Open Sans" panose="020B0606030504020204" pitchFamily="34" charset="0"/>
              <a:cs typeface="Open Sans" panose="020B0606030504020204" pitchFamily="34" charset="0"/>
            </a:endParaRPr>
          </a:p>
          <a:p>
            <a:pPr marL="1257300" marR="0" indent="-342900" algn="just" eaLnBrk="1" hangingPunct="1">
              <a:spcBef>
                <a:spcPts val="600"/>
              </a:spcBef>
              <a:spcAft>
                <a:spcPts val="1200"/>
              </a:spcAft>
              <a:buFont typeface="Wingdings" panose="05000000000000000000" pitchFamily="2" charset="2"/>
              <a:buChar char="q"/>
            </a:pPr>
            <a:r>
              <a:rPr lang="en-US" sz="2200" dirty="0">
                <a:ea typeface="Open Sans" panose="020B0606030504020204" pitchFamily="34" charset="0"/>
                <a:cs typeface="Open Sans" panose="020B0606030504020204" pitchFamily="34" charset="0"/>
              </a:rPr>
              <a:t>LinkedIn: https://www.linkedin.com/in/vitalii-svatko-470b86138/</a:t>
            </a:r>
            <a:endParaRPr lang="en-US" sz="2200" dirty="0">
              <a:effectLs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73624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1BAA3175-5382-482B-A994-086308A8CBCA}"/>
              </a:ext>
            </a:extLst>
          </p:cNvPr>
          <p:cNvSpPr txBox="1">
            <a:spLocks/>
          </p:cNvSpPr>
          <p:nvPr/>
        </p:nvSpPr>
        <p:spPr>
          <a:xfrm>
            <a:off x="4389120" y="1382486"/>
            <a:ext cx="7117080" cy="4103914"/>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ct val="90000"/>
              </a:lnSpc>
              <a:spcBef>
                <a:spcPts val="600"/>
              </a:spcBef>
              <a:spcAft>
                <a:spcPts val="600"/>
              </a:spcAft>
              <a:buFont typeface="Wingdings" panose="05000000000000000000" pitchFamily="2" charset="2"/>
              <a:buChar char="q"/>
            </a:pPr>
            <a:r>
              <a:rPr lang="uk-UA" sz="2400" dirty="0">
                <a:solidFill>
                  <a:schemeClr val="tx1"/>
                </a:solidFill>
                <a:latin typeface="Segoe UI Variable Text Semibold" pitchFamily="2" charset="0"/>
              </a:rPr>
              <a:t>Методологія розробки програмного забезпечення</a:t>
            </a:r>
            <a:endParaRPr lang="en-US" sz="2400" dirty="0">
              <a:solidFill>
                <a:schemeClr val="tx1"/>
              </a:solidFill>
              <a:latin typeface="Segoe UI Variable Text Semibold" pitchFamily="2" charset="0"/>
            </a:endParaRPr>
          </a:p>
          <a:p>
            <a:pPr marL="342900" indent="-342900" algn="l">
              <a:lnSpc>
                <a:spcPct val="90000"/>
              </a:lnSpc>
              <a:spcBef>
                <a:spcPts val="600"/>
              </a:spcBef>
              <a:spcAft>
                <a:spcPts val="600"/>
              </a:spcAft>
              <a:buFont typeface="Wingdings" panose="05000000000000000000" pitchFamily="2" charset="2"/>
              <a:buChar char="q"/>
            </a:pPr>
            <a:r>
              <a:rPr lang="en-US" sz="2400" dirty="0">
                <a:solidFill>
                  <a:schemeClr val="tx1"/>
                </a:solidFill>
                <a:latin typeface="Segoe UI Variable Text Semibold" pitchFamily="2" charset="0"/>
              </a:rPr>
              <a:t>Agile</a:t>
            </a:r>
            <a:r>
              <a:rPr lang="uk-UA" sz="2400" dirty="0">
                <a:solidFill>
                  <a:schemeClr val="tx1"/>
                </a:solidFill>
                <a:latin typeface="Segoe UI Variable Text Semibold" pitchFamily="2" charset="0"/>
              </a:rPr>
              <a:t> методологія</a:t>
            </a:r>
            <a:endParaRPr lang="en-US" sz="2400" dirty="0">
              <a:solidFill>
                <a:schemeClr val="tx1"/>
              </a:solidFill>
              <a:latin typeface="Segoe UI Variable Text Semibold" pitchFamily="2" charset="0"/>
            </a:endParaRPr>
          </a:p>
          <a:p>
            <a:pPr marL="342900" indent="-342900" algn="l">
              <a:lnSpc>
                <a:spcPct val="90000"/>
              </a:lnSpc>
              <a:spcBef>
                <a:spcPts val="600"/>
              </a:spcBef>
              <a:spcAft>
                <a:spcPts val="600"/>
              </a:spcAft>
              <a:buFont typeface="Wingdings" panose="05000000000000000000" pitchFamily="2" charset="2"/>
              <a:buChar char="q"/>
            </a:pPr>
            <a:r>
              <a:rPr lang="en-US" sz="2400" dirty="0">
                <a:solidFill>
                  <a:schemeClr val="tx1"/>
                </a:solidFill>
                <a:latin typeface="Segoe UI Variable Text Semibold" pitchFamily="2" charset="0"/>
              </a:rPr>
              <a:t>Waterfall </a:t>
            </a:r>
            <a:r>
              <a:rPr lang="uk-UA" sz="2400" dirty="0">
                <a:solidFill>
                  <a:schemeClr val="tx1"/>
                </a:solidFill>
                <a:latin typeface="Segoe UI Variable Text Semibold" pitchFamily="2" charset="0"/>
              </a:rPr>
              <a:t>методологія</a:t>
            </a:r>
            <a:endParaRPr lang="en-US" sz="2400" dirty="0">
              <a:solidFill>
                <a:schemeClr val="tx1"/>
              </a:solidFill>
              <a:latin typeface="Segoe UI Variable Text Semibold" pitchFamily="2" charset="0"/>
            </a:endParaRPr>
          </a:p>
          <a:p>
            <a:pPr marL="342900" indent="-342900" algn="l">
              <a:lnSpc>
                <a:spcPct val="90000"/>
              </a:lnSpc>
              <a:spcBef>
                <a:spcPts val="600"/>
              </a:spcBef>
              <a:spcAft>
                <a:spcPts val="600"/>
              </a:spcAft>
              <a:buFont typeface="Wingdings" panose="05000000000000000000" pitchFamily="2" charset="2"/>
              <a:buChar char="q"/>
            </a:pPr>
            <a:r>
              <a:rPr lang="en-US" sz="2400" b="1" dirty="0">
                <a:solidFill>
                  <a:srgbClr val="000000"/>
                </a:solidFill>
                <a:latin typeface="Segoe UI Variable Text Semibold" pitchFamily="2" charset="0"/>
              </a:rPr>
              <a:t>SCRUM Framework</a:t>
            </a:r>
          </a:p>
          <a:p>
            <a:pPr marL="342900" indent="-342900" algn="l">
              <a:lnSpc>
                <a:spcPct val="90000"/>
              </a:lnSpc>
              <a:spcBef>
                <a:spcPts val="600"/>
              </a:spcBef>
              <a:spcAft>
                <a:spcPts val="600"/>
              </a:spcAft>
              <a:buFont typeface="Wingdings" panose="05000000000000000000" pitchFamily="2" charset="2"/>
              <a:buChar char="q"/>
            </a:pPr>
            <a:r>
              <a:rPr lang="en-US" sz="2400" b="1" dirty="0">
                <a:solidFill>
                  <a:srgbClr val="000000"/>
                </a:solidFill>
                <a:latin typeface="Segoe UI Variable Text Semibold" pitchFamily="2" charset="0"/>
              </a:rPr>
              <a:t>KANBAN Framework</a:t>
            </a:r>
          </a:p>
          <a:p>
            <a:pPr marL="342900" indent="-342900" algn="l">
              <a:lnSpc>
                <a:spcPct val="90000"/>
              </a:lnSpc>
              <a:spcBef>
                <a:spcPts val="600"/>
              </a:spcBef>
              <a:spcAft>
                <a:spcPts val="600"/>
              </a:spcAft>
              <a:buFont typeface="Wingdings" panose="05000000000000000000" pitchFamily="2" charset="2"/>
              <a:buChar char="q"/>
            </a:pPr>
            <a:endParaRPr lang="en-US" sz="2400" b="1" dirty="0">
              <a:solidFill>
                <a:srgbClr val="000000"/>
              </a:solidFill>
              <a:latin typeface="Segoe UI Variable Text Semibold" pitchFamily="2" charset="0"/>
            </a:endParaRPr>
          </a:p>
          <a:p>
            <a:pPr marL="342900" indent="-342900" algn="l">
              <a:lnSpc>
                <a:spcPct val="90000"/>
              </a:lnSpc>
              <a:spcBef>
                <a:spcPts val="600"/>
              </a:spcBef>
              <a:spcAft>
                <a:spcPts val="600"/>
              </a:spcAft>
              <a:buFont typeface="Wingdings" panose="05000000000000000000" pitchFamily="2" charset="2"/>
              <a:buChar char="q"/>
            </a:pPr>
            <a:endParaRPr lang="en-US" sz="2400" dirty="0">
              <a:latin typeface="Segoe UI Variable Text Semibold" pitchFamily="2" charset="0"/>
            </a:endParaRPr>
          </a:p>
        </p:txBody>
      </p:sp>
      <p:sp>
        <p:nvSpPr>
          <p:cNvPr id="5" name="Title 5">
            <a:extLst>
              <a:ext uri="{FF2B5EF4-FFF2-40B4-BE49-F238E27FC236}">
                <a16:creationId xmlns:a16="http://schemas.microsoft.com/office/drawing/2014/main" id="{138F3711-B8AE-4F5B-9B47-05F94E8DEDBC}"/>
              </a:ext>
            </a:extLst>
          </p:cNvPr>
          <p:cNvSpPr>
            <a:spLocks noGrp="1"/>
          </p:cNvSpPr>
          <p:nvPr>
            <p:ph type="title"/>
          </p:nvPr>
        </p:nvSpPr>
        <p:spPr>
          <a:xfrm>
            <a:off x="594360" y="1373052"/>
            <a:ext cx="3467100" cy="928915"/>
          </a:xfrm>
        </p:spPr>
        <p:txBody>
          <a:bodyPr>
            <a:normAutofit/>
          </a:bodyPr>
          <a:lstStyle/>
          <a:p>
            <a:r>
              <a:rPr lang="en-US" dirty="0">
                <a:latin typeface="Segoe UI Variable Text Semibold" pitchFamily="2" charset="0"/>
              </a:rPr>
              <a:t>AGENDA</a:t>
            </a:r>
            <a:r>
              <a:rPr lang="uk-UA" dirty="0">
                <a:latin typeface="Segoe UI Variable Text Semibold" pitchFamily="2" charset="0"/>
              </a:rPr>
              <a:t>:</a:t>
            </a:r>
          </a:p>
        </p:txBody>
      </p:sp>
    </p:spTree>
    <p:extLst>
      <p:ext uri="{BB962C8B-B14F-4D97-AF65-F5344CB8AC3E}">
        <p14:creationId xmlns:p14="http://schemas.microsoft.com/office/powerpoint/2010/main" val="895503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B3F83571-66C6-4EB2-AEC4-1F7C46FAC4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0185" y="1317625"/>
            <a:ext cx="9231630" cy="53158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7EDA16A-D743-4069-A046-1D131513FA31}"/>
              </a:ext>
            </a:extLst>
          </p:cNvPr>
          <p:cNvSpPr txBox="1"/>
          <p:nvPr/>
        </p:nvSpPr>
        <p:spPr>
          <a:xfrm>
            <a:off x="264160" y="562382"/>
            <a:ext cx="6339840" cy="1754326"/>
          </a:xfrm>
          <a:prstGeom prst="rect">
            <a:avLst/>
          </a:prstGeom>
          <a:noFill/>
        </p:spPr>
        <p:txBody>
          <a:bodyPr wrap="square">
            <a:spAutoFit/>
          </a:bodyPr>
          <a:lstStyle/>
          <a:p>
            <a:pPr algn="ctr" rtl="0">
              <a:spcBef>
                <a:spcPts val="0"/>
              </a:spcBef>
              <a:spcAft>
                <a:spcPts val="0"/>
              </a:spcAft>
            </a:pPr>
            <a:r>
              <a:rPr lang="uk-UA" sz="3600" b="1" i="0" u="none" strike="noStrike" dirty="0">
                <a:effectLst/>
                <a:latin typeface="Segoe UI Variable Text Semibold" pitchFamily="2" charset="0"/>
              </a:rPr>
              <a:t>З ЧОГО ВСЕ ПОЧИНАЄТЬСЯ</a:t>
            </a:r>
            <a:endParaRPr lang="uk-UA" sz="3600" b="0" dirty="0">
              <a:effectLst/>
              <a:latin typeface="Segoe UI Variable Text Semibold" pitchFamily="2" charset="0"/>
            </a:endParaRPr>
          </a:p>
          <a:p>
            <a:br>
              <a:rPr lang="uk-UA" sz="3600" dirty="0">
                <a:latin typeface="Segoe UI Variable Text Semibold" pitchFamily="2" charset="0"/>
              </a:rPr>
            </a:br>
            <a:endParaRPr lang="en-US" sz="3600" dirty="0">
              <a:latin typeface="Segoe UI Variable Text Semibold" pitchFamily="2" charset="0"/>
            </a:endParaRPr>
          </a:p>
        </p:txBody>
      </p:sp>
    </p:spTree>
    <p:extLst>
      <p:ext uri="{BB962C8B-B14F-4D97-AF65-F5344CB8AC3E}">
        <p14:creationId xmlns:p14="http://schemas.microsoft.com/office/powerpoint/2010/main" val="3408952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572D42B8-D9E5-4710-A4C8-B07271DF2B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4400" y="2100484"/>
            <a:ext cx="8143358" cy="412759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A6B1F75-3305-42CF-BF9B-F948C474210E}"/>
              </a:ext>
            </a:extLst>
          </p:cNvPr>
          <p:cNvSpPr txBox="1"/>
          <p:nvPr/>
        </p:nvSpPr>
        <p:spPr>
          <a:xfrm>
            <a:off x="3047999" y="426721"/>
            <a:ext cx="6096000" cy="1938992"/>
          </a:xfrm>
          <a:prstGeom prst="rect">
            <a:avLst/>
          </a:prstGeom>
          <a:noFill/>
        </p:spPr>
        <p:txBody>
          <a:bodyPr wrap="square">
            <a:spAutoFit/>
          </a:bodyPr>
          <a:lstStyle/>
          <a:p>
            <a:pPr algn="ctr" rtl="0"/>
            <a:r>
              <a:rPr lang="uk-UA" sz="4000" b="1" i="0" u="none" strike="noStrike" dirty="0">
                <a:effectLst/>
                <a:latin typeface="Segoe UI Variable Text Semibold" pitchFamily="2" charset="0"/>
              </a:rPr>
              <a:t>ВИДИ ІТ КОМПАНІЙ</a:t>
            </a:r>
            <a:endParaRPr lang="uk-UA" sz="4000" b="0" dirty="0">
              <a:effectLst/>
              <a:latin typeface="Segoe UI Variable Text Semibold" pitchFamily="2" charset="0"/>
            </a:endParaRPr>
          </a:p>
          <a:p>
            <a:br>
              <a:rPr lang="uk-UA" sz="4000" dirty="0">
                <a:latin typeface="Segoe UI Variable Text Semibold" pitchFamily="2" charset="0"/>
              </a:rPr>
            </a:br>
            <a:endParaRPr lang="en-US" sz="4000" dirty="0">
              <a:latin typeface="Segoe UI Variable Text Semibold" pitchFamily="2" charset="0"/>
            </a:endParaRPr>
          </a:p>
        </p:txBody>
      </p:sp>
    </p:spTree>
    <p:extLst>
      <p:ext uri="{BB962C8B-B14F-4D97-AF65-F5344CB8AC3E}">
        <p14:creationId xmlns:p14="http://schemas.microsoft.com/office/powerpoint/2010/main" val="3754021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What is Project Explained in Less than 5 minutes » ProjectsMind.com">
            <a:extLst>
              <a:ext uri="{FF2B5EF4-FFF2-40B4-BE49-F238E27FC236}">
                <a16:creationId xmlns:a16="http://schemas.microsoft.com/office/drawing/2014/main" id="{072ED8E5-68C3-49DF-ABF1-98775F325B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690" y="1113481"/>
            <a:ext cx="6822989" cy="411479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655B5A5-FEF4-4389-838E-5BEB36E29B1B}"/>
              </a:ext>
            </a:extLst>
          </p:cNvPr>
          <p:cNvSpPr txBox="1"/>
          <p:nvPr/>
        </p:nvSpPr>
        <p:spPr>
          <a:xfrm>
            <a:off x="6167120" y="1629720"/>
            <a:ext cx="6096000" cy="1323439"/>
          </a:xfrm>
          <a:prstGeom prst="rect">
            <a:avLst/>
          </a:prstGeom>
          <a:noFill/>
        </p:spPr>
        <p:txBody>
          <a:bodyPr wrap="square">
            <a:spAutoFit/>
          </a:bodyPr>
          <a:lstStyle/>
          <a:p>
            <a:r>
              <a:rPr lang="ru-RU" sz="8000" b="1" dirty="0">
                <a:effectLst/>
                <a:latin typeface="Segoe UI Variable Text Semibold" pitchFamily="2" charset="0"/>
                <a:ea typeface="Calibri" panose="020F0502020204030204" pitchFamily="34" charset="0"/>
              </a:rPr>
              <a:t>ІТ </a:t>
            </a:r>
            <a:r>
              <a:rPr lang="ru-RU" sz="8000" b="1" dirty="0">
                <a:latin typeface="Segoe UI Variable Text Semibold" pitchFamily="2" charset="0"/>
                <a:ea typeface="Calibri" panose="020F0502020204030204" pitchFamily="34" charset="0"/>
              </a:rPr>
              <a:t>ПРОЄКТ?</a:t>
            </a:r>
            <a:endParaRPr lang="en-US" sz="8000" dirty="0"/>
          </a:p>
        </p:txBody>
      </p:sp>
    </p:spTree>
    <p:extLst>
      <p:ext uri="{BB962C8B-B14F-4D97-AF65-F5344CB8AC3E}">
        <p14:creationId xmlns:p14="http://schemas.microsoft.com/office/powerpoint/2010/main" val="513004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What is Project Explained in Less than 5 minutes » ProjectsMind.com">
            <a:extLst>
              <a:ext uri="{FF2B5EF4-FFF2-40B4-BE49-F238E27FC236}">
                <a16:creationId xmlns:a16="http://schemas.microsoft.com/office/drawing/2014/main" id="{020FC7B6-FCDE-411D-A4F0-C3C64A3DEA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690" y="1113481"/>
            <a:ext cx="6822989" cy="411479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EB0B3A6-F5AA-414A-8B10-5B23325790B9}"/>
              </a:ext>
            </a:extLst>
          </p:cNvPr>
          <p:cNvSpPr txBox="1"/>
          <p:nvPr/>
        </p:nvSpPr>
        <p:spPr>
          <a:xfrm>
            <a:off x="7218679" y="2016718"/>
            <a:ext cx="4699001" cy="3170099"/>
          </a:xfrm>
          <a:prstGeom prst="rect">
            <a:avLst/>
          </a:prstGeom>
          <a:noFill/>
        </p:spPr>
        <p:txBody>
          <a:bodyPr wrap="square">
            <a:spAutoFit/>
          </a:bodyPr>
          <a:lstStyle/>
          <a:p>
            <a:r>
              <a:rPr lang="uk-UA" sz="2000" b="1" dirty="0"/>
              <a:t>ІТ-проєкт</a:t>
            </a:r>
            <a:r>
              <a:rPr lang="uk-UA" sz="2000" dirty="0"/>
              <a:t> – це комплекс взаємопов’язаних завдань і заходів, спрямованих на створення, впровадження або модернізацію інформаційних систем, програмного забезпечення, апаратного забезпечення чи цифрових сервісів у визначені терміни, з використанням певних ресурсів та для досягнення конкретних цілей.</a:t>
            </a:r>
            <a:endParaRPr lang="en-US" sz="2000" dirty="0"/>
          </a:p>
        </p:txBody>
      </p:sp>
    </p:spTree>
    <p:extLst>
      <p:ext uri="{BB962C8B-B14F-4D97-AF65-F5344CB8AC3E}">
        <p14:creationId xmlns:p14="http://schemas.microsoft.com/office/powerpoint/2010/main" val="2342152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5A51DE85-CFE4-402A-B77F-75D1280B81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899920"/>
            <a:ext cx="6055360" cy="334264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85C3B0A-2A52-444A-A8B0-94D3D1EDDA07}"/>
              </a:ext>
            </a:extLst>
          </p:cNvPr>
          <p:cNvSpPr txBox="1"/>
          <p:nvPr/>
        </p:nvSpPr>
        <p:spPr>
          <a:xfrm>
            <a:off x="447040" y="349022"/>
            <a:ext cx="9174480" cy="1754326"/>
          </a:xfrm>
          <a:prstGeom prst="rect">
            <a:avLst/>
          </a:prstGeom>
          <a:noFill/>
        </p:spPr>
        <p:txBody>
          <a:bodyPr wrap="square">
            <a:spAutoFit/>
          </a:bodyPr>
          <a:lstStyle/>
          <a:p>
            <a:pPr algn="ctr" rtl="0">
              <a:spcBef>
                <a:spcPts val="0"/>
              </a:spcBef>
              <a:spcAft>
                <a:spcPts val="0"/>
              </a:spcAft>
            </a:pPr>
            <a:r>
              <a:rPr lang="uk-UA" sz="3600" b="1" i="0" u="none" strike="noStrike" dirty="0">
                <a:effectLst/>
                <a:latin typeface="Segoe UI Variable Text Semibold" pitchFamily="2" charset="0"/>
              </a:rPr>
              <a:t>СТАТИСТИКА УСПІШНОСТІ ІТ ПРОЄКТІВ</a:t>
            </a:r>
            <a:endParaRPr lang="uk-UA" sz="3600" b="0" dirty="0">
              <a:effectLst/>
              <a:latin typeface="Segoe UI Variable Text Semibold" pitchFamily="2" charset="0"/>
            </a:endParaRPr>
          </a:p>
          <a:p>
            <a:br>
              <a:rPr lang="uk-UA" sz="3600" dirty="0">
                <a:latin typeface="Segoe UI Variable Text Semibold" pitchFamily="2" charset="0"/>
              </a:rPr>
            </a:br>
            <a:endParaRPr lang="en-US" sz="3600" dirty="0">
              <a:latin typeface="Segoe UI Variable Text Semibold" pitchFamily="2" charset="0"/>
            </a:endParaRPr>
          </a:p>
        </p:txBody>
      </p:sp>
      <p:sp>
        <p:nvSpPr>
          <p:cNvPr id="9" name="TextBox 8">
            <a:extLst>
              <a:ext uri="{FF2B5EF4-FFF2-40B4-BE49-F238E27FC236}">
                <a16:creationId xmlns:a16="http://schemas.microsoft.com/office/drawing/2014/main" id="{98C5968F-1BD7-41D7-A7AE-546E9C57878E}"/>
              </a:ext>
            </a:extLst>
          </p:cNvPr>
          <p:cNvSpPr txBox="1"/>
          <p:nvPr/>
        </p:nvSpPr>
        <p:spPr>
          <a:xfrm>
            <a:off x="7233920" y="2570966"/>
            <a:ext cx="4450080" cy="2000548"/>
          </a:xfrm>
          <a:prstGeom prst="rect">
            <a:avLst/>
          </a:prstGeom>
          <a:noFill/>
        </p:spPr>
        <p:txBody>
          <a:bodyPr wrap="square">
            <a:spAutoFit/>
          </a:bodyPr>
          <a:lstStyle/>
          <a:p>
            <a:pPr rtl="0">
              <a:spcBef>
                <a:spcPts val="0"/>
              </a:spcBef>
              <a:spcAft>
                <a:spcPts val="0"/>
              </a:spcAft>
            </a:pPr>
            <a:r>
              <a:rPr lang="uk-UA" sz="2400" b="1" i="0" u="none" strike="noStrike" dirty="0">
                <a:solidFill>
                  <a:srgbClr val="4B2203"/>
                </a:solidFill>
                <a:effectLst/>
                <a:latin typeface="Corbel" panose="020B0503020204020204" pitchFamily="34" charset="0"/>
              </a:rPr>
              <a:t>Причини провалів ІТ проєктів</a:t>
            </a:r>
            <a:endParaRPr lang="uk-UA" sz="2400" b="1" dirty="0">
              <a:effectLst/>
            </a:endParaRPr>
          </a:p>
          <a:p>
            <a:pPr rtl="0" fontAlgn="base">
              <a:spcBef>
                <a:spcPts val="0"/>
              </a:spcBef>
              <a:spcAft>
                <a:spcPts val="0"/>
              </a:spcAft>
              <a:buFont typeface="Arial" panose="020B0604020202020204" pitchFamily="34" charset="0"/>
              <a:buChar char="•"/>
            </a:pPr>
            <a:r>
              <a:rPr lang="uk-UA" sz="2000" b="0" i="0" u="none" strike="noStrike" dirty="0">
                <a:solidFill>
                  <a:srgbClr val="000000"/>
                </a:solidFill>
                <a:effectLst/>
                <a:latin typeface="Corbel" panose="020B0503020204020204" pitchFamily="34" charset="0"/>
              </a:rPr>
              <a:t>нереалістичні часові рамки</a:t>
            </a:r>
            <a:endParaRPr lang="uk-UA" sz="2000" b="0" i="0" u="none" strike="noStrike" dirty="0">
              <a:solidFill>
                <a:srgbClr val="000000"/>
              </a:solidFill>
              <a:effectLst/>
              <a:latin typeface="Noto Sans Symbols"/>
            </a:endParaRPr>
          </a:p>
          <a:p>
            <a:pPr rtl="0" fontAlgn="base">
              <a:spcBef>
                <a:spcPts val="0"/>
              </a:spcBef>
              <a:spcAft>
                <a:spcPts val="0"/>
              </a:spcAft>
              <a:buFont typeface="Arial" panose="020B0604020202020204" pitchFamily="34" charset="0"/>
              <a:buChar char="•"/>
            </a:pPr>
            <a:r>
              <a:rPr lang="uk-UA" sz="2000" b="0" i="0" u="none" strike="noStrike" dirty="0">
                <a:solidFill>
                  <a:srgbClr val="000000"/>
                </a:solidFill>
                <a:effectLst/>
                <a:latin typeface="Corbel" panose="020B0503020204020204" pitchFamily="34" charset="0"/>
              </a:rPr>
              <a:t>недостатня кількість виконавців</a:t>
            </a:r>
            <a:endParaRPr lang="uk-UA" sz="2000" b="0" i="0" u="none" strike="noStrike" dirty="0">
              <a:solidFill>
                <a:srgbClr val="000000"/>
              </a:solidFill>
              <a:effectLst/>
              <a:latin typeface="Noto Sans Symbols"/>
            </a:endParaRPr>
          </a:p>
          <a:p>
            <a:pPr rtl="0" fontAlgn="base">
              <a:spcBef>
                <a:spcPts val="0"/>
              </a:spcBef>
              <a:spcAft>
                <a:spcPts val="0"/>
              </a:spcAft>
              <a:buFont typeface="Arial" panose="020B0604020202020204" pitchFamily="34" charset="0"/>
              <a:buChar char="•"/>
            </a:pPr>
            <a:r>
              <a:rPr lang="uk-UA" sz="2000" b="0" i="0" u="none" strike="noStrike" dirty="0">
                <a:solidFill>
                  <a:srgbClr val="000000"/>
                </a:solidFill>
                <a:effectLst/>
                <a:latin typeface="Corbel" panose="020B0503020204020204" pitchFamily="34" charset="0"/>
              </a:rPr>
              <a:t>розмиті межі проекту</a:t>
            </a:r>
            <a:endParaRPr lang="uk-UA" sz="2000" b="0" i="0" u="none" strike="noStrike" dirty="0">
              <a:solidFill>
                <a:srgbClr val="000000"/>
              </a:solidFill>
              <a:effectLst/>
              <a:latin typeface="Noto Sans Symbols"/>
            </a:endParaRPr>
          </a:p>
          <a:p>
            <a:pPr rtl="0" fontAlgn="base">
              <a:spcBef>
                <a:spcPts val="0"/>
              </a:spcBef>
              <a:spcAft>
                <a:spcPts val="0"/>
              </a:spcAft>
              <a:buFont typeface="Arial" panose="020B0604020202020204" pitchFamily="34" charset="0"/>
              <a:buChar char="•"/>
            </a:pPr>
            <a:r>
              <a:rPr lang="uk-UA" sz="2000" b="0" i="0" u="none" strike="noStrike" dirty="0">
                <a:solidFill>
                  <a:srgbClr val="000000"/>
                </a:solidFill>
                <a:effectLst/>
                <a:latin typeface="Corbel" panose="020B0503020204020204" pitchFamily="34" charset="0"/>
              </a:rPr>
              <a:t>недостатність коштів</a:t>
            </a:r>
            <a:endParaRPr lang="uk-UA" sz="2000" b="0" i="0" u="none" strike="noStrike" dirty="0">
              <a:solidFill>
                <a:srgbClr val="000000"/>
              </a:solidFill>
              <a:effectLst/>
              <a:latin typeface="Noto Sans Symbols"/>
            </a:endParaRPr>
          </a:p>
          <a:p>
            <a:pPr rtl="0" fontAlgn="base">
              <a:spcBef>
                <a:spcPts val="0"/>
              </a:spcBef>
              <a:spcAft>
                <a:spcPts val="0"/>
              </a:spcAft>
              <a:buFont typeface="Arial" panose="020B0604020202020204" pitchFamily="34" charset="0"/>
              <a:buChar char="•"/>
            </a:pPr>
            <a:r>
              <a:rPr lang="uk-UA" sz="2000" b="0" i="0" u="none" strike="noStrike" dirty="0">
                <a:solidFill>
                  <a:srgbClr val="000000"/>
                </a:solidFill>
                <a:effectLst/>
                <a:latin typeface="Corbel" panose="020B0503020204020204" pitchFamily="34" charset="0"/>
              </a:rPr>
              <a:t>брак кваліфікованих кадрів</a:t>
            </a:r>
            <a:endParaRPr lang="uk-UA" sz="2000" b="0" i="0" u="none" strike="noStrike" dirty="0">
              <a:solidFill>
                <a:srgbClr val="000000"/>
              </a:solidFill>
              <a:effectLst/>
              <a:latin typeface="Noto Sans Symbols"/>
            </a:endParaRPr>
          </a:p>
        </p:txBody>
      </p:sp>
    </p:spTree>
    <p:extLst>
      <p:ext uri="{BB962C8B-B14F-4D97-AF65-F5344CB8AC3E}">
        <p14:creationId xmlns:p14="http://schemas.microsoft.com/office/powerpoint/2010/main" val="2781529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9F48662F-DBDD-4EA2-8EA7-A1101AAF1155}"/>
              </a:ext>
            </a:extLst>
          </p:cNvPr>
          <p:cNvGraphicFramePr/>
          <p:nvPr>
            <p:extLst>
              <p:ext uri="{D42A27DB-BD31-4B8C-83A1-F6EECF244321}">
                <p14:modId xmlns:p14="http://schemas.microsoft.com/office/powerpoint/2010/main" val="429993938"/>
              </p:ext>
            </p:extLst>
          </p:nvPr>
        </p:nvGraphicFramePr>
        <p:xfrm>
          <a:off x="2462972" y="1168400"/>
          <a:ext cx="7818948" cy="52966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6A66A99D-97CF-4E25-BC5C-33D24FF42B18}"/>
              </a:ext>
            </a:extLst>
          </p:cNvPr>
          <p:cNvSpPr txBox="1"/>
          <p:nvPr/>
        </p:nvSpPr>
        <p:spPr>
          <a:xfrm>
            <a:off x="751840" y="366375"/>
            <a:ext cx="8178800" cy="1754326"/>
          </a:xfrm>
          <a:prstGeom prst="rect">
            <a:avLst/>
          </a:prstGeom>
          <a:noFill/>
        </p:spPr>
        <p:txBody>
          <a:bodyPr wrap="square">
            <a:spAutoFit/>
          </a:bodyPr>
          <a:lstStyle/>
          <a:p>
            <a:pPr rtl="0">
              <a:spcBef>
                <a:spcPts val="0"/>
              </a:spcBef>
              <a:spcAft>
                <a:spcPts val="0"/>
              </a:spcAft>
            </a:pPr>
            <a:r>
              <a:rPr lang="uk-UA" sz="3600" b="1" i="0" u="none" strike="noStrike" dirty="0">
                <a:effectLst/>
                <a:latin typeface="Segoe UI Variable Text Semibold" pitchFamily="2" charset="0"/>
              </a:rPr>
              <a:t>ТИПОВА СТРУКТУРА ІТ КОМАНДИ</a:t>
            </a:r>
            <a:endParaRPr lang="uk-UA" sz="3600" b="0" dirty="0">
              <a:effectLst/>
              <a:latin typeface="Segoe UI Variable Text Semibold" pitchFamily="2" charset="0"/>
            </a:endParaRPr>
          </a:p>
          <a:p>
            <a:br>
              <a:rPr lang="uk-UA" sz="3600" dirty="0">
                <a:latin typeface="Segoe UI Variable Text Semibold" pitchFamily="2" charset="0"/>
              </a:rPr>
            </a:br>
            <a:endParaRPr lang="en-US" sz="3600" dirty="0">
              <a:latin typeface="Segoe UI Variable Text Semibold" pitchFamily="2" charset="0"/>
            </a:endParaRPr>
          </a:p>
        </p:txBody>
      </p:sp>
    </p:spTree>
    <p:extLst>
      <p:ext uri="{BB962C8B-B14F-4D97-AF65-F5344CB8AC3E}">
        <p14:creationId xmlns:p14="http://schemas.microsoft.com/office/powerpoint/2010/main" val="74262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524B161-D30C-4523-983F-A04653FB4227}"/>
              </a:ext>
            </a:extLst>
          </p:cNvPr>
          <p:cNvSpPr txBox="1"/>
          <p:nvPr/>
        </p:nvSpPr>
        <p:spPr>
          <a:xfrm>
            <a:off x="751840" y="366375"/>
            <a:ext cx="8178800" cy="1754326"/>
          </a:xfrm>
          <a:prstGeom prst="rect">
            <a:avLst/>
          </a:prstGeom>
          <a:noFill/>
        </p:spPr>
        <p:txBody>
          <a:bodyPr wrap="square">
            <a:spAutoFit/>
          </a:bodyPr>
          <a:lstStyle/>
          <a:p>
            <a:pPr rtl="0">
              <a:spcBef>
                <a:spcPts val="0"/>
              </a:spcBef>
              <a:spcAft>
                <a:spcPts val="0"/>
              </a:spcAft>
            </a:pPr>
            <a:r>
              <a:rPr lang="uk-UA" sz="3600" b="1" i="0" u="none" strike="noStrike" dirty="0">
                <a:effectLst/>
                <a:latin typeface="Segoe UI Variable Text Semibold" pitchFamily="2" charset="0"/>
              </a:rPr>
              <a:t>КОМАНДА &amp; КОМАНДНА РОБОТА</a:t>
            </a:r>
            <a:endParaRPr lang="uk-UA" sz="3600" b="0" dirty="0">
              <a:effectLst/>
              <a:latin typeface="Segoe UI Variable Text Semibold" pitchFamily="2" charset="0"/>
            </a:endParaRPr>
          </a:p>
          <a:p>
            <a:br>
              <a:rPr lang="uk-UA" sz="3600" dirty="0">
                <a:latin typeface="Segoe UI Variable Text Semibold" pitchFamily="2" charset="0"/>
              </a:rPr>
            </a:br>
            <a:endParaRPr lang="en-US" sz="3600" dirty="0">
              <a:latin typeface="Segoe UI Variable Text Semibold" pitchFamily="2" charset="0"/>
            </a:endParaRPr>
          </a:p>
        </p:txBody>
      </p:sp>
      <p:sp>
        <p:nvSpPr>
          <p:cNvPr id="7" name="TextBox 6">
            <a:extLst>
              <a:ext uri="{FF2B5EF4-FFF2-40B4-BE49-F238E27FC236}">
                <a16:creationId xmlns:a16="http://schemas.microsoft.com/office/drawing/2014/main" id="{A249D844-EA21-4A3C-8CD9-71DA671E8909}"/>
              </a:ext>
            </a:extLst>
          </p:cNvPr>
          <p:cNvSpPr txBox="1"/>
          <p:nvPr/>
        </p:nvSpPr>
        <p:spPr>
          <a:xfrm>
            <a:off x="746764" y="2120701"/>
            <a:ext cx="5928356" cy="4226798"/>
          </a:xfrm>
          <a:prstGeom prst="rect">
            <a:avLst/>
          </a:prstGeom>
          <a:noFill/>
        </p:spPr>
        <p:txBody>
          <a:bodyPr wrap="square">
            <a:spAutoFit/>
          </a:bodyPr>
          <a:lstStyle/>
          <a:p>
            <a:pPr algn="just" rtl="0">
              <a:spcBef>
                <a:spcPts val="0"/>
              </a:spcBef>
              <a:spcAft>
                <a:spcPts val="0"/>
              </a:spcAft>
            </a:pPr>
            <a:r>
              <a:rPr lang="uk-UA" sz="1800" b="1" i="0" u="none" strike="noStrike" dirty="0">
                <a:effectLst/>
                <a:latin typeface="Open Sans" panose="020B0606030504020204" pitchFamily="34" charset="0"/>
              </a:rPr>
              <a:t>Команда</a:t>
            </a:r>
            <a:r>
              <a:rPr lang="uk-UA" sz="1800" b="0" i="0" u="none" strike="noStrike" dirty="0">
                <a:effectLst/>
                <a:latin typeface="Open Sans" panose="020B0606030504020204" pitchFamily="34" charset="0"/>
              </a:rPr>
              <a:t> — це невелика група (від 3 до 12 осіб), що мають яскраво виражену цільову спрямованість і інтенсивну взаємодію між членами групи.</a:t>
            </a:r>
            <a:endParaRPr lang="uk-UA" b="0" dirty="0">
              <a:effectLst/>
            </a:endParaRPr>
          </a:p>
          <a:p>
            <a:pPr algn="just" rtl="0">
              <a:spcBef>
                <a:spcPts val="1000"/>
              </a:spcBef>
              <a:spcAft>
                <a:spcPts val="0"/>
              </a:spcAft>
            </a:pPr>
            <a:r>
              <a:rPr lang="uk-UA" sz="1800" b="1" i="0" u="none" strike="noStrike" dirty="0">
                <a:effectLst/>
                <a:latin typeface="Open Sans" panose="020B0606030504020204" pitchFamily="34" charset="0"/>
              </a:rPr>
              <a:t>Командна робота </a:t>
            </a:r>
            <a:r>
              <a:rPr lang="uk-UA" sz="1800" b="0" i="0" u="none" strike="noStrike" dirty="0">
                <a:effectLst/>
                <a:latin typeface="Open Sans" panose="020B0606030504020204" pitchFamily="34" charset="0"/>
              </a:rPr>
              <a:t>— це ефективна і продуктивна практична діяльність команди. </a:t>
            </a:r>
            <a:endParaRPr lang="uk-UA" b="0" dirty="0">
              <a:effectLst/>
            </a:endParaRPr>
          </a:p>
          <a:p>
            <a:pPr algn="just" rtl="0">
              <a:spcBef>
                <a:spcPts val="1000"/>
              </a:spcBef>
              <a:spcAft>
                <a:spcPts val="0"/>
              </a:spcAft>
            </a:pPr>
            <a:r>
              <a:rPr lang="uk-UA" sz="1800" b="1" i="0" u="none" strike="noStrike" dirty="0">
                <a:effectLst/>
                <a:latin typeface="Open Sans" panose="020B0606030504020204" pitchFamily="34" charset="0"/>
              </a:rPr>
              <a:t>Ефективна команда</a:t>
            </a:r>
            <a:r>
              <a:rPr lang="uk-UA" sz="1800" b="0" i="0" u="none" strike="noStrike" dirty="0">
                <a:effectLst/>
                <a:latin typeface="Open Sans" panose="020B0606030504020204" pitchFamily="34" charset="0"/>
              </a:rPr>
              <a:t> – це однодумці, яких об'єднує спільна мета. Співробітники такої команди працюють злагоджено та ефективно, щоб якомога швидше досягти спільної мети.</a:t>
            </a:r>
            <a:endParaRPr lang="uk-UA" b="0" dirty="0">
              <a:effectLst/>
            </a:endParaRPr>
          </a:p>
          <a:p>
            <a:br>
              <a:rPr lang="uk-UA" b="0" dirty="0">
                <a:effectLst/>
              </a:rPr>
            </a:br>
            <a:br>
              <a:rPr lang="uk-UA" b="0" dirty="0">
                <a:effectLst/>
              </a:rPr>
            </a:br>
            <a:br>
              <a:rPr lang="uk-UA" b="0" dirty="0">
                <a:effectLst/>
              </a:rPr>
            </a:br>
            <a:endParaRPr lang="en-US" dirty="0"/>
          </a:p>
        </p:txBody>
      </p:sp>
      <p:pic>
        <p:nvPicPr>
          <p:cNvPr id="4098" name="Picture 2">
            <a:extLst>
              <a:ext uri="{FF2B5EF4-FFF2-40B4-BE49-F238E27FC236}">
                <a16:creationId xmlns:a16="http://schemas.microsoft.com/office/drawing/2014/main" id="{3C1EF059-F1AB-494E-9B23-F0E08C88CD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454100"/>
            <a:ext cx="5928356" cy="3949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1431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B1E18FF-B2F2-4AEF-B10F-FDACB561E615}"/>
              </a:ext>
            </a:extLst>
          </p:cNvPr>
          <p:cNvSpPr txBox="1"/>
          <p:nvPr/>
        </p:nvSpPr>
        <p:spPr>
          <a:xfrm>
            <a:off x="949959" y="446239"/>
            <a:ext cx="8849360" cy="646331"/>
          </a:xfrm>
          <a:prstGeom prst="rect">
            <a:avLst/>
          </a:prstGeom>
          <a:noFill/>
        </p:spPr>
        <p:txBody>
          <a:bodyPr wrap="square">
            <a:spAutoFit/>
          </a:bodyPr>
          <a:lstStyle/>
          <a:p>
            <a:pPr rtl="0">
              <a:spcBef>
                <a:spcPts val="0"/>
              </a:spcBef>
              <a:spcAft>
                <a:spcPts val="0"/>
              </a:spcAft>
            </a:pPr>
            <a:r>
              <a:rPr lang="uk-UA" sz="3600" b="1" i="0" u="none" strike="noStrike" dirty="0">
                <a:effectLst/>
                <a:latin typeface="Segoe UI Variable Text Semibold" pitchFamily="2" charset="0"/>
              </a:rPr>
              <a:t>ХАРАКТЕРНІ ОСОБЛИВОСТІ КОМАНДИ</a:t>
            </a:r>
            <a:endParaRPr lang="uk-UA" sz="3600" b="0" dirty="0">
              <a:effectLst/>
              <a:latin typeface="Segoe UI Variable Text Semibold" pitchFamily="2" charset="0"/>
            </a:endParaRPr>
          </a:p>
        </p:txBody>
      </p:sp>
      <p:sp>
        <p:nvSpPr>
          <p:cNvPr id="8" name="Text Placeholder 1">
            <a:extLst>
              <a:ext uri="{FF2B5EF4-FFF2-40B4-BE49-F238E27FC236}">
                <a16:creationId xmlns:a16="http://schemas.microsoft.com/office/drawing/2014/main" id="{EEE2FC52-DBE7-4C3E-AFDD-497110802AAA}"/>
              </a:ext>
            </a:extLst>
          </p:cNvPr>
          <p:cNvSpPr txBox="1">
            <a:spLocks/>
          </p:cNvSpPr>
          <p:nvPr/>
        </p:nvSpPr>
        <p:spPr>
          <a:xfrm>
            <a:off x="949959" y="1529080"/>
            <a:ext cx="1971676" cy="8098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uk-UA" sz="1600" b="1" dirty="0">
                <a:latin typeface="+mj-lt"/>
              </a:rPr>
              <a:t>КОМУНІКАЦІЯ</a:t>
            </a:r>
            <a:endParaRPr lang="en-US" sz="1600" b="1" dirty="0">
              <a:latin typeface="+mj-lt"/>
            </a:endParaRPr>
          </a:p>
        </p:txBody>
      </p:sp>
      <p:sp>
        <p:nvSpPr>
          <p:cNvPr id="9" name="Text Placeholder 3">
            <a:extLst>
              <a:ext uri="{FF2B5EF4-FFF2-40B4-BE49-F238E27FC236}">
                <a16:creationId xmlns:a16="http://schemas.microsoft.com/office/drawing/2014/main" id="{19D78BA3-3531-4FC4-9822-4879EBCB39B6}"/>
              </a:ext>
            </a:extLst>
          </p:cNvPr>
          <p:cNvSpPr txBox="1">
            <a:spLocks/>
          </p:cNvSpPr>
          <p:nvPr/>
        </p:nvSpPr>
        <p:spPr>
          <a:xfrm>
            <a:off x="3159759" y="1529080"/>
            <a:ext cx="2265948" cy="8098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uk-UA" sz="1600" b="1" dirty="0">
                <a:latin typeface="+mj-lt"/>
              </a:rPr>
              <a:t>ВІДПОВІДАЛЬНІСТЬ</a:t>
            </a:r>
            <a:endParaRPr lang="en-US" sz="1600" b="1" dirty="0">
              <a:latin typeface="+mj-lt"/>
            </a:endParaRPr>
          </a:p>
        </p:txBody>
      </p:sp>
      <p:sp>
        <p:nvSpPr>
          <p:cNvPr id="10" name="Text Placeholder 4">
            <a:extLst>
              <a:ext uri="{FF2B5EF4-FFF2-40B4-BE49-F238E27FC236}">
                <a16:creationId xmlns:a16="http://schemas.microsoft.com/office/drawing/2014/main" id="{0BE5B006-2BE5-471D-A486-8BA5900966DF}"/>
              </a:ext>
            </a:extLst>
          </p:cNvPr>
          <p:cNvSpPr txBox="1">
            <a:spLocks/>
          </p:cNvSpPr>
          <p:nvPr/>
        </p:nvSpPr>
        <p:spPr>
          <a:xfrm>
            <a:off x="6100980" y="1529079"/>
            <a:ext cx="1890712" cy="8098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uk-UA" sz="1600" b="1" dirty="0">
                <a:latin typeface="+mj-lt"/>
              </a:rPr>
              <a:t>АТМОСФЕРА</a:t>
            </a:r>
            <a:endParaRPr lang="en-US" sz="1600" b="1" dirty="0">
              <a:latin typeface="+mj-lt"/>
            </a:endParaRPr>
          </a:p>
        </p:txBody>
      </p:sp>
      <p:pic>
        <p:nvPicPr>
          <p:cNvPr id="11" name="Picture 2" descr="Общаться с изображением PNG | PNG Mart">
            <a:extLst>
              <a:ext uri="{FF2B5EF4-FFF2-40B4-BE49-F238E27FC236}">
                <a16:creationId xmlns:a16="http://schemas.microsoft.com/office/drawing/2014/main" id="{C75EE10E-49DB-4713-BA82-576A1F6FABE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38719" y="2433582"/>
            <a:ext cx="1143000" cy="1143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Social Responsibility – HPoblador Ventures Inc.">
            <a:extLst>
              <a:ext uri="{FF2B5EF4-FFF2-40B4-BE49-F238E27FC236}">
                <a16:creationId xmlns:a16="http://schemas.microsoft.com/office/drawing/2014/main" id="{0D753190-3045-4759-9D9C-35622C6CFC1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08149" y="2152385"/>
            <a:ext cx="1649830" cy="164983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0" descr="Motivation - Free hands and gestures icons">
            <a:extLst>
              <a:ext uri="{FF2B5EF4-FFF2-40B4-BE49-F238E27FC236}">
                <a16:creationId xmlns:a16="http://schemas.microsoft.com/office/drawing/2014/main" id="{3401F2ED-4594-46B7-9065-334F048E9783}"/>
              </a:ext>
            </a:extLst>
          </p:cNvPr>
          <p:cNvPicPr>
            <a:picLocks noChangeAspect="1" noChangeArrowheads="1"/>
          </p:cNvPicPr>
          <p:nvPr/>
        </p:nvPicPr>
        <p:blipFill>
          <a:blip r:embed="rId4" cstate="print">
            <a:lum bright="70000" contrast="-70000"/>
            <a:extLst>
              <a:ext uri="{BEBA8EAE-BF5A-486C-A8C5-ECC9F3942E4B}">
                <a14:imgProps xmlns:a14="http://schemas.microsoft.com/office/drawing/2010/main">
                  <a14:imgLayer r:embed="rId5">
                    <a14:imgEffect>
                      <a14:colorTemperature colorTemp="47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354894" y="2243875"/>
            <a:ext cx="1466850" cy="146685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30" descr="Expert team Icon - Download in Flat Style">
            <a:extLst>
              <a:ext uri="{FF2B5EF4-FFF2-40B4-BE49-F238E27FC236}">
                <a16:creationId xmlns:a16="http://schemas.microsoft.com/office/drawing/2014/main" id="{7050BD5F-4470-4C0A-A89D-FC3B65DBFF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84409" y="2022773"/>
            <a:ext cx="1795212" cy="1795212"/>
          </a:xfrm>
          <a:prstGeom prst="rect">
            <a:avLst/>
          </a:prstGeom>
          <a:noFill/>
          <a:extLst>
            <a:ext uri="{909E8E84-426E-40DD-AFC4-6F175D3DCCD1}">
              <a14:hiddenFill xmlns:a14="http://schemas.microsoft.com/office/drawing/2010/main">
                <a:solidFill>
                  <a:srgbClr val="FFFFFF"/>
                </a:solidFill>
              </a14:hiddenFill>
            </a:ext>
          </a:extLst>
        </p:spPr>
      </p:pic>
      <p:sp>
        <p:nvSpPr>
          <p:cNvPr id="15" name="Text Placeholder 7">
            <a:extLst>
              <a:ext uri="{FF2B5EF4-FFF2-40B4-BE49-F238E27FC236}">
                <a16:creationId xmlns:a16="http://schemas.microsoft.com/office/drawing/2014/main" id="{64BE6BEE-9908-4175-9173-9384933C6C71}"/>
              </a:ext>
            </a:extLst>
          </p:cNvPr>
          <p:cNvSpPr txBox="1">
            <a:spLocks/>
          </p:cNvSpPr>
          <p:nvPr/>
        </p:nvSpPr>
        <p:spPr>
          <a:xfrm>
            <a:off x="1106370" y="3995256"/>
            <a:ext cx="1981200" cy="22764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uk-UA" sz="1400" dirty="0"/>
              <a:t>Серед учасників команди налагоджена ефективна комунікація, при якій правильно і з мінімальними втратами передається інформація.</a:t>
            </a:r>
          </a:p>
        </p:txBody>
      </p:sp>
      <p:sp>
        <p:nvSpPr>
          <p:cNvPr id="16" name="Text Placeholder 8">
            <a:extLst>
              <a:ext uri="{FF2B5EF4-FFF2-40B4-BE49-F238E27FC236}">
                <a16:creationId xmlns:a16="http://schemas.microsoft.com/office/drawing/2014/main" id="{12D444F9-06F6-4980-B0EC-30BB13B83D22}"/>
              </a:ext>
            </a:extLst>
          </p:cNvPr>
          <p:cNvSpPr txBox="1">
            <a:spLocks/>
          </p:cNvSpPr>
          <p:nvPr/>
        </p:nvSpPr>
        <p:spPr>
          <a:xfrm>
            <a:off x="3405152" y="4020548"/>
            <a:ext cx="1981200" cy="22764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uk-UA" sz="1400" dirty="0"/>
              <a:t>Кожен учасник знає свою зону відповідальності. При цьому вся команда несе відповідальність за результат.</a:t>
            </a:r>
          </a:p>
        </p:txBody>
      </p:sp>
      <p:sp>
        <p:nvSpPr>
          <p:cNvPr id="17" name="Text Placeholder 9">
            <a:extLst>
              <a:ext uri="{FF2B5EF4-FFF2-40B4-BE49-F238E27FC236}">
                <a16:creationId xmlns:a16="http://schemas.microsoft.com/office/drawing/2014/main" id="{C9B281E9-C77D-441C-ADA8-3C6B929DB380}"/>
              </a:ext>
            </a:extLst>
          </p:cNvPr>
          <p:cNvSpPr txBox="1">
            <a:spLocks/>
          </p:cNvSpPr>
          <p:nvPr/>
        </p:nvSpPr>
        <p:spPr>
          <a:xfrm>
            <a:off x="5703935" y="3976202"/>
            <a:ext cx="1981200" cy="22764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uk-UA" sz="1400"/>
              <a:t>У команді панує атмосфера довіри, співпраці, бажання допомагати один одному. Без довірчої атмосфери в команді у працівників не буде бажання приходити на роботу і взаємодіяти з колегами.</a:t>
            </a:r>
          </a:p>
        </p:txBody>
      </p:sp>
      <p:sp>
        <p:nvSpPr>
          <p:cNvPr id="18" name="Text Placeholder 10">
            <a:extLst>
              <a:ext uri="{FF2B5EF4-FFF2-40B4-BE49-F238E27FC236}">
                <a16:creationId xmlns:a16="http://schemas.microsoft.com/office/drawing/2014/main" id="{9B31F63E-B703-4EBA-9EEB-997CEAB4A724}"/>
              </a:ext>
            </a:extLst>
          </p:cNvPr>
          <p:cNvSpPr txBox="1">
            <a:spLocks/>
          </p:cNvSpPr>
          <p:nvPr/>
        </p:nvSpPr>
        <p:spPr>
          <a:xfrm>
            <a:off x="8094209" y="3995255"/>
            <a:ext cx="1981200" cy="22764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uk-UA" sz="1400" dirty="0"/>
              <a:t>Учасники ефективної команди мають високий рівень мотивації. Вони усвідомлюють і поділяють командні цінності, цілі сприймаються як загальні.</a:t>
            </a:r>
          </a:p>
        </p:txBody>
      </p:sp>
      <p:sp>
        <p:nvSpPr>
          <p:cNvPr id="19" name="Text Placeholder 5">
            <a:extLst>
              <a:ext uri="{FF2B5EF4-FFF2-40B4-BE49-F238E27FC236}">
                <a16:creationId xmlns:a16="http://schemas.microsoft.com/office/drawing/2014/main" id="{1EC4397B-1B29-43FD-959F-2AF77334921B}"/>
              </a:ext>
            </a:extLst>
          </p:cNvPr>
          <p:cNvSpPr txBox="1">
            <a:spLocks/>
          </p:cNvSpPr>
          <p:nvPr/>
        </p:nvSpPr>
        <p:spPr>
          <a:xfrm>
            <a:off x="8288946" y="1529079"/>
            <a:ext cx="2177716" cy="8098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uk-UA" sz="1600" b="1" dirty="0">
                <a:latin typeface="+mj-lt"/>
              </a:rPr>
              <a:t>МОТИВАЦІЯ</a:t>
            </a:r>
            <a:endParaRPr lang="en-US" sz="1600" b="1" dirty="0">
              <a:latin typeface="+mj-lt"/>
            </a:endParaRPr>
          </a:p>
        </p:txBody>
      </p:sp>
    </p:spTree>
    <p:extLst>
      <p:ext uri="{BB962C8B-B14F-4D97-AF65-F5344CB8AC3E}">
        <p14:creationId xmlns:p14="http://schemas.microsoft.com/office/powerpoint/2010/main" val="3829976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168B63F6-C2E7-4F46-9204-2D071DA826F5}"/>
              </a:ext>
            </a:extLst>
          </p:cNvPr>
          <p:cNvSpPr>
            <a:spLocks noGrp="1"/>
          </p:cNvSpPr>
          <p:nvPr>
            <p:ph type="title"/>
          </p:nvPr>
        </p:nvSpPr>
        <p:spPr>
          <a:xfrm>
            <a:off x="838200" y="497039"/>
            <a:ext cx="5175504" cy="685800"/>
          </a:xfrm>
        </p:spPr>
        <p:txBody>
          <a:bodyPr>
            <a:normAutofit/>
          </a:bodyPr>
          <a:lstStyle/>
          <a:p>
            <a:r>
              <a:rPr lang="uk-UA" sz="3600" dirty="0">
                <a:latin typeface="Segoe UI Variable Text Semibold" pitchFamily="2" charset="0"/>
              </a:rPr>
              <a:t>ЩО ВРАХОВУВАТИ?</a:t>
            </a:r>
            <a:endParaRPr lang="en-US" sz="3600" dirty="0">
              <a:latin typeface="Segoe UI Variable Text Semibold" pitchFamily="2" charset="0"/>
            </a:endParaRPr>
          </a:p>
        </p:txBody>
      </p:sp>
      <p:sp>
        <p:nvSpPr>
          <p:cNvPr id="5" name="Місце для тексту 3">
            <a:extLst>
              <a:ext uri="{FF2B5EF4-FFF2-40B4-BE49-F238E27FC236}">
                <a16:creationId xmlns:a16="http://schemas.microsoft.com/office/drawing/2014/main" id="{2A980DA2-925C-4A23-8EB3-8194C1B8CF96}"/>
              </a:ext>
            </a:extLst>
          </p:cNvPr>
          <p:cNvSpPr txBox="1">
            <a:spLocks/>
          </p:cNvSpPr>
          <p:nvPr/>
        </p:nvSpPr>
        <p:spPr>
          <a:xfrm>
            <a:off x="6341362" y="1714500"/>
            <a:ext cx="5175504" cy="3429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l">
              <a:buFont typeface="Wingdings" panose="05000000000000000000" pitchFamily="2" charset="2"/>
              <a:buChar char="q"/>
            </a:pPr>
            <a:r>
              <a:rPr lang="uk-UA" sz="2400" b="1">
                <a:solidFill>
                  <a:schemeClr val="tx1"/>
                </a:solidFill>
              </a:rPr>
              <a:t>Етап розвитку команди</a:t>
            </a:r>
          </a:p>
          <a:p>
            <a:pPr marL="457200" indent="-457200" algn="l">
              <a:buFont typeface="Wingdings" panose="05000000000000000000" pitchFamily="2" charset="2"/>
              <a:buChar char="q"/>
            </a:pPr>
            <a:r>
              <a:rPr lang="uk-UA" sz="2400" b="1">
                <a:solidFill>
                  <a:schemeClr val="tx1"/>
                </a:solidFill>
              </a:rPr>
              <a:t>Поведінковий тип кожного</a:t>
            </a:r>
          </a:p>
          <a:p>
            <a:pPr marL="457200" indent="-457200" algn="l">
              <a:buFont typeface="Wingdings" panose="05000000000000000000" pitchFamily="2" charset="2"/>
              <a:buChar char="q"/>
            </a:pPr>
            <a:r>
              <a:rPr lang="uk-UA" sz="2400" b="1">
                <a:solidFill>
                  <a:schemeClr val="tx1"/>
                </a:solidFill>
              </a:rPr>
              <a:t>Командну роль кожного</a:t>
            </a:r>
          </a:p>
          <a:p>
            <a:pPr marL="457200" indent="-457200" algn="l">
              <a:buFont typeface="Wingdings" panose="05000000000000000000" pitchFamily="2" charset="2"/>
              <a:buChar char="q"/>
            </a:pPr>
            <a:r>
              <a:rPr lang="uk-UA" sz="2400" b="1">
                <a:solidFill>
                  <a:schemeClr val="tx1"/>
                </a:solidFill>
              </a:rPr>
              <a:t>Тип соціального ліфта кожного</a:t>
            </a:r>
            <a:endParaRPr lang="uk-UA" sz="2400" dirty="0">
              <a:solidFill>
                <a:schemeClr val="tx1"/>
              </a:solidFill>
            </a:endParaRPr>
          </a:p>
        </p:txBody>
      </p:sp>
      <p:pic>
        <p:nvPicPr>
          <p:cNvPr id="6" name="Picture 6" descr="Business Meeting Profit Loss Discussion in Office | Stock vector | Colourbox">
            <a:extLst>
              <a:ext uri="{FF2B5EF4-FFF2-40B4-BE49-F238E27FC236}">
                <a16:creationId xmlns:a16="http://schemas.microsoft.com/office/drawing/2014/main" id="{CB1986C5-2002-4C4A-AC29-99B63D24F2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499" y="1443789"/>
            <a:ext cx="5860799" cy="3970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2590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49909E0F-EE06-47E2-ACCC-CC89F180BCB0}"/>
              </a:ext>
            </a:extLst>
          </p:cNvPr>
          <p:cNvSpPr>
            <a:spLocks noGrp="1"/>
          </p:cNvSpPr>
          <p:nvPr>
            <p:ph type="title"/>
          </p:nvPr>
        </p:nvSpPr>
        <p:spPr>
          <a:xfrm>
            <a:off x="685800" y="342900"/>
            <a:ext cx="10820400" cy="685800"/>
          </a:xfrm>
        </p:spPr>
        <p:txBody>
          <a:bodyPr>
            <a:normAutofit/>
          </a:bodyPr>
          <a:lstStyle/>
          <a:p>
            <a:r>
              <a:rPr lang="uk-UA" sz="3600" dirty="0">
                <a:latin typeface="Segoe UI Variable Text Semibold" pitchFamily="2" charset="0"/>
              </a:rPr>
              <a:t>ЕТАПИ РОЗВИТКУ КОМАНДИ</a:t>
            </a:r>
            <a:endParaRPr lang="en-US" sz="3600" dirty="0">
              <a:latin typeface="Segoe UI Variable Text Semibold" pitchFamily="2" charset="0"/>
            </a:endParaRPr>
          </a:p>
        </p:txBody>
      </p:sp>
      <p:pic>
        <p:nvPicPr>
          <p:cNvPr id="5" name="Рисунок 7">
            <a:extLst>
              <a:ext uri="{FF2B5EF4-FFF2-40B4-BE49-F238E27FC236}">
                <a16:creationId xmlns:a16="http://schemas.microsoft.com/office/drawing/2014/main" id="{B04C67B9-8D04-4905-9F57-4D6BE93341C6}"/>
              </a:ext>
            </a:extLst>
          </p:cNvPr>
          <p:cNvPicPr>
            <a:picLocks noChangeAspect="1"/>
          </p:cNvPicPr>
          <p:nvPr/>
        </p:nvPicPr>
        <p:blipFill>
          <a:blip r:embed="rId2"/>
          <a:stretch>
            <a:fillRect/>
          </a:stretch>
        </p:blipFill>
        <p:spPr>
          <a:xfrm>
            <a:off x="555458" y="1028700"/>
            <a:ext cx="11081084" cy="5576637"/>
          </a:xfrm>
          <a:prstGeom prst="rect">
            <a:avLst/>
          </a:prstGeom>
        </p:spPr>
      </p:pic>
    </p:spTree>
    <p:extLst>
      <p:ext uri="{BB962C8B-B14F-4D97-AF65-F5344CB8AC3E}">
        <p14:creationId xmlns:p14="http://schemas.microsoft.com/office/powerpoint/2010/main" val="1773055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92F7FCB0-9298-4753-BB16-4FAB63A0993C}"/>
              </a:ext>
            </a:extLst>
          </p:cNvPr>
          <p:cNvSpPr>
            <a:spLocks noGrp="1"/>
          </p:cNvSpPr>
          <p:nvPr>
            <p:ph type="title"/>
          </p:nvPr>
        </p:nvSpPr>
        <p:spPr>
          <a:xfrm>
            <a:off x="685800" y="533401"/>
            <a:ext cx="10820400" cy="685800"/>
          </a:xfrm>
        </p:spPr>
        <p:txBody>
          <a:bodyPr>
            <a:normAutofit/>
          </a:bodyPr>
          <a:lstStyle/>
          <a:p>
            <a:r>
              <a:rPr lang="uk-UA" sz="3600" dirty="0">
                <a:latin typeface="Segoe UI Variable Text Semibold" pitchFamily="2" charset="0"/>
              </a:rPr>
              <a:t>ХТО ВИ В КОМАНДІ?</a:t>
            </a:r>
            <a:endParaRPr lang="en-US" sz="3600" dirty="0">
              <a:latin typeface="Segoe UI Variable Text Semibold" pitchFamily="2" charset="0"/>
            </a:endParaRPr>
          </a:p>
        </p:txBody>
      </p:sp>
      <p:sp>
        <p:nvSpPr>
          <p:cNvPr id="5" name="Місце для тексту 2">
            <a:extLst>
              <a:ext uri="{FF2B5EF4-FFF2-40B4-BE49-F238E27FC236}">
                <a16:creationId xmlns:a16="http://schemas.microsoft.com/office/drawing/2014/main" id="{087255FC-7F2A-483D-94C7-DE25359B973B}"/>
              </a:ext>
            </a:extLst>
          </p:cNvPr>
          <p:cNvSpPr txBox="1">
            <a:spLocks/>
          </p:cNvSpPr>
          <p:nvPr/>
        </p:nvSpPr>
        <p:spPr>
          <a:xfrm>
            <a:off x="685800" y="2057400"/>
            <a:ext cx="5174998" cy="34290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uk-UA" sz="2200" b="1" dirty="0">
                <a:solidFill>
                  <a:schemeClr val="tx1"/>
                </a:solidFill>
              </a:rPr>
              <a:t>Тест Белбіна </a:t>
            </a:r>
            <a:r>
              <a:rPr lang="uk-UA" sz="2200" dirty="0">
                <a:solidFill>
                  <a:schemeClr val="tx1"/>
                </a:solidFill>
              </a:rPr>
              <a:t>допомагає визначити роль члена в команді, вказує на типові характеристики особистості, допустимі недоліки. Белбін переконаний, що кожен з нас на роботі відіграє одну з восьми ролей. І лише наявність усіх ролей у команді гарантує її успіх.</a:t>
            </a:r>
          </a:p>
        </p:txBody>
      </p:sp>
      <p:sp>
        <p:nvSpPr>
          <p:cNvPr id="6" name="Місце для тексту 3">
            <a:extLst>
              <a:ext uri="{FF2B5EF4-FFF2-40B4-BE49-F238E27FC236}">
                <a16:creationId xmlns:a16="http://schemas.microsoft.com/office/drawing/2014/main" id="{61A57AC5-8A9B-47D4-A735-817945D884C8}"/>
              </a:ext>
            </a:extLst>
          </p:cNvPr>
          <p:cNvSpPr txBox="1">
            <a:spLocks/>
          </p:cNvSpPr>
          <p:nvPr/>
        </p:nvSpPr>
        <p:spPr>
          <a:xfrm>
            <a:off x="7477760" y="2057400"/>
            <a:ext cx="4028440" cy="3429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buFont typeface="Wingdings" panose="05000000000000000000" pitchFamily="2" charset="2"/>
              <a:buChar char="q"/>
            </a:pPr>
            <a:r>
              <a:rPr lang="uk-UA" sz="1800" dirty="0">
                <a:solidFill>
                  <a:schemeClr val="tx1"/>
                </a:solidFill>
              </a:rPr>
              <a:t>РЕАЛІЗАТОР</a:t>
            </a:r>
          </a:p>
          <a:p>
            <a:pPr marL="342900" indent="-342900" algn="l">
              <a:buFont typeface="Wingdings" panose="05000000000000000000" pitchFamily="2" charset="2"/>
              <a:buChar char="q"/>
            </a:pPr>
            <a:r>
              <a:rPr lang="uk-UA" sz="1800" dirty="0">
                <a:solidFill>
                  <a:schemeClr val="tx1"/>
                </a:solidFill>
              </a:rPr>
              <a:t>КООРДИНАТОР</a:t>
            </a:r>
          </a:p>
          <a:p>
            <a:pPr marL="342900" indent="-342900" algn="l">
              <a:buFont typeface="Wingdings" panose="05000000000000000000" pitchFamily="2" charset="2"/>
              <a:buChar char="q"/>
            </a:pPr>
            <a:r>
              <a:rPr lang="uk-UA" sz="1800" dirty="0">
                <a:solidFill>
                  <a:schemeClr val="tx1"/>
                </a:solidFill>
              </a:rPr>
              <a:t>ТВОРЕЦЬ</a:t>
            </a:r>
          </a:p>
          <a:p>
            <a:pPr marL="342900" indent="-342900" algn="l">
              <a:buFont typeface="Wingdings" panose="05000000000000000000" pitchFamily="2" charset="2"/>
              <a:buChar char="q"/>
            </a:pPr>
            <a:r>
              <a:rPr lang="uk-UA" sz="1800" dirty="0">
                <a:solidFill>
                  <a:schemeClr val="tx1"/>
                </a:solidFill>
              </a:rPr>
              <a:t>ГЕНЕРАТОР ІДЕЙ</a:t>
            </a:r>
          </a:p>
          <a:p>
            <a:pPr marL="342900" indent="-342900" algn="l">
              <a:buFont typeface="Wingdings" panose="05000000000000000000" pitchFamily="2" charset="2"/>
              <a:buChar char="q"/>
            </a:pPr>
            <a:r>
              <a:rPr lang="uk-UA" sz="1800" dirty="0">
                <a:solidFill>
                  <a:schemeClr val="tx1"/>
                </a:solidFill>
              </a:rPr>
              <a:t>ДОСЛІДНИК</a:t>
            </a:r>
          </a:p>
          <a:p>
            <a:pPr marL="342900" indent="-342900" algn="l">
              <a:buFont typeface="Wingdings" panose="05000000000000000000" pitchFamily="2" charset="2"/>
              <a:buChar char="q"/>
            </a:pPr>
            <a:r>
              <a:rPr lang="uk-UA" sz="1800" dirty="0">
                <a:solidFill>
                  <a:schemeClr val="tx1"/>
                </a:solidFill>
              </a:rPr>
              <a:t>ЕКСПЕРТ</a:t>
            </a:r>
          </a:p>
          <a:p>
            <a:pPr marL="342900" indent="-342900" algn="l">
              <a:buFont typeface="Wingdings" panose="05000000000000000000" pitchFamily="2" charset="2"/>
              <a:buChar char="q"/>
            </a:pPr>
            <a:r>
              <a:rPr lang="uk-UA" sz="1800" dirty="0">
                <a:solidFill>
                  <a:schemeClr val="tx1"/>
                </a:solidFill>
              </a:rPr>
              <a:t>ДИПЛОМАТ</a:t>
            </a:r>
          </a:p>
          <a:p>
            <a:pPr marL="342900" indent="-342900" algn="l">
              <a:buFont typeface="Wingdings" panose="05000000000000000000" pitchFamily="2" charset="2"/>
              <a:buChar char="q"/>
            </a:pPr>
            <a:r>
              <a:rPr lang="uk-UA" sz="1800" dirty="0">
                <a:solidFill>
                  <a:schemeClr val="tx1"/>
                </a:solidFill>
              </a:rPr>
              <a:t>ФАХІВЕЦЬ</a:t>
            </a:r>
          </a:p>
          <a:p>
            <a:pPr marL="171450" indent="-171450" algn="l">
              <a:buFont typeface="Arial" panose="020B0604020202020204" pitchFamily="34" charset="0"/>
              <a:buChar char="•"/>
            </a:pPr>
            <a:endParaRPr lang="en-US" sz="1800" dirty="0">
              <a:solidFill>
                <a:schemeClr val="tx1"/>
              </a:solidFill>
            </a:endParaRPr>
          </a:p>
        </p:txBody>
      </p:sp>
    </p:spTree>
    <p:extLst>
      <p:ext uri="{BB962C8B-B14F-4D97-AF65-F5344CB8AC3E}">
        <p14:creationId xmlns:p14="http://schemas.microsoft.com/office/powerpoint/2010/main" val="4053348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4" descr="Meet The Team">
            <a:extLst>
              <a:ext uri="{FF2B5EF4-FFF2-40B4-BE49-F238E27FC236}">
                <a16:creationId xmlns:a16="http://schemas.microsoft.com/office/drawing/2014/main" id="{B51CA39B-F799-4388-B4B8-3EBFF578C4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175" y="0"/>
            <a:ext cx="10660063"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A2008750-235B-4036-935E-15DED9CDE687}"/>
              </a:ext>
            </a:extLst>
          </p:cNvPr>
          <p:cNvSpPr>
            <a:spLocks noGrp="1"/>
          </p:cNvSpPr>
          <p:nvPr>
            <p:ph type="title"/>
          </p:nvPr>
        </p:nvSpPr>
        <p:spPr>
          <a:xfrm>
            <a:off x="685799" y="445168"/>
            <a:ext cx="10820400" cy="685800"/>
          </a:xfrm>
        </p:spPr>
        <p:txBody>
          <a:bodyPr>
            <a:normAutofit/>
          </a:bodyPr>
          <a:lstStyle/>
          <a:p>
            <a:r>
              <a:rPr lang="ru-RU" sz="3600" dirty="0">
                <a:latin typeface="Segoe UI Variable Text Semibold" pitchFamily="2" charset="0"/>
              </a:rPr>
              <a:t>РОЛЬ </a:t>
            </a:r>
            <a:r>
              <a:rPr lang="uk-UA" sz="3600" dirty="0">
                <a:latin typeface="Segoe UI Variable Text Semibold" pitchFamily="2" charset="0"/>
              </a:rPr>
              <a:t>ЛІДЕРА</a:t>
            </a:r>
          </a:p>
        </p:txBody>
      </p:sp>
      <p:sp>
        <p:nvSpPr>
          <p:cNvPr id="6" name="Text Placeholder 1">
            <a:extLst>
              <a:ext uri="{FF2B5EF4-FFF2-40B4-BE49-F238E27FC236}">
                <a16:creationId xmlns:a16="http://schemas.microsoft.com/office/drawing/2014/main" id="{6CB1C13E-B53D-443F-9208-CB24501DC34D}"/>
              </a:ext>
            </a:extLst>
          </p:cNvPr>
          <p:cNvSpPr txBox="1">
            <a:spLocks/>
          </p:cNvSpPr>
          <p:nvPr/>
        </p:nvSpPr>
        <p:spPr>
          <a:xfrm>
            <a:off x="685799" y="2057400"/>
            <a:ext cx="1971676" cy="8098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uk-UA" sz="2000" dirty="0">
                <a:latin typeface="+mj-lt"/>
              </a:rPr>
              <a:t>ЦІЛЬ</a:t>
            </a:r>
            <a:endParaRPr lang="en-US" sz="2000" dirty="0">
              <a:latin typeface="+mj-lt"/>
            </a:endParaRPr>
          </a:p>
        </p:txBody>
      </p:sp>
      <p:sp>
        <p:nvSpPr>
          <p:cNvPr id="7" name="Text Placeholder 3">
            <a:extLst>
              <a:ext uri="{FF2B5EF4-FFF2-40B4-BE49-F238E27FC236}">
                <a16:creationId xmlns:a16="http://schemas.microsoft.com/office/drawing/2014/main" id="{9196BE30-2E04-4FF6-9183-9951F244DF7A}"/>
              </a:ext>
            </a:extLst>
          </p:cNvPr>
          <p:cNvSpPr txBox="1">
            <a:spLocks/>
          </p:cNvSpPr>
          <p:nvPr/>
        </p:nvSpPr>
        <p:spPr>
          <a:xfrm>
            <a:off x="2895599" y="2057400"/>
            <a:ext cx="2265948" cy="8098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uk-UA" sz="2000" dirty="0">
                <a:latin typeface="+mj-lt"/>
              </a:rPr>
              <a:t>ВІДНОШЕННЯ</a:t>
            </a:r>
            <a:endParaRPr lang="en-US" sz="2000" dirty="0">
              <a:latin typeface="+mj-lt"/>
            </a:endParaRPr>
          </a:p>
        </p:txBody>
      </p:sp>
      <p:sp>
        <p:nvSpPr>
          <p:cNvPr id="8" name="Text Placeholder 4">
            <a:extLst>
              <a:ext uri="{FF2B5EF4-FFF2-40B4-BE49-F238E27FC236}">
                <a16:creationId xmlns:a16="http://schemas.microsoft.com/office/drawing/2014/main" id="{7DA20D88-C1DF-4712-B548-254519F2CF3B}"/>
              </a:ext>
            </a:extLst>
          </p:cNvPr>
          <p:cNvSpPr txBox="1">
            <a:spLocks/>
          </p:cNvSpPr>
          <p:nvPr/>
        </p:nvSpPr>
        <p:spPr>
          <a:xfrm>
            <a:off x="5836820" y="2057399"/>
            <a:ext cx="1890712" cy="8098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uk-UA" sz="2000" dirty="0">
                <a:latin typeface="+mj-lt"/>
              </a:rPr>
              <a:t>ТЕХНОЛОГІЇ</a:t>
            </a:r>
            <a:endParaRPr lang="en-US" sz="2000" dirty="0">
              <a:latin typeface="+mj-lt"/>
            </a:endParaRPr>
          </a:p>
        </p:txBody>
      </p:sp>
      <p:sp>
        <p:nvSpPr>
          <p:cNvPr id="9" name="Text Placeholder 5">
            <a:extLst>
              <a:ext uri="{FF2B5EF4-FFF2-40B4-BE49-F238E27FC236}">
                <a16:creationId xmlns:a16="http://schemas.microsoft.com/office/drawing/2014/main" id="{9E70101A-CDF6-491D-99DF-F98A0C618645}"/>
              </a:ext>
            </a:extLst>
          </p:cNvPr>
          <p:cNvSpPr txBox="1">
            <a:spLocks/>
          </p:cNvSpPr>
          <p:nvPr/>
        </p:nvSpPr>
        <p:spPr>
          <a:xfrm>
            <a:off x="9134325" y="2057399"/>
            <a:ext cx="2177716" cy="8098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uk-UA" sz="2000" dirty="0">
                <a:latin typeface="+mj-lt"/>
              </a:rPr>
              <a:t>СКЛАД РОЛІ</a:t>
            </a:r>
            <a:endParaRPr lang="en-US" sz="2000" dirty="0">
              <a:latin typeface="+mj-lt"/>
            </a:endParaRPr>
          </a:p>
        </p:txBody>
      </p:sp>
      <p:sp>
        <p:nvSpPr>
          <p:cNvPr id="10" name="Text Placeholder 7">
            <a:extLst>
              <a:ext uri="{FF2B5EF4-FFF2-40B4-BE49-F238E27FC236}">
                <a16:creationId xmlns:a16="http://schemas.microsoft.com/office/drawing/2014/main" id="{2E5623AF-001D-46F4-9958-7610DB57EDE8}"/>
              </a:ext>
            </a:extLst>
          </p:cNvPr>
          <p:cNvSpPr txBox="1">
            <a:spLocks/>
          </p:cNvSpPr>
          <p:nvPr/>
        </p:nvSpPr>
        <p:spPr>
          <a:xfrm>
            <a:off x="2895599" y="2947737"/>
            <a:ext cx="1981200" cy="22764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uk-UA" sz="1400" dirty="0"/>
              <a:t>Клімат</a:t>
            </a:r>
          </a:p>
          <a:p>
            <a:pPr marL="0" indent="0" fontAlgn="auto">
              <a:spcAft>
                <a:spcPts val="0"/>
              </a:spcAft>
              <a:buNone/>
            </a:pPr>
            <a:r>
              <a:rPr lang="uk-UA" sz="1400" dirty="0"/>
              <a:t>Командних дух</a:t>
            </a:r>
          </a:p>
        </p:txBody>
      </p:sp>
      <p:sp>
        <p:nvSpPr>
          <p:cNvPr id="11" name="Text Placeholder 7">
            <a:extLst>
              <a:ext uri="{FF2B5EF4-FFF2-40B4-BE49-F238E27FC236}">
                <a16:creationId xmlns:a16="http://schemas.microsoft.com/office/drawing/2014/main" id="{A1F80304-C66F-4AD1-B29A-66951BF1EAC7}"/>
              </a:ext>
            </a:extLst>
          </p:cNvPr>
          <p:cNvSpPr txBox="1">
            <a:spLocks/>
          </p:cNvSpPr>
          <p:nvPr/>
        </p:nvSpPr>
        <p:spPr>
          <a:xfrm>
            <a:off x="5836820" y="2947736"/>
            <a:ext cx="1981200" cy="22764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uk-UA" sz="1400" dirty="0"/>
              <a:t>Опис процесів</a:t>
            </a:r>
          </a:p>
          <a:p>
            <a:pPr marL="0" indent="0" fontAlgn="auto">
              <a:spcAft>
                <a:spcPts val="0"/>
              </a:spcAft>
              <a:buNone/>
            </a:pPr>
            <a:r>
              <a:rPr lang="uk-UA" sz="1400" dirty="0"/>
              <a:t>Правила комунікації</a:t>
            </a:r>
          </a:p>
          <a:p>
            <a:pPr marL="0" indent="0" fontAlgn="auto">
              <a:spcAft>
                <a:spcPts val="0"/>
              </a:spcAft>
              <a:buNone/>
            </a:pPr>
            <a:r>
              <a:rPr lang="uk-UA" sz="1400" dirty="0"/>
              <a:t>Розподіл відповідальності</a:t>
            </a:r>
          </a:p>
        </p:txBody>
      </p:sp>
      <p:sp>
        <p:nvSpPr>
          <p:cNvPr id="12" name="Text Placeholder 7">
            <a:extLst>
              <a:ext uri="{FF2B5EF4-FFF2-40B4-BE49-F238E27FC236}">
                <a16:creationId xmlns:a16="http://schemas.microsoft.com/office/drawing/2014/main" id="{79322C17-ED49-4F6E-96B3-003612CAEFD7}"/>
              </a:ext>
            </a:extLst>
          </p:cNvPr>
          <p:cNvSpPr txBox="1">
            <a:spLocks/>
          </p:cNvSpPr>
          <p:nvPr/>
        </p:nvSpPr>
        <p:spPr>
          <a:xfrm>
            <a:off x="9134325" y="2947736"/>
            <a:ext cx="1981200" cy="22764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uk-UA" sz="1400" dirty="0"/>
              <a:t>Компетенції</a:t>
            </a:r>
          </a:p>
          <a:p>
            <a:pPr marL="0" indent="0" fontAlgn="auto">
              <a:spcAft>
                <a:spcPts val="0"/>
              </a:spcAft>
              <a:buNone/>
            </a:pPr>
            <a:r>
              <a:rPr lang="uk-UA" sz="1400" dirty="0"/>
              <a:t>Результативність</a:t>
            </a:r>
          </a:p>
        </p:txBody>
      </p:sp>
      <p:sp>
        <p:nvSpPr>
          <p:cNvPr id="13" name="Text Placeholder 7">
            <a:extLst>
              <a:ext uri="{FF2B5EF4-FFF2-40B4-BE49-F238E27FC236}">
                <a16:creationId xmlns:a16="http://schemas.microsoft.com/office/drawing/2014/main" id="{A10C91BC-0042-43DA-BCB3-EE7FD2733F57}"/>
              </a:ext>
            </a:extLst>
          </p:cNvPr>
          <p:cNvSpPr txBox="1">
            <a:spLocks/>
          </p:cNvSpPr>
          <p:nvPr/>
        </p:nvSpPr>
        <p:spPr>
          <a:xfrm>
            <a:off x="676275" y="2867296"/>
            <a:ext cx="1981200" cy="22764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uk-UA" sz="1400" dirty="0"/>
              <a:t>Розуміння</a:t>
            </a:r>
          </a:p>
          <a:p>
            <a:pPr marL="0" indent="0" fontAlgn="auto">
              <a:spcAft>
                <a:spcPts val="0"/>
              </a:spcAft>
              <a:buNone/>
            </a:pPr>
            <a:r>
              <a:rPr lang="uk-UA" sz="1400" dirty="0"/>
              <a:t>Прийняття</a:t>
            </a:r>
          </a:p>
          <a:p>
            <a:pPr marL="0" indent="0" fontAlgn="auto">
              <a:spcAft>
                <a:spcPts val="0"/>
              </a:spcAft>
              <a:buNone/>
            </a:pPr>
            <a:r>
              <a:rPr lang="uk-UA" sz="1400" dirty="0"/>
              <a:t>Витрачання себе для досягнення цілей</a:t>
            </a:r>
          </a:p>
        </p:txBody>
      </p:sp>
    </p:spTree>
    <p:extLst>
      <p:ext uri="{BB962C8B-B14F-4D97-AF65-F5344CB8AC3E}">
        <p14:creationId xmlns:p14="http://schemas.microsoft.com/office/powerpoint/2010/main" val="2391615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C73B8D26-1550-4D66-87A9-D9FCF43720F7}"/>
              </a:ext>
            </a:extLst>
          </p:cNvPr>
          <p:cNvSpPr>
            <a:spLocks noGrp="1"/>
          </p:cNvSpPr>
          <p:nvPr>
            <p:ph type="title"/>
          </p:nvPr>
        </p:nvSpPr>
        <p:spPr>
          <a:xfrm>
            <a:off x="685800" y="252424"/>
            <a:ext cx="10820400" cy="685800"/>
          </a:xfrm>
        </p:spPr>
        <p:txBody>
          <a:bodyPr>
            <a:normAutofit/>
          </a:bodyPr>
          <a:lstStyle/>
          <a:p>
            <a:r>
              <a:rPr lang="uk-UA" sz="3600" dirty="0">
                <a:latin typeface="Segoe UI Variable Text Semibold" pitchFamily="2" charset="0"/>
              </a:rPr>
              <a:t>РОЛІ В ІТ ПРОЕКТІ</a:t>
            </a:r>
            <a:endParaRPr lang="en-US" sz="3600" dirty="0">
              <a:latin typeface="Segoe UI Variable Text Semibold" pitchFamily="2" charset="0"/>
            </a:endParaRPr>
          </a:p>
        </p:txBody>
      </p:sp>
      <p:pic>
        <p:nvPicPr>
          <p:cNvPr id="5" name="Picture 2">
            <a:extLst>
              <a:ext uri="{FF2B5EF4-FFF2-40B4-BE49-F238E27FC236}">
                <a16:creationId xmlns:a16="http://schemas.microsoft.com/office/drawing/2014/main" id="{D3C4D7CD-0DD5-46F8-B86C-487C6585D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140383"/>
            <a:ext cx="11430000" cy="5465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39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7DF496A8-0507-4373-A7AB-5E70A37A6B4C}"/>
              </a:ext>
            </a:extLst>
          </p:cNvPr>
          <p:cNvSpPr>
            <a:spLocks noGrp="1"/>
          </p:cNvSpPr>
          <p:nvPr>
            <p:ph type="title"/>
          </p:nvPr>
        </p:nvSpPr>
        <p:spPr>
          <a:xfrm>
            <a:off x="685800" y="685801"/>
            <a:ext cx="10820400" cy="685800"/>
          </a:xfrm>
        </p:spPr>
        <p:txBody>
          <a:bodyPr>
            <a:normAutofit fontScale="90000"/>
          </a:bodyPr>
          <a:lstStyle/>
          <a:p>
            <a:r>
              <a:rPr lang="en-US" dirty="0">
                <a:latin typeface="Segoe UI Variable Text Semibold" pitchFamily="2" charset="0"/>
              </a:rPr>
              <a:t>PROJECT&amp;PRODUCT MANAGER</a:t>
            </a:r>
          </a:p>
        </p:txBody>
      </p:sp>
      <p:sp>
        <p:nvSpPr>
          <p:cNvPr id="5" name="Місце для тексту 2">
            <a:extLst>
              <a:ext uri="{FF2B5EF4-FFF2-40B4-BE49-F238E27FC236}">
                <a16:creationId xmlns:a16="http://schemas.microsoft.com/office/drawing/2014/main" id="{5782C4EF-7EBC-4C59-A6BB-6F0F007AC54C}"/>
              </a:ext>
            </a:extLst>
          </p:cNvPr>
          <p:cNvSpPr txBox="1">
            <a:spLocks/>
          </p:cNvSpPr>
          <p:nvPr/>
        </p:nvSpPr>
        <p:spPr>
          <a:xfrm>
            <a:off x="685800" y="2057400"/>
            <a:ext cx="5174998" cy="34290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solidFill>
                  <a:schemeClr val="tx1"/>
                </a:solidFill>
              </a:rPr>
              <a:t>Project Manager</a:t>
            </a:r>
            <a:endParaRPr lang="uk-UA" sz="2800" b="1" dirty="0">
              <a:solidFill>
                <a:schemeClr val="tx1"/>
              </a:solidFill>
            </a:endParaRPr>
          </a:p>
          <a:p>
            <a:endParaRPr lang="en-US" sz="2800" b="1" dirty="0">
              <a:solidFill>
                <a:schemeClr val="tx1"/>
              </a:solidFill>
            </a:endParaRPr>
          </a:p>
          <a:p>
            <a:pPr marL="342900" indent="-342900" fontAlgn="base">
              <a:buFont typeface="Wingdings" panose="05000000000000000000" pitchFamily="2" charset="2"/>
              <a:buChar char="q"/>
            </a:pPr>
            <a:r>
              <a:rPr lang="uk-UA" sz="2000" dirty="0">
                <a:solidFill>
                  <a:schemeClr val="tx1"/>
                </a:solidFill>
              </a:rPr>
              <a:t>Релізи</a:t>
            </a:r>
          </a:p>
          <a:p>
            <a:pPr marL="342900" indent="-342900" fontAlgn="base">
              <a:buFont typeface="Wingdings" panose="05000000000000000000" pitchFamily="2" charset="2"/>
              <a:buChar char="q"/>
            </a:pPr>
            <a:r>
              <a:rPr lang="uk-UA" sz="2000" dirty="0">
                <a:solidFill>
                  <a:schemeClr val="tx1"/>
                </a:solidFill>
              </a:rPr>
              <a:t>Ресурси для проекту</a:t>
            </a:r>
          </a:p>
          <a:p>
            <a:pPr marL="342900" indent="-342900" fontAlgn="base">
              <a:buFont typeface="Wingdings" panose="05000000000000000000" pitchFamily="2" charset="2"/>
              <a:buChar char="q"/>
            </a:pPr>
            <a:r>
              <a:rPr lang="uk-UA" sz="2000" dirty="0">
                <a:solidFill>
                  <a:schemeClr val="tx1"/>
                </a:solidFill>
              </a:rPr>
              <a:t>Оновлення та статуси</a:t>
            </a:r>
          </a:p>
          <a:p>
            <a:pPr marL="342900" indent="-342900" fontAlgn="base">
              <a:buFont typeface="Wingdings" panose="05000000000000000000" pitchFamily="2" charset="2"/>
              <a:buChar char="q"/>
            </a:pPr>
            <a:r>
              <a:rPr lang="uk-UA" sz="2000" dirty="0">
                <a:solidFill>
                  <a:schemeClr val="tx1"/>
                </a:solidFill>
              </a:rPr>
              <a:t>Бюджет проекту</a:t>
            </a:r>
          </a:p>
          <a:p>
            <a:pPr marL="342900" indent="-342900" fontAlgn="base">
              <a:buFont typeface="Wingdings" panose="05000000000000000000" pitchFamily="2" charset="2"/>
              <a:buChar char="q"/>
            </a:pPr>
            <a:r>
              <a:rPr lang="uk-UA" sz="2000" dirty="0">
                <a:solidFill>
                  <a:schemeClr val="tx1"/>
                </a:solidFill>
              </a:rPr>
              <a:t>Командну співпрацю</a:t>
            </a:r>
          </a:p>
          <a:p>
            <a:pPr marL="342900" indent="-342900" fontAlgn="base">
              <a:buFont typeface="Wingdings" panose="05000000000000000000" pitchFamily="2" charset="2"/>
              <a:buChar char="q"/>
            </a:pPr>
            <a:r>
              <a:rPr lang="uk-UA" sz="2000" dirty="0">
                <a:solidFill>
                  <a:schemeClr val="tx1"/>
                </a:solidFill>
              </a:rPr>
              <a:t>Рішення поточних проблем в рамках проекту</a:t>
            </a:r>
          </a:p>
          <a:p>
            <a:endParaRPr lang="en-US" dirty="0">
              <a:solidFill>
                <a:schemeClr val="tx1"/>
              </a:solidFill>
            </a:endParaRPr>
          </a:p>
        </p:txBody>
      </p:sp>
      <p:sp>
        <p:nvSpPr>
          <p:cNvPr id="6" name="Місце для тексту 3">
            <a:extLst>
              <a:ext uri="{FF2B5EF4-FFF2-40B4-BE49-F238E27FC236}">
                <a16:creationId xmlns:a16="http://schemas.microsoft.com/office/drawing/2014/main" id="{FF14EBA9-B5C0-447D-8900-8750ECDA7332}"/>
              </a:ext>
            </a:extLst>
          </p:cNvPr>
          <p:cNvSpPr txBox="1">
            <a:spLocks/>
          </p:cNvSpPr>
          <p:nvPr/>
        </p:nvSpPr>
        <p:spPr>
          <a:xfrm>
            <a:off x="6330696" y="2057400"/>
            <a:ext cx="5175504" cy="3429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dirty="0">
                <a:solidFill>
                  <a:schemeClr val="tx1"/>
                </a:solidFill>
              </a:rPr>
              <a:t>Product Manager</a:t>
            </a:r>
            <a:endParaRPr lang="uk-UA" sz="2800" b="1" dirty="0">
              <a:solidFill>
                <a:schemeClr val="tx1"/>
              </a:solidFill>
            </a:endParaRPr>
          </a:p>
          <a:p>
            <a:endParaRPr lang="en-US" sz="2800" b="1" dirty="0">
              <a:solidFill>
                <a:schemeClr val="tx1"/>
              </a:solidFill>
            </a:endParaRPr>
          </a:p>
          <a:p>
            <a:pPr marL="342900" indent="-342900" algn="l" fontAlgn="base">
              <a:buFont typeface="Wingdings" panose="05000000000000000000" pitchFamily="2" charset="2"/>
              <a:buChar char="q"/>
            </a:pPr>
            <a:r>
              <a:rPr lang="uk-UA" sz="2000" dirty="0">
                <a:solidFill>
                  <a:schemeClr val="tx1"/>
                </a:solidFill>
              </a:rPr>
              <a:t>Життєвий цикл продукту</a:t>
            </a:r>
          </a:p>
          <a:p>
            <a:pPr marL="342900" indent="-342900" algn="l" fontAlgn="base">
              <a:buFont typeface="Wingdings" panose="05000000000000000000" pitchFamily="2" charset="2"/>
              <a:buChar char="q"/>
            </a:pPr>
            <a:r>
              <a:rPr lang="uk-UA" sz="2000" dirty="0">
                <a:solidFill>
                  <a:schemeClr val="tx1"/>
                </a:solidFill>
              </a:rPr>
              <a:t>Побудова стратегії продукту</a:t>
            </a:r>
          </a:p>
          <a:p>
            <a:pPr marL="342900" indent="-342900" algn="l" fontAlgn="base">
              <a:buFont typeface="Wingdings" panose="05000000000000000000" pitchFamily="2" charset="2"/>
              <a:buChar char="q"/>
            </a:pPr>
            <a:r>
              <a:rPr lang="uk-UA" sz="2000" dirty="0">
                <a:solidFill>
                  <a:schemeClr val="tx1"/>
                </a:solidFill>
              </a:rPr>
              <a:t>Дослідження ринку</a:t>
            </a:r>
          </a:p>
          <a:p>
            <a:pPr marL="342900" indent="-342900" algn="l" fontAlgn="base">
              <a:buFont typeface="Wingdings" panose="05000000000000000000" pitchFamily="2" charset="2"/>
              <a:buChar char="q"/>
            </a:pPr>
            <a:r>
              <a:rPr lang="ru-RU" sz="2000" dirty="0">
                <a:solidFill>
                  <a:schemeClr val="tx1"/>
                </a:solidFill>
              </a:rPr>
              <a:t>Зб</a:t>
            </a:r>
            <a:r>
              <a:rPr lang="uk-UA" sz="2000" dirty="0">
                <a:solidFill>
                  <a:schemeClr val="tx1"/>
                </a:solidFill>
              </a:rPr>
              <a:t>і</a:t>
            </a:r>
            <a:r>
              <a:rPr lang="ru-RU" sz="2000" dirty="0">
                <a:solidFill>
                  <a:schemeClr val="tx1"/>
                </a:solidFill>
              </a:rPr>
              <a:t>р та аналіз даних</a:t>
            </a:r>
          </a:p>
          <a:p>
            <a:pPr marL="342900" indent="-342900" algn="l" fontAlgn="base">
              <a:buFont typeface="Wingdings" panose="05000000000000000000" pitchFamily="2" charset="2"/>
              <a:buChar char="q"/>
            </a:pPr>
            <a:r>
              <a:rPr lang="uk-UA" sz="2000" dirty="0">
                <a:solidFill>
                  <a:schemeClr val="tx1"/>
                </a:solidFill>
              </a:rPr>
              <a:t>Розробка бізнес-моделі</a:t>
            </a:r>
          </a:p>
          <a:p>
            <a:pPr marL="342900" indent="-342900" algn="l" fontAlgn="base">
              <a:buFont typeface="Wingdings" panose="05000000000000000000" pitchFamily="2" charset="2"/>
              <a:buChar char="q"/>
            </a:pPr>
            <a:r>
              <a:rPr lang="uk-UA" sz="2000" dirty="0">
                <a:solidFill>
                  <a:schemeClr val="tx1"/>
                </a:solidFill>
              </a:rPr>
              <a:t>Створенн</a:t>
            </a:r>
            <a:r>
              <a:rPr lang="ru-RU" sz="2000" dirty="0">
                <a:solidFill>
                  <a:schemeClr val="tx1"/>
                </a:solidFill>
              </a:rPr>
              <a:t>я </a:t>
            </a:r>
            <a:r>
              <a:rPr lang="en-US" sz="2000" dirty="0">
                <a:solidFill>
                  <a:schemeClr val="tx1"/>
                </a:solidFill>
              </a:rPr>
              <a:t>product roadmap</a:t>
            </a:r>
          </a:p>
          <a:p>
            <a:pPr marL="342900" indent="-342900" algn="l" fontAlgn="base">
              <a:buFont typeface="Wingdings" panose="05000000000000000000" pitchFamily="2" charset="2"/>
              <a:buChar char="q"/>
            </a:pPr>
            <a:r>
              <a:rPr lang="ru-RU" sz="2000" dirty="0">
                <a:solidFill>
                  <a:schemeClr val="tx1"/>
                </a:solidFill>
              </a:rPr>
              <a:t>Концептом продукту</a:t>
            </a:r>
          </a:p>
          <a:p>
            <a:endParaRPr lang="en-US" dirty="0"/>
          </a:p>
        </p:txBody>
      </p:sp>
    </p:spTree>
    <p:extLst>
      <p:ext uri="{BB962C8B-B14F-4D97-AF65-F5344CB8AC3E}">
        <p14:creationId xmlns:p14="http://schemas.microsoft.com/office/powerpoint/2010/main" val="4069821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D0DFB205-75C4-445E-9044-FCE614032588}"/>
              </a:ext>
            </a:extLst>
          </p:cNvPr>
          <p:cNvSpPr>
            <a:spLocks noGrp="1"/>
          </p:cNvSpPr>
          <p:nvPr>
            <p:ph type="title"/>
          </p:nvPr>
        </p:nvSpPr>
        <p:spPr>
          <a:xfrm>
            <a:off x="685800" y="685801"/>
            <a:ext cx="10820400" cy="685800"/>
          </a:xfrm>
        </p:spPr>
        <p:txBody>
          <a:bodyPr>
            <a:normAutofit/>
          </a:bodyPr>
          <a:lstStyle/>
          <a:p>
            <a:r>
              <a:rPr lang="en-US" sz="3600" dirty="0">
                <a:latin typeface="Segoe UI Variable Text Semibold" pitchFamily="2" charset="0"/>
              </a:rPr>
              <a:t>BUSINESS ANALYST</a:t>
            </a:r>
          </a:p>
        </p:txBody>
      </p:sp>
      <p:sp>
        <p:nvSpPr>
          <p:cNvPr id="5" name="Місце для тексту 3">
            <a:extLst>
              <a:ext uri="{FF2B5EF4-FFF2-40B4-BE49-F238E27FC236}">
                <a16:creationId xmlns:a16="http://schemas.microsoft.com/office/drawing/2014/main" id="{9E7CBB90-8087-42C9-B327-5AFEE9417A40}"/>
              </a:ext>
            </a:extLst>
          </p:cNvPr>
          <p:cNvSpPr txBox="1">
            <a:spLocks/>
          </p:cNvSpPr>
          <p:nvPr/>
        </p:nvSpPr>
        <p:spPr>
          <a:xfrm>
            <a:off x="6330695" y="1840832"/>
            <a:ext cx="5576825" cy="3429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eaLnBrk="0" fontAlgn="base" hangingPunct="0">
              <a:spcBef>
                <a:spcPct val="0"/>
              </a:spcBef>
              <a:spcAft>
                <a:spcPct val="0"/>
              </a:spcAft>
              <a:buFont typeface="Wingdings" panose="05000000000000000000" pitchFamily="2" charset="2"/>
              <a:buChar char="q"/>
            </a:pPr>
            <a:r>
              <a:rPr lang="uk-UA" altLang="en-US" sz="2000" dirty="0">
                <a:solidFill>
                  <a:schemeClr val="tx1"/>
                </a:solidFill>
                <a:latin typeface="inherit"/>
              </a:rPr>
              <a:t>комунікація із клієнтами; </a:t>
            </a:r>
            <a:endParaRPr lang="en-US" altLang="en-US" sz="2000" dirty="0">
              <a:solidFill>
                <a:schemeClr val="tx1"/>
              </a:solidFill>
              <a:latin typeface="inherit"/>
            </a:endParaRPr>
          </a:p>
          <a:p>
            <a:pPr marL="342900" indent="-342900" algn="l" eaLnBrk="0" fontAlgn="base" hangingPunct="0">
              <a:spcBef>
                <a:spcPct val="0"/>
              </a:spcBef>
              <a:spcAft>
                <a:spcPct val="0"/>
              </a:spcAft>
              <a:buFont typeface="Wingdings" panose="05000000000000000000" pitchFamily="2" charset="2"/>
              <a:buChar char="q"/>
            </a:pPr>
            <a:r>
              <a:rPr lang="uk-UA" altLang="en-US" sz="2000" dirty="0">
                <a:solidFill>
                  <a:schemeClr val="tx1"/>
                </a:solidFill>
                <a:latin typeface="inherit"/>
              </a:rPr>
              <a:t>збір та аналіз вимог замовника; </a:t>
            </a:r>
            <a:endParaRPr lang="en-US" altLang="en-US" sz="2000" dirty="0">
              <a:solidFill>
                <a:schemeClr val="tx1"/>
              </a:solidFill>
              <a:latin typeface="inherit"/>
            </a:endParaRPr>
          </a:p>
          <a:p>
            <a:pPr marL="342900" indent="-342900" algn="l" eaLnBrk="0" fontAlgn="base" hangingPunct="0">
              <a:spcBef>
                <a:spcPct val="0"/>
              </a:spcBef>
              <a:spcAft>
                <a:spcPct val="0"/>
              </a:spcAft>
              <a:buFont typeface="Wingdings" panose="05000000000000000000" pitchFamily="2" charset="2"/>
              <a:buChar char="q"/>
            </a:pPr>
            <a:r>
              <a:rPr lang="uk-UA" altLang="en-US" sz="2000" dirty="0">
                <a:solidFill>
                  <a:schemeClr val="tx1"/>
                </a:solidFill>
                <a:latin typeface="inherit"/>
              </a:rPr>
              <a:t>складання концепції рішення; </a:t>
            </a:r>
            <a:endParaRPr lang="en-US" altLang="en-US" sz="2000" dirty="0">
              <a:solidFill>
                <a:schemeClr val="tx1"/>
              </a:solidFill>
              <a:latin typeface="inherit"/>
            </a:endParaRPr>
          </a:p>
          <a:p>
            <a:pPr marL="342900" indent="-342900" algn="l" eaLnBrk="0" fontAlgn="base" hangingPunct="0">
              <a:spcBef>
                <a:spcPct val="0"/>
              </a:spcBef>
              <a:spcAft>
                <a:spcPct val="0"/>
              </a:spcAft>
              <a:buFont typeface="Wingdings" panose="05000000000000000000" pitchFamily="2" charset="2"/>
              <a:buChar char="q"/>
            </a:pPr>
            <a:r>
              <a:rPr lang="uk-UA" altLang="en-US" sz="2000" dirty="0">
                <a:solidFill>
                  <a:schemeClr val="tx1"/>
                </a:solidFill>
                <a:latin typeface="inherit"/>
              </a:rPr>
              <a:t>формування специфікацій (технічної документації); </a:t>
            </a:r>
            <a:endParaRPr lang="en-US" altLang="en-US" sz="2000" dirty="0">
              <a:solidFill>
                <a:schemeClr val="tx1"/>
              </a:solidFill>
              <a:latin typeface="inherit"/>
            </a:endParaRPr>
          </a:p>
          <a:p>
            <a:pPr marL="342900" indent="-342900" algn="l" eaLnBrk="0" fontAlgn="base" hangingPunct="0">
              <a:spcBef>
                <a:spcPct val="0"/>
              </a:spcBef>
              <a:spcAft>
                <a:spcPct val="0"/>
              </a:spcAft>
              <a:buFont typeface="Wingdings" panose="05000000000000000000" pitchFamily="2" charset="2"/>
              <a:buChar char="q"/>
            </a:pPr>
            <a:r>
              <a:rPr lang="uk-UA" altLang="en-US" sz="2000" dirty="0">
                <a:solidFill>
                  <a:schemeClr val="tx1"/>
                </a:solidFill>
                <a:latin typeface="inherit"/>
              </a:rPr>
              <a:t>написання технічного завдання та створення прототипів; </a:t>
            </a:r>
            <a:endParaRPr lang="en-US" altLang="en-US" sz="2000" dirty="0">
              <a:solidFill>
                <a:schemeClr val="tx1"/>
              </a:solidFill>
              <a:latin typeface="inherit"/>
            </a:endParaRPr>
          </a:p>
          <a:p>
            <a:pPr marL="342900" indent="-342900" algn="l" eaLnBrk="0" fontAlgn="base" hangingPunct="0">
              <a:spcBef>
                <a:spcPct val="0"/>
              </a:spcBef>
              <a:spcAft>
                <a:spcPct val="0"/>
              </a:spcAft>
              <a:buFont typeface="Wingdings" panose="05000000000000000000" pitchFamily="2" charset="2"/>
              <a:buChar char="q"/>
            </a:pPr>
            <a:r>
              <a:rPr lang="uk-UA" altLang="en-US" sz="2000" dirty="0">
                <a:solidFill>
                  <a:schemeClr val="tx1"/>
                </a:solidFill>
                <a:latin typeface="inherit"/>
              </a:rPr>
              <a:t>управління вимогами - документування, аналіз та пріоритизація вимог протягом усього проекту; </a:t>
            </a:r>
            <a:endParaRPr lang="en-US" altLang="en-US" sz="2000" dirty="0">
              <a:solidFill>
                <a:schemeClr val="tx1"/>
              </a:solidFill>
              <a:latin typeface="inherit"/>
            </a:endParaRPr>
          </a:p>
          <a:p>
            <a:pPr marL="342900" indent="-342900" algn="l" eaLnBrk="0" fontAlgn="base" hangingPunct="0">
              <a:spcBef>
                <a:spcPct val="0"/>
              </a:spcBef>
              <a:spcAft>
                <a:spcPct val="0"/>
              </a:spcAft>
              <a:buFont typeface="Wingdings" panose="05000000000000000000" pitchFamily="2" charset="2"/>
              <a:buChar char="q"/>
            </a:pPr>
            <a:r>
              <a:rPr lang="uk-UA" altLang="en-US" sz="2000" dirty="0">
                <a:solidFill>
                  <a:schemeClr val="tx1"/>
                </a:solidFill>
                <a:latin typeface="inherit"/>
              </a:rPr>
              <a:t>донесення вимог команді розробки, включаючи програмістів, дизайнерів та тестувальників.</a:t>
            </a:r>
            <a:r>
              <a:rPr lang="uk-UA" altLang="en-US" sz="700" dirty="0">
                <a:solidFill>
                  <a:schemeClr val="tx1"/>
                </a:solidFill>
              </a:rPr>
              <a:t> </a:t>
            </a:r>
            <a:endParaRPr lang="uk-UA" altLang="en-US" sz="1600" dirty="0">
              <a:solidFill>
                <a:schemeClr val="tx1"/>
              </a:solidFill>
              <a:latin typeface="Arial" panose="020B0604020202020204" pitchFamily="34" charset="0"/>
            </a:endParaRPr>
          </a:p>
          <a:p>
            <a:endParaRPr lang="en-US" dirty="0">
              <a:solidFill>
                <a:schemeClr val="tx1"/>
              </a:solidFill>
            </a:endParaRPr>
          </a:p>
        </p:txBody>
      </p:sp>
      <p:pic>
        <p:nvPicPr>
          <p:cNvPr id="6" name="Picture 9" descr="Agile Business Analyst – DotCommunity">
            <a:extLst>
              <a:ext uri="{FF2B5EF4-FFF2-40B4-BE49-F238E27FC236}">
                <a16:creationId xmlns:a16="http://schemas.microsoft.com/office/drawing/2014/main" id="{01C9FF12-D01D-4A21-99C9-2D679DE7EC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464" y="2057400"/>
            <a:ext cx="5130431" cy="3573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2121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49B7749E-88BB-41C8-8528-82C9CBABAEC8}"/>
              </a:ext>
            </a:extLst>
          </p:cNvPr>
          <p:cNvSpPr>
            <a:spLocks noGrp="1"/>
          </p:cNvSpPr>
          <p:nvPr>
            <p:ph type="title"/>
          </p:nvPr>
        </p:nvSpPr>
        <p:spPr>
          <a:xfrm>
            <a:off x="685800" y="685801"/>
            <a:ext cx="10820400" cy="685800"/>
          </a:xfrm>
        </p:spPr>
        <p:txBody>
          <a:bodyPr>
            <a:normAutofit/>
          </a:bodyPr>
          <a:lstStyle/>
          <a:p>
            <a:r>
              <a:rPr lang="en-US" sz="3600" dirty="0"/>
              <a:t>ARCHITECT</a:t>
            </a:r>
          </a:p>
        </p:txBody>
      </p:sp>
      <p:sp>
        <p:nvSpPr>
          <p:cNvPr id="5" name="Місце для тексту 2">
            <a:extLst>
              <a:ext uri="{FF2B5EF4-FFF2-40B4-BE49-F238E27FC236}">
                <a16:creationId xmlns:a16="http://schemas.microsoft.com/office/drawing/2014/main" id="{8B41B34C-B214-4585-B2EA-924AF2409560}"/>
              </a:ext>
            </a:extLst>
          </p:cNvPr>
          <p:cNvSpPr txBox="1">
            <a:spLocks/>
          </p:cNvSpPr>
          <p:nvPr/>
        </p:nvSpPr>
        <p:spPr>
          <a:xfrm>
            <a:off x="6331203" y="1967163"/>
            <a:ext cx="5174998" cy="34290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ru-RU" sz="1800" b="1" dirty="0">
                <a:solidFill>
                  <a:schemeClr val="tx1"/>
                </a:solidFill>
              </a:rPr>
              <a:t>Архітектор</a:t>
            </a:r>
            <a:r>
              <a:rPr lang="ru-RU" sz="1800" dirty="0">
                <a:solidFill>
                  <a:schemeClr val="tx1"/>
                </a:solidFill>
              </a:rPr>
              <a:t> – відповідальний за проектування архітектури ПЗ, тобто прийняття ключових проектних рішень щодо внутрішього устрою програмної системи. </a:t>
            </a:r>
          </a:p>
          <a:p>
            <a:pPr algn="just"/>
            <a:endParaRPr lang="ru-RU" sz="1800" dirty="0">
              <a:solidFill>
                <a:schemeClr val="tx1"/>
              </a:solidFill>
            </a:endParaRPr>
          </a:p>
          <a:p>
            <a:r>
              <a:rPr lang="ru-RU" sz="1800" b="1" dirty="0">
                <a:solidFill>
                  <a:schemeClr val="tx1"/>
                </a:solidFill>
              </a:rPr>
              <a:t>Завдання, які вирішує:</a:t>
            </a:r>
          </a:p>
          <a:p>
            <a:pPr marL="342900" indent="-342900">
              <a:buFont typeface="Wingdings" panose="05000000000000000000" pitchFamily="2" charset="2"/>
              <a:buChar char="q"/>
            </a:pPr>
            <a:r>
              <a:rPr lang="uk-UA" sz="1800" dirty="0">
                <a:solidFill>
                  <a:schemeClr val="tx1"/>
                </a:solidFill>
              </a:rPr>
              <a:t>Забезпечити вирішення завдань бізнесу за допомогою ІТ</a:t>
            </a:r>
          </a:p>
          <a:p>
            <a:pPr marL="342900" indent="-342900">
              <a:buFont typeface="Wingdings" panose="05000000000000000000" pitchFamily="2" charset="2"/>
              <a:buChar char="q"/>
            </a:pPr>
            <a:r>
              <a:rPr lang="uk-UA" sz="1800" dirty="0">
                <a:solidFill>
                  <a:schemeClr val="tx1"/>
                </a:solidFill>
              </a:rPr>
              <a:t>Контролювати правильність реалізації</a:t>
            </a:r>
          </a:p>
          <a:p>
            <a:pPr marL="342900" indent="-342900">
              <a:buFont typeface="Wingdings" panose="05000000000000000000" pitchFamily="2" charset="2"/>
              <a:buChar char="q"/>
            </a:pPr>
            <a:r>
              <a:rPr lang="uk-UA" sz="1800" dirty="0">
                <a:solidFill>
                  <a:schemeClr val="tx1"/>
                </a:solidFill>
              </a:rPr>
              <a:t>Розробка, створення і підтримка структури ПЗ, мережі, сервера, окремого модуля в програмі</a:t>
            </a:r>
          </a:p>
          <a:p>
            <a:pPr marL="342900" indent="-342900">
              <a:buFont typeface="Wingdings" panose="05000000000000000000" pitchFamily="2" charset="2"/>
              <a:buChar char="q"/>
            </a:pPr>
            <a:r>
              <a:rPr lang="uk-UA" sz="1800" dirty="0">
                <a:solidFill>
                  <a:schemeClr val="tx1"/>
                </a:solidFill>
              </a:rPr>
              <a:t>Архітектурні шаблони</a:t>
            </a:r>
          </a:p>
          <a:p>
            <a:pPr marL="342900" indent="-342900">
              <a:buFont typeface="Wingdings" panose="05000000000000000000" pitchFamily="2" charset="2"/>
              <a:buChar char="q"/>
            </a:pPr>
            <a:r>
              <a:rPr lang="uk-UA" sz="1800" dirty="0">
                <a:solidFill>
                  <a:schemeClr val="tx1"/>
                </a:solidFill>
              </a:rPr>
              <a:t>Сценарії взаємодії компонентів</a:t>
            </a:r>
            <a:endParaRPr lang="en-US" sz="1800" dirty="0">
              <a:solidFill>
                <a:schemeClr val="tx1"/>
              </a:solidFill>
            </a:endParaRPr>
          </a:p>
        </p:txBody>
      </p:sp>
      <p:pic>
        <p:nvPicPr>
          <p:cNvPr id="6" name="Picture 16" descr="Business Analysis / Support - FIU Office of the Controller">
            <a:extLst>
              <a:ext uri="{FF2B5EF4-FFF2-40B4-BE49-F238E27FC236}">
                <a16:creationId xmlns:a16="http://schemas.microsoft.com/office/drawing/2014/main" id="{703E8C0C-5215-4E16-B4E7-3850D901C54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9280" y="1967163"/>
            <a:ext cx="5531519" cy="3687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2570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D2C63111-2551-43F4-B926-AD6CF8BD159A}"/>
              </a:ext>
            </a:extLst>
          </p:cNvPr>
          <p:cNvSpPr>
            <a:spLocks noGrp="1"/>
          </p:cNvSpPr>
          <p:nvPr>
            <p:ph type="title"/>
          </p:nvPr>
        </p:nvSpPr>
        <p:spPr>
          <a:xfrm>
            <a:off x="685800" y="258679"/>
            <a:ext cx="10820400" cy="685800"/>
          </a:xfrm>
        </p:spPr>
        <p:txBody>
          <a:bodyPr>
            <a:normAutofit/>
          </a:bodyPr>
          <a:lstStyle/>
          <a:p>
            <a:r>
              <a:rPr lang="en-US" sz="3600" dirty="0">
                <a:latin typeface="Segoe UI Variable Text Semibold" pitchFamily="2" charset="0"/>
              </a:rPr>
              <a:t>DEVELOPER</a:t>
            </a:r>
          </a:p>
        </p:txBody>
      </p:sp>
      <p:sp>
        <p:nvSpPr>
          <p:cNvPr id="5" name="Місце для тексту 2">
            <a:extLst>
              <a:ext uri="{FF2B5EF4-FFF2-40B4-BE49-F238E27FC236}">
                <a16:creationId xmlns:a16="http://schemas.microsoft.com/office/drawing/2014/main" id="{799BDB0E-C433-4EE8-AC01-9F649E152249}"/>
              </a:ext>
            </a:extLst>
          </p:cNvPr>
          <p:cNvSpPr txBox="1">
            <a:spLocks/>
          </p:cNvSpPr>
          <p:nvPr/>
        </p:nvSpPr>
        <p:spPr>
          <a:xfrm>
            <a:off x="686307" y="3170321"/>
            <a:ext cx="5174998" cy="34290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en-US" sz="2800" b="1" dirty="0">
                <a:solidFill>
                  <a:schemeClr val="tx1"/>
                </a:solidFill>
              </a:rPr>
              <a:t>Front end developers -</a:t>
            </a:r>
            <a:endParaRPr lang="en-US" sz="2800" dirty="0">
              <a:solidFill>
                <a:schemeClr val="tx1"/>
              </a:solidFill>
            </a:endParaRPr>
          </a:p>
          <a:p>
            <a:pPr algn="just" fontAlgn="base"/>
            <a:r>
              <a:rPr lang="ru-RU" sz="1600" dirty="0">
                <a:solidFill>
                  <a:schemeClr val="tx1"/>
                </a:solidFill>
              </a:rPr>
              <a:t>розробники несуть відповідальність за створення "клієнтської" частини в вебдодатках, тобто вони мають справу з усім, з чим взаємодіє користувач.</a:t>
            </a:r>
            <a:endParaRPr lang="en-US" sz="1600" dirty="0">
              <a:solidFill>
                <a:schemeClr val="tx1"/>
              </a:solidFill>
            </a:endParaRPr>
          </a:p>
          <a:p>
            <a:pPr marL="342900" indent="-342900" fontAlgn="base">
              <a:buFont typeface="Wingdings" panose="05000000000000000000" pitchFamily="2" charset="2"/>
              <a:buChar char="q"/>
            </a:pPr>
            <a:r>
              <a:rPr lang="en-US" sz="1600" dirty="0">
                <a:solidFill>
                  <a:schemeClr val="tx1"/>
                </a:solidFill>
              </a:rPr>
              <a:t>HTML5, CSS3, JavaScript</a:t>
            </a:r>
          </a:p>
          <a:p>
            <a:pPr marL="342900" indent="-342900" fontAlgn="base">
              <a:buFont typeface="Wingdings" panose="05000000000000000000" pitchFamily="2" charset="2"/>
              <a:buChar char="q"/>
            </a:pPr>
            <a:r>
              <a:rPr lang="ru-RU" sz="1600" dirty="0">
                <a:solidFill>
                  <a:schemeClr val="tx1"/>
                </a:solidFill>
              </a:rPr>
              <a:t>Розбиратися у фреймворках і бібліотеках</a:t>
            </a:r>
          </a:p>
          <a:p>
            <a:pPr marL="342900" indent="-342900" fontAlgn="base">
              <a:buFont typeface="Wingdings" panose="05000000000000000000" pitchFamily="2" charset="2"/>
              <a:buChar char="q"/>
            </a:pPr>
            <a:r>
              <a:rPr lang="ru-RU" sz="1600" dirty="0">
                <a:solidFill>
                  <a:schemeClr val="tx1"/>
                </a:solidFill>
              </a:rPr>
              <a:t>Розуміти, що знаходиться «під капотом» на серверній стороні, яку реалізує </a:t>
            </a:r>
            <a:r>
              <a:rPr lang="en-US" sz="1600" dirty="0">
                <a:solidFill>
                  <a:schemeClr val="tx1"/>
                </a:solidFill>
              </a:rPr>
              <a:t>back-end </a:t>
            </a:r>
            <a:r>
              <a:rPr lang="ru-RU" sz="1600" dirty="0">
                <a:solidFill>
                  <a:schemeClr val="tx1"/>
                </a:solidFill>
              </a:rPr>
              <a:t>розробник.</a:t>
            </a:r>
          </a:p>
          <a:p>
            <a:pPr marL="342900" indent="-342900" fontAlgn="base">
              <a:buFont typeface="Wingdings" panose="05000000000000000000" pitchFamily="2" charset="2"/>
              <a:buChar char="q"/>
            </a:pPr>
            <a:r>
              <a:rPr lang="ru-RU" sz="1600" dirty="0">
                <a:solidFill>
                  <a:schemeClr val="tx1"/>
                </a:solidFill>
              </a:rPr>
              <a:t>Вміти складати і обробляти </a:t>
            </a:r>
            <a:r>
              <a:rPr lang="en-US" sz="1600" dirty="0">
                <a:solidFill>
                  <a:schemeClr val="tx1"/>
                </a:solidFill>
              </a:rPr>
              <a:t>SQL-</a:t>
            </a:r>
            <a:r>
              <a:rPr lang="ru-RU" sz="1600" dirty="0">
                <a:solidFill>
                  <a:schemeClr val="tx1"/>
                </a:solidFill>
              </a:rPr>
              <a:t>запити</a:t>
            </a:r>
          </a:p>
          <a:p>
            <a:pPr fontAlgn="base"/>
            <a:endParaRPr lang="ru-RU" sz="1600" dirty="0">
              <a:solidFill>
                <a:schemeClr val="tx1"/>
              </a:solidFill>
            </a:endParaRPr>
          </a:p>
          <a:p>
            <a:endParaRPr lang="en-US" sz="1600" dirty="0">
              <a:solidFill>
                <a:schemeClr val="tx1"/>
              </a:solidFill>
            </a:endParaRPr>
          </a:p>
        </p:txBody>
      </p:sp>
      <p:sp>
        <p:nvSpPr>
          <p:cNvPr id="6" name="Місце для тексту 3">
            <a:extLst>
              <a:ext uri="{FF2B5EF4-FFF2-40B4-BE49-F238E27FC236}">
                <a16:creationId xmlns:a16="http://schemas.microsoft.com/office/drawing/2014/main" id="{382B3FA7-62A5-4C06-98B1-83D85B758E38}"/>
              </a:ext>
            </a:extLst>
          </p:cNvPr>
          <p:cNvSpPr txBox="1">
            <a:spLocks/>
          </p:cNvSpPr>
          <p:nvPr/>
        </p:nvSpPr>
        <p:spPr>
          <a:xfrm>
            <a:off x="6711428" y="2886242"/>
            <a:ext cx="5175504" cy="3429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base"/>
            <a:r>
              <a:rPr lang="en-US" sz="2800" b="1" dirty="0">
                <a:solidFill>
                  <a:schemeClr val="tx1"/>
                </a:solidFill>
              </a:rPr>
              <a:t>Backend developers -</a:t>
            </a:r>
            <a:endParaRPr lang="en-US" sz="2800" dirty="0">
              <a:solidFill>
                <a:schemeClr val="tx1"/>
              </a:solidFill>
            </a:endParaRPr>
          </a:p>
          <a:p>
            <a:pPr algn="l" fontAlgn="base"/>
            <a:r>
              <a:rPr lang="ru-RU" sz="1600" dirty="0">
                <a:solidFill>
                  <a:schemeClr val="tx1"/>
                </a:solidFill>
              </a:rPr>
              <a:t>розробники апаратної частини комплексного ПЗ.</a:t>
            </a:r>
            <a:r>
              <a:rPr lang="en-US" sz="1600" dirty="0">
                <a:solidFill>
                  <a:schemeClr val="tx1"/>
                </a:solidFill>
              </a:rPr>
              <a:t> </a:t>
            </a:r>
            <a:r>
              <a:rPr lang="ru-RU" sz="1600" dirty="0">
                <a:solidFill>
                  <a:schemeClr val="tx1"/>
                </a:solidFill>
              </a:rPr>
              <a:t>Він займається програмно-адміністративною частиною вебдодатків, внутрішнім вмістом системи, серверними технологіями - базами даними, архітектурою, програмною бізнес логікою.</a:t>
            </a:r>
          </a:p>
          <a:p>
            <a:pPr algn="l" fontAlgn="base"/>
            <a:r>
              <a:rPr lang="ru-RU" sz="1600" b="1" dirty="0">
                <a:solidFill>
                  <a:schemeClr val="tx1"/>
                </a:solidFill>
              </a:rPr>
              <a:t>Основні інструменти розробки:</a:t>
            </a:r>
            <a:endParaRPr lang="ru-RU" sz="1600" dirty="0">
              <a:solidFill>
                <a:schemeClr val="tx1"/>
              </a:solidFill>
            </a:endParaRPr>
          </a:p>
          <a:p>
            <a:pPr algn="l" fontAlgn="base"/>
            <a:r>
              <a:rPr lang="en-US" sz="1600" dirty="0">
                <a:solidFill>
                  <a:schemeClr val="tx1"/>
                </a:solidFill>
              </a:rPr>
              <a:t>Java, Python, </a:t>
            </a:r>
            <a:r>
              <a:rPr lang="ru-RU" sz="1600" dirty="0">
                <a:solidFill>
                  <a:schemeClr val="tx1"/>
                </a:solidFill>
              </a:rPr>
              <a:t>С#</a:t>
            </a:r>
            <a:r>
              <a:rPr lang="en-US" sz="1600" dirty="0">
                <a:solidFill>
                  <a:schemeClr val="tx1"/>
                </a:solidFill>
              </a:rPr>
              <a:t>, PHP, Ruby, Node JS, Perl</a:t>
            </a:r>
          </a:p>
          <a:p>
            <a:endParaRPr lang="en-US" dirty="0">
              <a:solidFill>
                <a:schemeClr val="tx1"/>
              </a:solidFill>
            </a:endParaRPr>
          </a:p>
        </p:txBody>
      </p:sp>
      <p:pic>
        <p:nvPicPr>
          <p:cNvPr id="7" name="Рисунок 5">
            <a:extLst>
              <a:ext uri="{FF2B5EF4-FFF2-40B4-BE49-F238E27FC236}">
                <a16:creationId xmlns:a16="http://schemas.microsoft.com/office/drawing/2014/main" id="{F50CA527-3ACB-4FB2-94F3-11E03BCCD596}"/>
              </a:ext>
            </a:extLst>
          </p:cNvPr>
          <p:cNvPicPr>
            <a:picLocks noChangeAspect="1"/>
          </p:cNvPicPr>
          <p:nvPr/>
        </p:nvPicPr>
        <p:blipFill>
          <a:blip r:embed="rId2"/>
          <a:stretch>
            <a:fillRect/>
          </a:stretch>
        </p:blipFill>
        <p:spPr>
          <a:xfrm>
            <a:off x="1818737" y="1073819"/>
            <a:ext cx="1888206" cy="1967162"/>
          </a:xfrm>
          <a:prstGeom prst="rect">
            <a:avLst/>
          </a:prstGeom>
        </p:spPr>
      </p:pic>
      <p:pic>
        <p:nvPicPr>
          <p:cNvPr id="8" name="Рисунок 7">
            <a:extLst>
              <a:ext uri="{FF2B5EF4-FFF2-40B4-BE49-F238E27FC236}">
                <a16:creationId xmlns:a16="http://schemas.microsoft.com/office/drawing/2014/main" id="{B317EC59-3E7D-4195-B966-3BF7B91FE8B1}"/>
              </a:ext>
            </a:extLst>
          </p:cNvPr>
          <p:cNvPicPr>
            <a:picLocks noChangeAspect="1"/>
          </p:cNvPicPr>
          <p:nvPr/>
        </p:nvPicPr>
        <p:blipFill>
          <a:blip r:embed="rId3"/>
          <a:stretch>
            <a:fillRect/>
          </a:stretch>
        </p:blipFill>
        <p:spPr>
          <a:xfrm>
            <a:off x="7540955" y="1073819"/>
            <a:ext cx="1888207" cy="1967162"/>
          </a:xfrm>
          <a:prstGeom prst="rect">
            <a:avLst/>
          </a:prstGeom>
        </p:spPr>
      </p:pic>
    </p:spTree>
    <p:extLst>
      <p:ext uri="{BB962C8B-B14F-4D97-AF65-F5344CB8AC3E}">
        <p14:creationId xmlns:p14="http://schemas.microsoft.com/office/powerpoint/2010/main" val="29181307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C9D535FE-ABDE-4941-B3E1-734C0C12CC5D}"/>
              </a:ext>
            </a:extLst>
          </p:cNvPr>
          <p:cNvSpPr>
            <a:spLocks noGrp="1"/>
          </p:cNvSpPr>
          <p:nvPr>
            <p:ph type="title"/>
          </p:nvPr>
        </p:nvSpPr>
        <p:spPr>
          <a:xfrm>
            <a:off x="685800" y="685801"/>
            <a:ext cx="10820400" cy="685800"/>
          </a:xfrm>
        </p:spPr>
        <p:txBody>
          <a:bodyPr>
            <a:normAutofit/>
          </a:bodyPr>
          <a:lstStyle/>
          <a:p>
            <a:r>
              <a:rPr lang="en-US" sz="3600" dirty="0">
                <a:latin typeface="Segoe UI Variable Text Semibold" pitchFamily="2" charset="0"/>
              </a:rPr>
              <a:t>QUALITY CONTROL (QC)</a:t>
            </a:r>
          </a:p>
        </p:txBody>
      </p:sp>
      <p:sp>
        <p:nvSpPr>
          <p:cNvPr id="5" name="Місце для тексту 2">
            <a:extLst>
              <a:ext uri="{FF2B5EF4-FFF2-40B4-BE49-F238E27FC236}">
                <a16:creationId xmlns:a16="http://schemas.microsoft.com/office/drawing/2014/main" id="{D15626E9-86E0-4689-93D8-C1851D8952C3}"/>
              </a:ext>
            </a:extLst>
          </p:cNvPr>
          <p:cNvSpPr txBox="1">
            <a:spLocks/>
          </p:cNvSpPr>
          <p:nvPr/>
        </p:nvSpPr>
        <p:spPr>
          <a:xfrm>
            <a:off x="685800" y="2143860"/>
            <a:ext cx="5174998" cy="34290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fontAlgn="base"/>
            <a:r>
              <a:rPr lang="ru-RU" sz="1800" b="1" dirty="0">
                <a:solidFill>
                  <a:schemeClr val="tx1"/>
                </a:solidFill>
              </a:rPr>
              <a:t>Тестувальник</a:t>
            </a:r>
            <a:r>
              <a:rPr lang="ru-RU" sz="1800" dirty="0">
                <a:solidFill>
                  <a:schemeClr val="tx1"/>
                </a:solidFill>
              </a:rPr>
              <a:t> - це фахівець, який займається тестуванням програмного забезпечення</a:t>
            </a:r>
            <a:r>
              <a:rPr lang="en-US" sz="1800" dirty="0">
                <a:solidFill>
                  <a:schemeClr val="tx1"/>
                </a:solidFill>
              </a:rPr>
              <a:t>,</a:t>
            </a:r>
            <a:r>
              <a:rPr lang="ru-RU" sz="1800" dirty="0">
                <a:solidFill>
                  <a:schemeClr val="tx1"/>
                </a:solidFill>
              </a:rPr>
              <a:t> з метою виявлення помилок в його роботі і їх подальшого виправлення.</a:t>
            </a:r>
          </a:p>
          <a:p>
            <a:pPr algn="just" fontAlgn="base"/>
            <a:endParaRPr lang="ru-RU" sz="1800" dirty="0">
              <a:solidFill>
                <a:schemeClr val="tx1"/>
              </a:solidFill>
            </a:endParaRPr>
          </a:p>
          <a:p>
            <a:pPr fontAlgn="base"/>
            <a:r>
              <a:rPr lang="ru-RU" sz="1800" b="1" dirty="0">
                <a:solidFill>
                  <a:schemeClr val="tx1"/>
                </a:solidFill>
              </a:rPr>
              <a:t>Головні обов'язки тестувальників:</a:t>
            </a:r>
            <a:endParaRPr lang="ru-RU" sz="1800" dirty="0">
              <a:solidFill>
                <a:schemeClr val="tx1"/>
              </a:solidFill>
            </a:endParaRPr>
          </a:p>
          <a:p>
            <a:pPr marL="285750" indent="-285750" fontAlgn="base">
              <a:buFont typeface="Wingdings" panose="05000000000000000000" pitchFamily="2" charset="2"/>
              <a:buChar char="q"/>
            </a:pPr>
            <a:r>
              <a:rPr lang="ru-RU" sz="1800" dirty="0">
                <a:solidFill>
                  <a:schemeClr val="tx1"/>
                </a:solidFill>
              </a:rPr>
              <a:t>Контроль якості розроблюваних продуктів</a:t>
            </a:r>
          </a:p>
          <a:p>
            <a:pPr marL="285750" indent="-285750" fontAlgn="base">
              <a:buFont typeface="Wingdings" panose="05000000000000000000" pitchFamily="2" charset="2"/>
              <a:buChar char="q"/>
            </a:pPr>
            <a:r>
              <a:rPr lang="ru-RU" sz="1800" dirty="0">
                <a:solidFill>
                  <a:schemeClr val="tx1"/>
                </a:solidFill>
              </a:rPr>
              <a:t>Виявлення і аналіз помилок і проблем, що виникають у користувачів при роботі з програмними продуктами</a:t>
            </a:r>
          </a:p>
          <a:p>
            <a:pPr marL="285750" indent="-285750" fontAlgn="base">
              <a:buFont typeface="Wingdings" panose="05000000000000000000" pitchFamily="2" charset="2"/>
              <a:buChar char="q"/>
            </a:pPr>
            <a:r>
              <a:rPr lang="ru-RU" sz="1800" dirty="0">
                <a:solidFill>
                  <a:schemeClr val="tx1"/>
                </a:solidFill>
              </a:rPr>
              <a:t>Розробка автотестів та їх регулярний прогін</a:t>
            </a:r>
          </a:p>
          <a:p>
            <a:pPr marL="285750" indent="-285750" fontAlgn="base">
              <a:buFont typeface="Wingdings" panose="05000000000000000000" pitchFamily="2" charset="2"/>
              <a:buChar char="q"/>
            </a:pPr>
            <a:r>
              <a:rPr lang="ru-RU" sz="1800" dirty="0">
                <a:solidFill>
                  <a:schemeClr val="tx1"/>
                </a:solidFill>
              </a:rPr>
              <a:t>Розробка сценаріїв тестування</a:t>
            </a:r>
          </a:p>
          <a:p>
            <a:pPr marL="285750" indent="-285750" fontAlgn="base">
              <a:buFont typeface="Wingdings" panose="05000000000000000000" pitchFamily="2" charset="2"/>
              <a:buChar char="q"/>
            </a:pPr>
            <a:r>
              <a:rPr lang="ru-RU" sz="1800" dirty="0">
                <a:solidFill>
                  <a:schemeClr val="tx1"/>
                </a:solidFill>
              </a:rPr>
              <a:t>Документування знайдених дефектів</a:t>
            </a:r>
          </a:p>
          <a:p>
            <a:endParaRPr lang="en-US" sz="1800" dirty="0">
              <a:solidFill>
                <a:schemeClr val="tx1"/>
              </a:solidFill>
            </a:endParaRPr>
          </a:p>
        </p:txBody>
      </p:sp>
      <p:pic>
        <p:nvPicPr>
          <p:cNvPr id="6" name="Picture 4" descr="Download Free png Business Analyst - DLPNG.com">
            <a:extLst>
              <a:ext uri="{FF2B5EF4-FFF2-40B4-BE49-F238E27FC236}">
                <a16:creationId xmlns:a16="http://schemas.microsoft.com/office/drawing/2014/main" id="{DCEE434B-3DDF-4727-B0F3-1E3EA37D59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5021" y="1954630"/>
            <a:ext cx="5334000"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3097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Заголовок 1">
            <a:extLst>
              <a:ext uri="{FF2B5EF4-FFF2-40B4-BE49-F238E27FC236}">
                <a16:creationId xmlns:a16="http://schemas.microsoft.com/office/drawing/2014/main" id="{537B6AAD-353E-4A64-A702-A4898C71DAF3}"/>
              </a:ext>
            </a:extLst>
          </p:cNvPr>
          <p:cNvSpPr>
            <a:spLocks noGrp="1"/>
          </p:cNvSpPr>
          <p:nvPr>
            <p:ph type="title"/>
          </p:nvPr>
        </p:nvSpPr>
        <p:spPr>
          <a:xfrm>
            <a:off x="614680" y="513081"/>
            <a:ext cx="10820400" cy="685800"/>
          </a:xfrm>
        </p:spPr>
        <p:txBody>
          <a:bodyPr>
            <a:normAutofit/>
          </a:bodyPr>
          <a:lstStyle/>
          <a:p>
            <a:r>
              <a:rPr lang="uk-UA" sz="3600" dirty="0">
                <a:latin typeface="Segoe UI Variable Text Semibold" pitchFamily="2" charset="0"/>
              </a:rPr>
              <a:t>РЕСУРСИ ДЛЯ КОМАНДНОЇ РОБОТИ</a:t>
            </a:r>
            <a:endParaRPr lang="en-US" sz="3600" dirty="0">
              <a:latin typeface="Segoe UI Variable Text Semibold" pitchFamily="2" charset="0"/>
            </a:endParaRPr>
          </a:p>
        </p:txBody>
      </p:sp>
      <p:pic>
        <p:nvPicPr>
          <p:cNvPr id="17" name="Picture 16">
            <a:extLst>
              <a:ext uri="{FF2B5EF4-FFF2-40B4-BE49-F238E27FC236}">
                <a16:creationId xmlns:a16="http://schemas.microsoft.com/office/drawing/2014/main" id="{EAC2B6B0-9232-4248-8475-391133766D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5" y="1976234"/>
            <a:ext cx="12194284" cy="3632086"/>
          </a:xfrm>
          <a:prstGeom prst="rect">
            <a:avLst/>
          </a:prstGeom>
        </p:spPr>
      </p:pic>
    </p:spTree>
    <p:extLst>
      <p:ext uri="{BB962C8B-B14F-4D97-AF65-F5344CB8AC3E}">
        <p14:creationId xmlns:p14="http://schemas.microsoft.com/office/powerpoint/2010/main" val="1325510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0B1094-ECF3-4733-8782-1E183C5B236C}"/>
              </a:ext>
            </a:extLst>
          </p:cNvPr>
          <p:cNvSpPr txBox="1">
            <a:spLocks noGrp="1"/>
          </p:cNvSpPr>
          <p:nvPr>
            <p:ph type="title"/>
          </p:nvPr>
        </p:nvSpPr>
        <p:spPr>
          <a:xfrm>
            <a:off x="838200" y="590201"/>
            <a:ext cx="10515600" cy="590931"/>
          </a:xfrm>
          <a:prstGeom prst="rect">
            <a:avLst/>
          </a:prstGeom>
          <a:noFill/>
        </p:spPr>
        <p:txBody>
          <a:bodyPr wrap="square">
            <a:spAutoFit/>
          </a:bodyPr>
          <a:lstStyle/>
          <a:p>
            <a:pPr algn="ctr" rtl="0">
              <a:spcBef>
                <a:spcPts val="0"/>
              </a:spcBef>
              <a:spcAft>
                <a:spcPts val="0"/>
              </a:spcAft>
            </a:pPr>
            <a:r>
              <a:rPr lang="uk-UA" sz="3600" b="1" i="0" u="none" strike="noStrike" dirty="0">
                <a:effectLst/>
                <a:latin typeface="Segoe UI Variable Text Semibold" pitchFamily="2" charset="0"/>
              </a:rPr>
              <a:t>ЖИТТЄВИЙ ЦИКЛ ІТ ПРОЄКТУ</a:t>
            </a:r>
            <a:endParaRPr lang="uk-UA" sz="3600" b="0" dirty="0">
              <a:effectLst/>
              <a:latin typeface="Segoe UI Variable Text Semibold" pitchFamily="2" charset="0"/>
            </a:endParaRPr>
          </a:p>
        </p:txBody>
      </p:sp>
      <p:grpSp>
        <p:nvGrpSpPr>
          <p:cNvPr id="22" name="Group 21">
            <a:extLst>
              <a:ext uri="{FF2B5EF4-FFF2-40B4-BE49-F238E27FC236}">
                <a16:creationId xmlns:a16="http://schemas.microsoft.com/office/drawing/2014/main" id="{67CF8D4A-9AFD-45A5-9C87-CFEF8338E28C}"/>
              </a:ext>
            </a:extLst>
          </p:cNvPr>
          <p:cNvGrpSpPr/>
          <p:nvPr/>
        </p:nvGrpSpPr>
        <p:grpSpPr>
          <a:xfrm>
            <a:off x="2066081" y="2250594"/>
            <a:ext cx="8628798" cy="3375118"/>
            <a:chOff x="2882482" y="2477042"/>
            <a:chExt cx="6245347" cy="2088842"/>
          </a:xfrm>
        </p:grpSpPr>
        <p:grpSp>
          <p:nvGrpSpPr>
            <p:cNvPr id="13" name="Group 12">
              <a:extLst>
                <a:ext uri="{FF2B5EF4-FFF2-40B4-BE49-F238E27FC236}">
                  <a16:creationId xmlns:a16="http://schemas.microsoft.com/office/drawing/2014/main" id="{565E883D-F969-429B-B0B3-90A62B9A2C2A}"/>
                </a:ext>
              </a:extLst>
            </p:cNvPr>
            <p:cNvGrpSpPr/>
            <p:nvPr/>
          </p:nvGrpSpPr>
          <p:grpSpPr>
            <a:xfrm>
              <a:off x="2882482" y="2477042"/>
              <a:ext cx="6245347" cy="2088842"/>
              <a:chOff x="2057400" y="1447800"/>
              <a:chExt cx="8001000" cy="3276600"/>
            </a:xfrm>
          </p:grpSpPr>
          <p:sp>
            <p:nvSpPr>
              <p:cNvPr id="14" name="Rounded Rectangle 4">
                <a:extLst>
                  <a:ext uri="{FF2B5EF4-FFF2-40B4-BE49-F238E27FC236}">
                    <a16:creationId xmlns:a16="http://schemas.microsoft.com/office/drawing/2014/main" id="{4892084B-7C82-4C95-8B40-A5F3DD2571AF}"/>
                  </a:ext>
                </a:extLst>
              </p:cNvPr>
              <p:cNvSpPr/>
              <p:nvPr/>
            </p:nvSpPr>
            <p:spPr>
              <a:xfrm>
                <a:off x="2857500" y="1447800"/>
                <a:ext cx="6286500" cy="3276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Segoe UI" panose="020B0502040204020203" pitchFamily="34" charset="0"/>
                  <a:ea typeface="Segoe UI" panose="020B0502040204020203" pitchFamily="34" charset="0"/>
                  <a:cs typeface="Segoe UI" panose="020B0502040204020203" pitchFamily="34" charset="0"/>
                </a:endParaRPr>
              </a:p>
            </p:txBody>
          </p:sp>
          <p:sp>
            <p:nvSpPr>
              <p:cNvPr id="15" name="Pentagon 6">
                <a:extLst>
                  <a:ext uri="{FF2B5EF4-FFF2-40B4-BE49-F238E27FC236}">
                    <a16:creationId xmlns:a16="http://schemas.microsoft.com/office/drawing/2014/main" id="{C2CB1B30-9A67-44BF-8AEA-94BB778480A8}"/>
                  </a:ext>
                </a:extLst>
              </p:cNvPr>
              <p:cNvSpPr/>
              <p:nvPr/>
            </p:nvSpPr>
            <p:spPr>
              <a:xfrm>
                <a:off x="2057400" y="2895600"/>
                <a:ext cx="1600200" cy="762000"/>
              </a:xfrm>
              <a:prstGeom prst="homePlat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latin typeface="Segoe UI" panose="020B0502040204020203" pitchFamily="34" charset="0"/>
                    <a:ea typeface="Segoe UI" panose="020B0502040204020203" pitchFamily="34" charset="0"/>
                    <a:cs typeface="Segoe UI" panose="020B0502040204020203" pitchFamily="34" charset="0"/>
                  </a:rPr>
                  <a:t>Initiating Processes</a:t>
                </a:r>
              </a:p>
            </p:txBody>
          </p:sp>
          <p:sp>
            <p:nvSpPr>
              <p:cNvPr id="16" name="Curved Down Arrow 7">
                <a:extLst>
                  <a:ext uri="{FF2B5EF4-FFF2-40B4-BE49-F238E27FC236}">
                    <a16:creationId xmlns:a16="http://schemas.microsoft.com/office/drawing/2014/main" id="{CF51EBC9-5D44-40F8-8328-955F27DC16D0}"/>
                  </a:ext>
                </a:extLst>
              </p:cNvPr>
              <p:cNvSpPr/>
              <p:nvPr/>
            </p:nvSpPr>
            <p:spPr>
              <a:xfrm>
                <a:off x="5105400" y="2186940"/>
                <a:ext cx="1676400" cy="632460"/>
              </a:xfrm>
              <a:prstGeom prst="curved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tx1"/>
                  </a:solidFill>
                </a:endParaRPr>
              </a:p>
            </p:txBody>
          </p:sp>
          <p:sp>
            <p:nvSpPr>
              <p:cNvPr id="17" name="Pentagon 8">
                <a:extLst>
                  <a:ext uri="{FF2B5EF4-FFF2-40B4-BE49-F238E27FC236}">
                    <a16:creationId xmlns:a16="http://schemas.microsoft.com/office/drawing/2014/main" id="{C6235058-B112-447B-8801-77A5BF194F43}"/>
                  </a:ext>
                </a:extLst>
              </p:cNvPr>
              <p:cNvSpPr/>
              <p:nvPr/>
            </p:nvSpPr>
            <p:spPr>
              <a:xfrm>
                <a:off x="3729898" y="2895600"/>
                <a:ext cx="1676400" cy="762000"/>
              </a:xfrm>
              <a:prstGeom prst="homePlat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latin typeface="Segoe UI" panose="020B0502040204020203" pitchFamily="34" charset="0"/>
                    <a:ea typeface="Segoe UI" panose="020B0502040204020203" pitchFamily="34" charset="0"/>
                    <a:cs typeface="Segoe UI" panose="020B0502040204020203" pitchFamily="34" charset="0"/>
                  </a:rPr>
                  <a:t>Planning Processes</a:t>
                </a:r>
              </a:p>
            </p:txBody>
          </p:sp>
          <p:sp>
            <p:nvSpPr>
              <p:cNvPr id="18" name="Pentagon 9">
                <a:extLst>
                  <a:ext uri="{FF2B5EF4-FFF2-40B4-BE49-F238E27FC236}">
                    <a16:creationId xmlns:a16="http://schemas.microsoft.com/office/drawing/2014/main" id="{DE2C4DC8-976A-4A8D-B149-9420206C7634}"/>
                  </a:ext>
                </a:extLst>
              </p:cNvPr>
              <p:cNvSpPr/>
              <p:nvPr/>
            </p:nvSpPr>
            <p:spPr>
              <a:xfrm>
                <a:off x="6629400" y="2819400"/>
                <a:ext cx="1676400" cy="762000"/>
              </a:xfrm>
              <a:prstGeom prst="homePlat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latin typeface="Segoe UI" panose="020B0502040204020203" pitchFamily="34" charset="0"/>
                    <a:ea typeface="Segoe UI" panose="020B0502040204020203" pitchFamily="34" charset="0"/>
                    <a:cs typeface="Segoe UI" panose="020B0502040204020203" pitchFamily="34" charset="0"/>
                  </a:rPr>
                  <a:t>Executing Processes</a:t>
                </a:r>
              </a:p>
            </p:txBody>
          </p:sp>
          <p:sp>
            <p:nvSpPr>
              <p:cNvPr id="19" name="Pentagon 10">
                <a:extLst>
                  <a:ext uri="{FF2B5EF4-FFF2-40B4-BE49-F238E27FC236}">
                    <a16:creationId xmlns:a16="http://schemas.microsoft.com/office/drawing/2014/main" id="{8616F0D4-F5B2-497B-828F-D4DBB8D3A9F1}"/>
                  </a:ext>
                </a:extLst>
              </p:cNvPr>
              <p:cNvSpPr/>
              <p:nvPr/>
            </p:nvSpPr>
            <p:spPr>
              <a:xfrm>
                <a:off x="8382000" y="2819400"/>
                <a:ext cx="1676400" cy="762000"/>
              </a:xfrm>
              <a:prstGeom prst="homePlat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latin typeface="Segoe UI" panose="020B0502040204020203" pitchFamily="34" charset="0"/>
                    <a:ea typeface="Segoe UI" panose="020B0502040204020203" pitchFamily="34" charset="0"/>
                    <a:cs typeface="Segoe UI" panose="020B0502040204020203" pitchFamily="34" charset="0"/>
                  </a:rPr>
                  <a:t>Closing Processes</a:t>
                </a:r>
              </a:p>
            </p:txBody>
          </p:sp>
          <p:sp>
            <p:nvSpPr>
              <p:cNvPr id="20" name="Rectangle 19">
                <a:extLst>
                  <a:ext uri="{FF2B5EF4-FFF2-40B4-BE49-F238E27FC236}">
                    <a16:creationId xmlns:a16="http://schemas.microsoft.com/office/drawing/2014/main" id="{70B8067D-CB42-4629-AE0B-A9FCF65A5F0E}"/>
                  </a:ext>
                </a:extLst>
              </p:cNvPr>
              <p:cNvSpPr/>
              <p:nvPr/>
            </p:nvSpPr>
            <p:spPr>
              <a:xfrm>
                <a:off x="4038600" y="1629636"/>
                <a:ext cx="5105400" cy="358551"/>
              </a:xfrm>
              <a:prstGeom prst="rect">
                <a:avLst/>
              </a:prstGeom>
            </p:spPr>
            <p:txBody>
              <a:bodyPr wrap="square">
                <a:spAutoFit/>
              </a:bodyPr>
              <a:lstStyle/>
              <a:p>
                <a:r>
                  <a:rPr lang="en-US" b="1" dirty="0">
                    <a:solidFill>
                      <a:srgbClr val="017EB8"/>
                    </a:solidFill>
                    <a:latin typeface="Segoe UI" panose="020B0502040204020203" pitchFamily="34" charset="0"/>
                    <a:ea typeface="Segoe UI" panose="020B0502040204020203" pitchFamily="34" charset="0"/>
                    <a:cs typeface="Segoe UI" panose="020B0502040204020203" pitchFamily="34" charset="0"/>
                  </a:rPr>
                  <a:t>Monitoring and Controlling Processes</a:t>
                </a:r>
              </a:p>
            </p:txBody>
          </p:sp>
        </p:grpSp>
        <p:sp>
          <p:nvSpPr>
            <p:cNvPr id="21" name="Curved Down Arrow 7">
              <a:extLst>
                <a:ext uri="{FF2B5EF4-FFF2-40B4-BE49-F238E27FC236}">
                  <a16:creationId xmlns:a16="http://schemas.microsoft.com/office/drawing/2014/main" id="{D63B4BB4-32FC-421D-8862-678B9E16C117}"/>
                </a:ext>
              </a:extLst>
            </p:cNvPr>
            <p:cNvSpPr/>
            <p:nvPr/>
          </p:nvSpPr>
          <p:spPr>
            <a:xfrm rot="10800000">
              <a:off x="5252799" y="3910630"/>
              <a:ext cx="1308549" cy="403195"/>
            </a:xfrm>
            <a:prstGeom prst="curved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solidFill>
                  <a:schemeClr val="tx1"/>
                </a:solidFill>
              </a:endParaRPr>
            </a:p>
          </p:txBody>
        </p:sp>
      </p:grpSp>
      <p:sp>
        <p:nvSpPr>
          <p:cNvPr id="24" name="TextBox 23">
            <a:extLst>
              <a:ext uri="{FF2B5EF4-FFF2-40B4-BE49-F238E27FC236}">
                <a16:creationId xmlns:a16="http://schemas.microsoft.com/office/drawing/2014/main" id="{EABDCDA8-E742-4DB1-B8AA-394EDEE6FEDB}"/>
              </a:ext>
            </a:extLst>
          </p:cNvPr>
          <p:cNvSpPr txBox="1"/>
          <p:nvPr/>
        </p:nvSpPr>
        <p:spPr>
          <a:xfrm>
            <a:off x="1229988" y="1232288"/>
            <a:ext cx="9732024" cy="369332"/>
          </a:xfrm>
          <a:prstGeom prst="rect">
            <a:avLst/>
          </a:prstGeom>
          <a:noFill/>
        </p:spPr>
        <p:txBody>
          <a:bodyPr wrap="square">
            <a:spAutoFit/>
          </a:bodyPr>
          <a:lstStyle/>
          <a:p>
            <a:r>
              <a:rPr lang="uk-UA" dirty="0">
                <a:latin typeface="Segoe UI Variable Text Semibold" pitchFamily="2" charset="0"/>
              </a:rPr>
              <a:t>— це сукупність загалом послідовних і подекуди взаємоповторюваних етапів проєкту.</a:t>
            </a:r>
            <a:endParaRPr lang="en-US" dirty="0">
              <a:latin typeface="Segoe UI Variable Text Semibold" pitchFamily="2" charset="0"/>
            </a:endParaRPr>
          </a:p>
        </p:txBody>
      </p:sp>
    </p:spTree>
    <p:extLst>
      <p:ext uri="{BB962C8B-B14F-4D97-AF65-F5344CB8AC3E}">
        <p14:creationId xmlns:p14="http://schemas.microsoft.com/office/powerpoint/2010/main" val="5271391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C1A81A5-6770-4515-89F2-A2369B320C8B}"/>
              </a:ext>
            </a:extLst>
          </p:cNvPr>
          <p:cNvSpPr>
            <a:spLocks noGrp="1"/>
          </p:cNvSpPr>
          <p:nvPr>
            <p:ph type="title"/>
          </p:nvPr>
        </p:nvSpPr>
        <p:spPr>
          <a:xfrm>
            <a:off x="685800" y="685801"/>
            <a:ext cx="10820400" cy="685800"/>
          </a:xfrm>
        </p:spPr>
        <p:txBody>
          <a:bodyPr>
            <a:normAutofit/>
          </a:bodyPr>
          <a:lstStyle/>
          <a:p>
            <a:r>
              <a:rPr lang="uk-UA" sz="3600" dirty="0">
                <a:latin typeface="Segoe UI Variable Text Semibold" pitchFamily="2" charset="0"/>
              </a:rPr>
              <a:t>ЕТАПИ СТВОРЕННЯ ПРОДУКТУ</a:t>
            </a:r>
            <a:endParaRPr lang="en-US" sz="3600" dirty="0">
              <a:latin typeface="Segoe UI Variable Text Semibold" pitchFamily="2" charset="0"/>
            </a:endParaRPr>
          </a:p>
        </p:txBody>
      </p:sp>
      <p:sp>
        <p:nvSpPr>
          <p:cNvPr id="6" name="Arrow: Notched Right 5">
            <a:extLst>
              <a:ext uri="{FF2B5EF4-FFF2-40B4-BE49-F238E27FC236}">
                <a16:creationId xmlns:a16="http://schemas.microsoft.com/office/drawing/2014/main" id="{571FB37E-0FCF-4C08-9186-D3D90D16389A}"/>
              </a:ext>
            </a:extLst>
          </p:cNvPr>
          <p:cNvSpPr/>
          <p:nvPr/>
        </p:nvSpPr>
        <p:spPr>
          <a:xfrm>
            <a:off x="589622" y="2616138"/>
            <a:ext cx="2104011" cy="1625723"/>
          </a:xfrm>
          <a:prstGeom prst="notch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dirty="0"/>
              <a:t>Understanding and defining needs</a:t>
            </a:r>
          </a:p>
        </p:txBody>
      </p:sp>
      <p:sp>
        <p:nvSpPr>
          <p:cNvPr id="7" name="Arrow: Notched Right 6">
            <a:extLst>
              <a:ext uri="{FF2B5EF4-FFF2-40B4-BE49-F238E27FC236}">
                <a16:creationId xmlns:a16="http://schemas.microsoft.com/office/drawing/2014/main" id="{CA32E343-ECBB-4645-95D9-A9C5B5A8A3FD}"/>
              </a:ext>
            </a:extLst>
          </p:cNvPr>
          <p:cNvSpPr/>
          <p:nvPr/>
        </p:nvSpPr>
        <p:spPr>
          <a:xfrm>
            <a:off x="2411028" y="2612440"/>
            <a:ext cx="2007833" cy="1625723"/>
          </a:xfrm>
          <a:prstGeom prst="notched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200" dirty="0"/>
              <a:t>Identification of requirements</a:t>
            </a:r>
          </a:p>
        </p:txBody>
      </p:sp>
      <p:sp>
        <p:nvSpPr>
          <p:cNvPr id="8" name="Arrow: Notched Right 7">
            <a:extLst>
              <a:ext uri="{FF2B5EF4-FFF2-40B4-BE49-F238E27FC236}">
                <a16:creationId xmlns:a16="http://schemas.microsoft.com/office/drawing/2014/main" id="{35EA9383-C3B0-41D0-A6E3-87854CE9F514}"/>
              </a:ext>
            </a:extLst>
          </p:cNvPr>
          <p:cNvSpPr/>
          <p:nvPr/>
        </p:nvSpPr>
        <p:spPr>
          <a:xfrm>
            <a:off x="4136256" y="2608742"/>
            <a:ext cx="2007833" cy="1625723"/>
          </a:xfrm>
          <a:prstGeom prst="notched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200" dirty="0"/>
              <a:t>Designing</a:t>
            </a:r>
          </a:p>
        </p:txBody>
      </p:sp>
      <p:sp>
        <p:nvSpPr>
          <p:cNvPr id="9" name="Arrow: Notched Right 8">
            <a:extLst>
              <a:ext uri="{FF2B5EF4-FFF2-40B4-BE49-F238E27FC236}">
                <a16:creationId xmlns:a16="http://schemas.microsoft.com/office/drawing/2014/main" id="{7800217D-DBFE-4C15-B89E-EAB3117785E7}"/>
              </a:ext>
            </a:extLst>
          </p:cNvPr>
          <p:cNvSpPr/>
          <p:nvPr/>
        </p:nvSpPr>
        <p:spPr>
          <a:xfrm>
            <a:off x="5861484" y="2605044"/>
            <a:ext cx="2007833" cy="1625723"/>
          </a:xfrm>
          <a:prstGeom prst="notched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200" dirty="0"/>
              <a:t>Programming</a:t>
            </a:r>
          </a:p>
        </p:txBody>
      </p:sp>
      <p:sp>
        <p:nvSpPr>
          <p:cNvPr id="10" name="Arrow: Notched Right 9">
            <a:extLst>
              <a:ext uri="{FF2B5EF4-FFF2-40B4-BE49-F238E27FC236}">
                <a16:creationId xmlns:a16="http://schemas.microsoft.com/office/drawing/2014/main" id="{8CE02B2C-5FD9-4B79-B363-B9B77B87CA9B}"/>
              </a:ext>
            </a:extLst>
          </p:cNvPr>
          <p:cNvSpPr/>
          <p:nvPr/>
        </p:nvSpPr>
        <p:spPr>
          <a:xfrm>
            <a:off x="7586712" y="2601346"/>
            <a:ext cx="2007833" cy="1625723"/>
          </a:xfrm>
          <a:prstGeom prst="notched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Testing</a:t>
            </a:r>
          </a:p>
        </p:txBody>
      </p:sp>
      <p:sp>
        <p:nvSpPr>
          <p:cNvPr id="11" name="Arrow: Notched Right 10">
            <a:extLst>
              <a:ext uri="{FF2B5EF4-FFF2-40B4-BE49-F238E27FC236}">
                <a16:creationId xmlns:a16="http://schemas.microsoft.com/office/drawing/2014/main" id="{4FE9C311-A7CB-4199-A746-6572E32D1D50}"/>
              </a:ext>
            </a:extLst>
          </p:cNvPr>
          <p:cNvSpPr/>
          <p:nvPr/>
        </p:nvSpPr>
        <p:spPr>
          <a:xfrm>
            <a:off x="9311940" y="2597648"/>
            <a:ext cx="2290438" cy="1625723"/>
          </a:xfrm>
          <a:prstGeom prst="notched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200" dirty="0"/>
              <a:t>Acceptance and implementation</a:t>
            </a:r>
          </a:p>
        </p:txBody>
      </p:sp>
    </p:spTree>
    <p:extLst>
      <p:ext uri="{BB962C8B-B14F-4D97-AF65-F5344CB8AC3E}">
        <p14:creationId xmlns:p14="http://schemas.microsoft.com/office/powerpoint/2010/main" val="1707193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6985077-7D6F-4D9F-A8CE-0AF1048A2BDA}"/>
              </a:ext>
            </a:extLst>
          </p:cNvPr>
          <p:cNvSpPr>
            <a:spLocks noGrp="1"/>
          </p:cNvSpPr>
          <p:nvPr>
            <p:ph type="title"/>
          </p:nvPr>
        </p:nvSpPr>
        <p:spPr>
          <a:xfrm>
            <a:off x="685800" y="577515"/>
            <a:ext cx="10820400" cy="685800"/>
          </a:xfrm>
        </p:spPr>
        <p:txBody>
          <a:bodyPr>
            <a:normAutofit/>
          </a:bodyPr>
          <a:lstStyle/>
          <a:p>
            <a:r>
              <a:rPr lang="en-US" sz="3600" dirty="0">
                <a:latin typeface="Segoe UI Variable Text Semibold" pitchFamily="2" charset="0"/>
              </a:rPr>
              <a:t>SOFTWARE DEVELOPMENT LIFE CYCLE</a:t>
            </a:r>
            <a:endParaRPr lang="uk-UA" sz="3600" dirty="0">
              <a:latin typeface="Segoe UI Variable Text Semibold" pitchFamily="2" charset="0"/>
            </a:endParaRPr>
          </a:p>
        </p:txBody>
      </p:sp>
      <p:pic>
        <p:nvPicPr>
          <p:cNvPr id="5" name="Picture 4" descr="7 best software development methodologies: Pros and Cons | DDI Development">
            <a:extLst>
              <a:ext uri="{FF2B5EF4-FFF2-40B4-BE49-F238E27FC236}">
                <a16:creationId xmlns:a16="http://schemas.microsoft.com/office/drawing/2014/main" id="{9223A62D-D9B8-4151-ADD6-B2E2C0451A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60357"/>
            <a:ext cx="4404911" cy="422308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5013363-DE39-4B15-82FA-6538C647B1FE}"/>
              </a:ext>
            </a:extLst>
          </p:cNvPr>
          <p:cNvSpPr txBox="1"/>
          <p:nvPr/>
        </p:nvSpPr>
        <p:spPr>
          <a:xfrm>
            <a:off x="5730241" y="2297937"/>
            <a:ext cx="5892266" cy="2947923"/>
          </a:xfrm>
          <a:prstGeom prst="rect">
            <a:avLst/>
          </a:prstGeom>
          <a:noFill/>
        </p:spPr>
        <p:txBody>
          <a:bodyPr wrap="square">
            <a:spAutoFit/>
          </a:bodyPr>
          <a:lstStyle/>
          <a:p>
            <a:pPr>
              <a:lnSpc>
                <a:spcPct val="114000"/>
              </a:lnSpc>
            </a:pPr>
            <a:r>
              <a:rPr lang="ru-RU" sz="2000" b="1" i="0" dirty="0" err="1">
                <a:effectLst/>
                <a:latin typeface="+mn-lt"/>
              </a:rPr>
              <a:t>Методологія</a:t>
            </a:r>
            <a:r>
              <a:rPr lang="ru-RU" sz="2000" b="1" i="0" dirty="0">
                <a:effectLst/>
                <a:latin typeface="+mn-lt"/>
              </a:rPr>
              <a:t> </a:t>
            </a:r>
            <a:r>
              <a:rPr lang="ru-RU" sz="2000" b="1" i="0" dirty="0" err="1">
                <a:effectLst/>
                <a:latin typeface="+mn-lt"/>
              </a:rPr>
              <a:t>розробки</a:t>
            </a:r>
            <a:r>
              <a:rPr lang="ru-RU" sz="2000" b="1" i="0" dirty="0">
                <a:effectLst/>
                <a:latin typeface="+mn-lt"/>
              </a:rPr>
              <a:t> </a:t>
            </a:r>
            <a:r>
              <a:rPr lang="ru-RU" sz="2000" b="1" i="0" dirty="0" err="1">
                <a:effectLst/>
                <a:latin typeface="+mn-lt"/>
              </a:rPr>
              <a:t>програмного</a:t>
            </a:r>
            <a:r>
              <a:rPr lang="ru-RU" sz="2000" b="1" i="0" dirty="0">
                <a:effectLst/>
                <a:latin typeface="+mn-lt"/>
              </a:rPr>
              <a:t> </a:t>
            </a:r>
            <a:r>
              <a:rPr lang="ru-RU" sz="2000" b="1" i="0" dirty="0" err="1">
                <a:effectLst/>
                <a:latin typeface="+mn-lt"/>
              </a:rPr>
              <a:t>забезпечення</a:t>
            </a:r>
            <a:r>
              <a:rPr lang="en-US" sz="2000" b="0" i="0" dirty="0">
                <a:effectLst/>
                <a:latin typeface="+mn-lt"/>
              </a:rPr>
              <a:t> — </a:t>
            </a:r>
            <a:endParaRPr lang="uk-UA" sz="2000" b="0" i="0" dirty="0">
              <a:effectLst/>
              <a:latin typeface="+mn-lt"/>
            </a:endParaRPr>
          </a:p>
          <a:p>
            <a:pPr>
              <a:lnSpc>
                <a:spcPct val="114000"/>
              </a:lnSpc>
            </a:pPr>
            <a:r>
              <a:rPr lang="ru-RU" sz="2000" b="0" i="0" dirty="0" err="1">
                <a:effectLst/>
                <a:latin typeface="+mn-lt"/>
              </a:rPr>
              <a:t>сукупність</a:t>
            </a:r>
            <a:r>
              <a:rPr lang="ru-RU" sz="2000" b="0" i="0" dirty="0">
                <a:effectLst/>
                <a:latin typeface="+mn-lt"/>
              </a:rPr>
              <a:t> </a:t>
            </a:r>
            <a:r>
              <a:rPr lang="ru-RU" sz="2000" b="0" i="0" dirty="0" err="1">
                <a:effectLst/>
                <a:latin typeface="+mn-lt"/>
              </a:rPr>
              <a:t>методів</a:t>
            </a:r>
            <a:r>
              <a:rPr lang="ru-RU" sz="2000" b="0" i="0" dirty="0">
                <a:effectLst/>
                <a:latin typeface="+mn-lt"/>
              </a:rPr>
              <a:t>, </a:t>
            </a:r>
            <a:r>
              <a:rPr lang="ru-RU" sz="2000" b="0" i="0" dirty="0" err="1">
                <a:effectLst/>
                <a:latin typeface="+mn-lt"/>
              </a:rPr>
              <a:t>застосовуваних</a:t>
            </a:r>
            <a:r>
              <a:rPr lang="ru-RU" sz="2000" b="0" i="0" dirty="0">
                <a:effectLst/>
                <a:latin typeface="+mn-lt"/>
              </a:rPr>
              <a:t> на </a:t>
            </a:r>
            <a:r>
              <a:rPr lang="ru-RU" sz="2000" b="0" i="0" dirty="0" err="1">
                <a:effectLst/>
                <a:latin typeface="+mn-lt"/>
              </a:rPr>
              <a:t>різних</a:t>
            </a:r>
            <a:r>
              <a:rPr lang="ru-RU" sz="2000" b="0" i="0" dirty="0">
                <a:effectLst/>
                <a:latin typeface="+mn-lt"/>
              </a:rPr>
              <a:t> </a:t>
            </a:r>
            <a:r>
              <a:rPr lang="ru-RU" sz="2000" b="0" i="0" dirty="0" err="1">
                <a:effectLst/>
                <a:latin typeface="+mn-lt"/>
              </a:rPr>
              <a:t>стадіях</a:t>
            </a:r>
            <a:r>
              <a:rPr lang="ru-RU" sz="2000" dirty="0">
                <a:latin typeface="+mn-lt"/>
              </a:rPr>
              <a:t> </a:t>
            </a:r>
            <a:r>
              <a:rPr lang="ru-RU" sz="2000" dirty="0" err="1">
                <a:latin typeface="+mn-lt"/>
              </a:rPr>
              <a:t>життєвого</a:t>
            </a:r>
            <a:r>
              <a:rPr lang="ru-RU" sz="2000" dirty="0">
                <a:latin typeface="+mn-lt"/>
              </a:rPr>
              <a:t> циклу </a:t>
            </a:r>
            <a:r>
              <a:rPr lang="ru-RU" sz="2000" dirty="0" err="1">
                <a:latin typeface="+mn-lt"/>
              </a:rPr>
              <a:t>розробки</a:t>
            </a:r>
            <a:r>
              <a:rPr lang="ru-RU" sz="2000" dirty="0">
                <a:latin typeface="+mn-lt"/>
              </a:rPr>
              <a:t> </a:t>
            </a:r>
            <a:r>
              <a:rPr lang="ru-RU" sz="2000" dirty="0" err="1">
                <a:latin typeface="+mn-lt"/>
              </a:rPr>
              <a:t>програмного</a:t>
            </a:r>
            <a:r>
              <a:rPr lang="ru-RU" sz="2000" dirty="0">
                <a:latin typeface="+mn-lt"/>
              </a:rPr>
              <a:t> </a:t>
            </a:r>
            <a:r>
              <a:rPr lang="ru-RU" sz="2000" dirty="0" err="1">
                <a:latin typeface="+mn-lt"/>
              </a:rPr>
              <a:t>забезпечення</a:t>
            </a:r>
            <a:r>
              <a:rPr lang="ru-RU" sz="2000" b="0" i="0" dirty="0">
                <a:effectLst/>
                <a:latin typeface="+mn-lt"/>
              </a:rPr>
              <a:t>, </a:t>
            </a:r>
            <a:r>
              <a:rPr lang="ru-RU" sz="2000" b="0" i="0" dirty="0" err="1">
                <a:effectLst/>
                <a:latin typeface="+mn-lt"/>
              </a:rPr>
              <a:t>що</a:t>
            </a:r>
            <a:r>
              <a:rPr lang="ru-RU" sz="2000" b="0" i="0" dirty="0">
                <a:effectLst/>
                <a:latin typeface="+mn-lt"/>
              </a:rPr>
              <a:t> </a:t>
            </a:r>
            <a:r>
              <a:rPr lang="ru-RU" sz="2000" b="0" i="0" dirty="0" err="1">
                <a:effectLst/>
                <a:latin typeface="+mn-lt"/>
              </a:rPr>
              <a:t>мають</a:t>
            </a:r>
            <a:r>
              <a:rPr lang="ru-RU" sz="2000" b="0" i="0" dirty="0">
                <a:effectLst/>
                <a:latin typeface="+mn-lt"/>
              </a:rPr>
              <a:t> </a:t>
            </a:r>
            <a:r>
              <a:rPr lang="ru-RU" sz="2000" b="0" i="0" dirty="0" err="1">
                <a:effectLst/>
                <a:latin typeface="+mn-lt"/>
              </a:rPr>
              <a:t>спільний</a:t>
            </a:r>
            <a:r>
              <a:rPr lang="ru-RU" sz="2000" b="0" i="0" dirty="0">
                <a:effectLst/>
                <a:latin typeface="+mn-lt"/>
              </a:rPr>
              <a:t> </a:t>
            </a:r>
            <a:r>
              <a:rPr lang="ru-RU" sz="2000" b="0" i="0" dirty="0" err="1">
                <a:effectLst/>
                <a:latin typeface="+mn-lt"/>
              </a:rPr>
              <a:t>філософський</a:t>
            </a:r>
            <a:r>
              <a:rPr lang="ru-RU" sz="2000" b="0" i="0" dirty="0">
                <a:effectLst/>
                <a:latin typeface="+mn-lt"/>
              </a:rPr>
              <a:t> </a:t>
            </a:r>
            <a:r>
              <a:rPr lang="ru-RU" sz="2000" b="0" i="0" dirty="0" err="1">
                <a:effectLst/>
                <a:latin typeface="+mn-lt"/>
              </a:rPr>
              <a:t>підхід</a:t>
            </a:r>
            <a:r>
              <a:rPr lang="ru-RU" sz="2000" b="0" i="0" dirty="0">
                <a:effectLst/>
                <a:latin typeface="+mn-lt"/>
              </a:rPr>
              <a:t> та, </a:t>
            </a:r>
            <a:r>
              <a:rPr lang="ru-RU" sz="2000" b="0" i="0" dirty="0" err="1">
                <a:effectLst/>
                <a:latin typeface="+mn-lt"/>
              </a:rPr>
              <a:t>відповідно</a:t>
            </a:r>
            <a:r>
              <a:rPr lang="ru-RU" sz="2000" b="0" i="0" dirty="0">
                <a:effectLst/>
                <a:latin typeface="+mn-lt"/>
              </a:rPr>
              <a:t> до </a:t>
            </a:r>
            <a:r>
              <a:rPr lang="ru-RU" sz="2000" b="0" i="0" dirty="0" err="1">
                <a:effectLst/>
                <a:latin typeface="+mn-lt"/>
              </a:rPr>
              <a:t>цього</a:t>
            </a:r>
            <a:r>
              <a:rPr lang="ru-RU" sz="2000" b="0" i="0" dirty="0">
                <a:effectLst/>
                <a:latin typeface="+mn-lt"/>
              </a:rPr>
              <a:t> </a:t>
            </a:r>
            <a:r>
              <a:rPr lang="ru-RU" sz="2000" b="0" i="0" dirty="0" err="1">
                <a:effectLst/>
                <a:latin typeface="+mn-lt"/>
              </a:rPr>
              <a:t>підходу</a:t>
            </a:r>
            <a:r>
              <a:rPr lang="ru-RU" sz="2000" b="0" i="0" dirty="0">
                <a:effectLst/>
                <a:latin typeface="+mn-lt"/>
              </a:rPr>
              <a:t>, </a:t>
            </a:r>
            <a:r>
              <a:rPr lang="ru-RU" sz="2000" b="0" i="0" dirty="0" err="1">
                <a:effectLst/>
                <a:latin typeface="+mn-lt"/>
              </a:rPr>
              <a:t>дозволяють</a:t>
            </a:r>
            <a:r>
              <a:rPr lang="ru-RU" sz="2000" b="0" i="0" dirty="0">
                <a:effectLst/>
                <a:latin typeface="+mn-lt"/>
              </a:rPr>
              <a:t> </a:t>
            </a:r>
            <a:r>
              <a:rPr lang="ru-RU" sz="2000" b="0" i="0" dirty="0" err="1">
                <a:effectLst/>
                <a:latin typeface="+mn-lt"/>
              </a:rPr>
              <a:t>забезпечити</a:t>
            </a:r>
            <a:r>
              <a:rPr lang="ru-RU" sz="2000" b="0" i="0" dirty="0">
                <a:effectLst/>
                <a:latin typeface="+mn-lt"/>
              </a:rPr>
              <a:t> </a:t>
            </a:r>
            <a:r>
              <a:rPr lang="ru-RU" sz="2000" b="0" i="0" dirty="0" err="1">
                <a:effectLst/>
                <a:latin typeface="+mn-lt"/>
              </a:rPr>
              <a:t>найкращу</a:t>
            </a:r>
            <a:r>
              <a:rPr lang="ru-RU" sz="2000" b="0" i="0" dirty="0">
                <a:effectLst/>
                <a:latin typeface="+mn-lt"/>
              </a:rPr>
              <a:t> </a:t>
            </a:r>
            <a:r>
              <a:rPr lang="ru-RU" sz="2000" b="0" i="0" dirty="0" err="1">
                <a:effectLst/>
                <a:latin typeface="+mn-lt"/>
              </a:rPr>
              <a:t>ефективність</a:t>
            </a:r>
            <a:r>
              <a:rPr lang="ru-RU" sz="2000" b="0" i="0" dirty="0">
                <a:effectLst/>
                <a:latin typeface="+mn-lt"/>
              </a:rPr>
              <a:t> </a:t>
            </a:r>
            <a:r>
              <a:rPr lang="ru-RU" sz="2000" b="0" i="0" dirty="0" err="1">
                <a:effectLst/>
                <a:latin typeface="+mn-lt"/>
              </a:rPr>
              <a:t>процесів</a:t>
            </a:r>
            <a:r>
              <a:rPr lang="ru-RU" sz="2000" b="0" i="0" dirty="0">
                <a:effectLst/>
                <a:latin typeface="+mn-lt"/>
              </a:rPr>
              <a:t> </a:t>
            </a:r>
            <a:r>
              <a:rPr lang="ru-RU" sz="2000" b="0" i="0" dirty="0" err="1">
                <a:effectLst/>
                <a:latin typeface="+mn-lt"/>
              </a:rPr>
              <a:t>розробки</a:t>
            </a:r>
            <a:r>
              <a:rPr lang="ru-RU" sz="2000" b="0" i="0" dirty="0">
                <a:effectLst/>
                <a:latin typeface="+mn-lt"/>
              </a:rPr>
              <a:t>.</a:t>
            </a:r>
            <a:endParaRPr lang="en-US" sz="2000" dirty="0">
              <a:latin typeface="+mn-lt"/>
            </a:endParaRPr>
          </a:p>
        </p:txBody>
      </p:sp>
    </p:spTree>
    <p:extLst>
      <p:ext uri="{BB962C8B-B14F-4D97-AF65-F5344CB8AC3E}">
        <p14:creationId xmlns:p14="http://schemas.microsoft.com/office/powerpoint/2010/main" val="3542280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420BF30-9B89-4B5B-9030-7E0FC49758BC}"/>
              </a:ext>
            </a:extLst>
          </p:cNvPr>
          <p:cNvSpPr>
            <a:spLocks noGrp="1"/>
          </p:cNvSpPr>
          <p:nvPr>
            <p:ph type="title"/>
          </p:nvPr>
        </p:nvSpPr>
        <p:spPr>
          <a:xfrm>
            <a:off x="685800" y="685801"/>
            <a:ext cx="10820400" cy="685800"/>
          </a:xfrm>
        </p:spPr>
        <p:txBody>
          <a:bodyPr>
            <a:normAutofit/>
          </a:bodyPr>
          <a:lstStyle/>
          <a:p>
            <a:r>
              <a:rPr lang="en-US" sz="3600" dirty="0">
                <a:latin typeface="Segoe UI Variable Text Semibold" pitchFamily="2" charset="0"/>
              </a:rPr>
              <a:t>SOFTWARE DEVELOPMENT METHODOLOGY</a:t>
            </a:r>
          </a:p>
        </p:txBody>
      </p:sp>
      <p:sp>
        <p:nvSpPr>
          <p:cNvPr id="5" name="Text Placeholder 2">
            <a:extLst>
              <a:ext uri="{FF2B5EF4-FFF2-40B4-BE49-F238E27FC236}">
                <a16:creationId xmlns:a16="http://schemas.microsoft.com/office/drawing/2014/main" id="{D8925939-E4EA-4E93-9CF4-CACDB5FA1268}"/>
              </a:ext>
            </a:extLst>
          </p:cNvPr>
          <p:cNvSpPr txBox="1">
            <a:spLocks/>
          </p:cNvSpPr>
          <p:nvPr/>
        </p:nvSpPr>
        <p:spPr>
          <a:xfrm>
            <a:off x="685800" y="1590040"/>
            <a:ext cx="10820400" cy="34290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solidFill>
                  <a:schemeClr val="tx1"/>
                </a:solidFill>
                <a:effectLst>
                  <a:outerShdw blurRad="38100" dist="38100" dir="2700000" algn="tl">
                    <a:srgbClr val="000000">
                      <a:alpha val="43137"/>
                    </a:srgbClr>
                  </a:outerShdw>
                </a:effectLst>
              </a:rPr>
              <a:t>SOFTWARE DEVELOPMENT METHODOLOGY </a:t>
            </a:r>
            <a:r>
              <a:rPr lang="uk-UA" sz="2000" dirty="0">
                <a:solidFill>
                  <a:schemeClr val="tx1"/>
                </a:solidFill>
              </a:rPr>
              <a:t>це сукупність методів, що застосовуються на різних етапах життєвого циклу програмного забезпечення та мають спільний філософський підхід</a:t>
            </a:r>
            <a:r>
              <a:rPr lang="en-US" sz="2000" dirty="0">
                <a:solidFill>
                  <a:schemeClr val="tx1"/>
                </a:solidFill>
              </a:rPr>
              <a:t>.</a:t>
            </a:r>
          </a:p>
          <a:p>
            <a:r>
              <a:rPr lang="ru-RU" sz="2000" dirty="0">
                <a:solidFill>
                  <a:schemeClr val="tx1"/>
                </a:solidFill>
              </a:rPr>
              <a:t>Загалом, методологія — це спосіб організації етапів розробки та набір методів і підходів до роботи на кожному з них</a:t>
            </a:r>
            <a:r>
              <a:rPr lang="en-US" sz="2000" dirty="0">
                <a:solidFill>
                  <a:schemeClr val="tx1"/>
                </a:solidFill>
              </a:rPr>
              <a:t>.</a:t>
            </a:r>
          </a:p>
          <a:p>
            <a:endParaRPr lang="en-US" sz="2000" dirty="0">
              <a:solidFill>
                <a:schemeClr val="tx1"/>
              </a:solidFill>
            </a:endParaRPr>
          </a:p>
          <a:p>
            <a:r>
              <a:rPr lang="en-US" sz="2000" b="1" dirty="0">
                <a:solidFill>
                  <a:schemeClr val="tx1"/>
                </a:solidFill>
                <a:effectLst>
                  <a:outerShdw blurRad="38100" dist="38100" dir="2700000" algn="tl">
                    <a:srgbClr val="000000">
                      <a:alpha val="43137"/>
                    </a:srgbClr>
                  </a:outerShdw>
                </a:effectLst>
              </a:rPr>
              <a:t>SOFTWARE DEVELOPMENT METHODOLOGY:</a:t>
            </a:r>
            <a:endParaRPr lang="en-US" sz="2000" dirty="0">
              <a:solidFill>
                <a:schemeClr val="tx1"/>
              </a:solidFill>
            </a:endParaRPr>
          </a:p>
          <a:p>
            <a:pPr marL="342900" indent="-342900">
              <a:buFont typeface="Wingdings" panose="05000000000000000000" pitchFamily="2" charset="2"/>
              <a:buChar char="ü"/>
            </a:pPr>
            <a:r>
              <a:rPr lang="en-US" sz="2000" dirty="0">
                <a:solidFill>
                  <a:schemeClr val="tx1"/>
                </a:solidFill>
              </a:rPr>
              <a:t>Agile development methodology</a:t>
            </a:r>
          </a:p>
          <a:p>
            <a:pPr marL="342900" indent="-342900">
              <a:buFont typeface="Wingdings" panose="05000000000000000000" pitchFamily="2" charset="2"/>
              <a:buChar char="ü"/>
            </a:pPr>
            <a:r>
              <a:rPr lang="en-US" sz="2000" dirty="0">
                <a:solidFill>
                  <a:schemeClr val="tx1"/>
                </a:solidFill>
              </a:rPr>
              <a:t>Waterfall development methodology</a:t>
            </a:r>
          </a:p>
          <a:p>
            <a:endParaRPr lang="en-US" sz="2000" dirty="0">
              <a:solidFill>
                <a:schemeClr val="tx1"/>
              </a:solidFill>
            </a:endParaRPr>
          </a:p>
        </p:txBody>
      </p:sp>
    </p:spTree>
    <p:extLst>
      <p:ext uri="{BB962C8B-B14F-4D97-AF65-F5344CB8AC3E}">
        <p14:creationId xmlns:p14="http://schemas.microsoft.com/office/powerpoint/2010/main" val="23166150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Top software development methodologies">
            <a:extLst>
              <a:ext uri="{FF2B5EF4-FFF2-40B4-BE49-F238E27FC236}">
                <a16:creationId xmlns:a16="http://schemas.microsoft.com/office/drawing/2014/main" id="{ED4DE625-80F4-461F-B608-6FFAF10BB6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758" y="1146919"/>
            <a:ext cx="8317831" cy="5154192"/>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3F066AAC-82B3-4A6B-8AB0-3866C50722ED}"/>
              </a:ext>
            </a:extLst>
          </p:cNvPr>
          <p:cNvSpPr>
            <a:spLocks noGrp="1"/>
          </p:cNvSpPr>
          <p:nvPr>
            <p:ph type="title"/>
          </p:nvPr>
        </p:nvSpPr>
        <p:spPr>
          <a:xfrm>
            <a:off x="669758" y="320177"/>
            <a:ext cx="10820400" cy="685800"/>
          </a:xfrm>
        </p:spPr>
        <p:txBody>
          <a:bodyPr>
            <a:normAutofit/>
          </a:bodyPr>
          <a:lstStyle/>
          <a:p>
            <a:r>
              <a:rPr lang="ru-RU" sz="3600" dirty="0">
                <a:latin typeface="Segoe UI Variable Text Semibold" pitchFamily="2" charset="0"/>
              </a:rPr>
              <a:t>МЕТОДОЛОГ</a:t>
            </a:r>
            <a:r>
              <a:rPr lang="uk-UA" sz="3600" dirty="0">
                <a:latin typeface="Segoe UI Variable Text Semibold" pitchFamily="2" charset="0"/>
              </a:rPr>
              <a:t>ІЇ РОЗРОБКИ ПЗ</a:t>
            </a:r>
          </a:p>
        </p:txBody>
      </p:sp>
      <p:sp>
        <p:nvSpPr>
          <p:cNvPr id="6" name="TextBox 5">
            <a:extLst>
              <a:ext uri="{FF2B5EF4-FFF2-40B4-BE49-F238E27FC236}">
                <a16:creationId xmlns:a16="http://schemas.microsoft.com/office/drawing/2014/main" id="{59984736-3826-47ED-AE92-0A6B56DEF210}"/>
              </a:ext>
            </a:extLst>
          </p:cNvPr>
          <p:cNvSpPr txBox="1"/>
          <p:nvPr/>
        </p:nvSpPr>
        <p:spPr>
          <a:xfrm>
            <a:off x="1283368" y="6442053"/>
            <a:ext cx="8317831" cy="369332"/>
          </a:xfrm>
          <a:prstGeom prst="rect">
            <a:avLst/>
          </a:prstGeom>
          <a:noFill/>
        </p:spPr>
        <p:txBody>
          <a:bodyPr wrap="square">
            <a:spAutoFit/>
          </a:bodyPr>
          <a:lstStyle/>
          <a:p>
            <a:r>
              <a:rPr lang="en-US" i="1" dirty="0"/>
              <a:t>Best software development methodologies: Source </a:t>
            </a:r>
            <a:r>
              <a:rPr lang="en-US" i="1" dirty="0" err="1"/>
              <a:t>GoodFirms</a:t>
            </a:r>
            <a:r>
              <a:rPr lang="en-US" i="1" dirty="0"/>
              <a:t> </a:t>
            </a:r>
          </a:p>
        </p:txBody>
      </p:sp>
    </p:spTree>
    <p:extLst>
      <p:ext uri="{BB962C8B-B14F-4D97-AF65-F5344CB8AC3E}">
        <p14:creationId xmlns:p14="http://schemas.microsoft.com/office/powerpoint/2010/main" val="35842899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Каскадна модель (waterfall model) - QALight">
            <a:extLst>
              <a:ext uri="{FF2B5EF4-FFF2-40B4-BE49-F238E27FC236}">
                <a16:creationId xmlns:a16="http://schemas.microsoft.com/office/drawing/2014/main" id="{B2363CD3-E52E-4DC1-BE45-054B6A7D42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838" y="2111493"/>
            <a:ext cx="6402935" cy="418343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A2DC6FA3-D5F2-448A-A618-E049464F7EC9}"/>
              </a:ext>
            </a:extLst>
          </p:cNvPr>
          <p:cNvSpPr>
            <a:spLocks noGrp="1"/>
          </p:cNvSpPr>
          <p:nvPr>
            <p:ph type="title"/>
          </p:nvPr>
        </p:nvSpPr>
        <p:spPr>
          <a:xfrm>
            <a:off x="685800" y="685801"/>
            <a:ext cx="10820400" cy="685800"/>
          </a:xfrm>
        </p:spPr>
        <p:txBody>
          <a:bodyPr>
            <a:normAutofit/>
          </a:bodyPr>
          <a:lstStyle/>
          <a:p>
            <a:r>
              <a:rPr lang="uk-UA" sz="3600" dirty="0">
                <a:latin typeface="Segoe UI Variable Text Semibold" pitchFamily="2" charset="0"/>
              </a:rPr>
              <a:t>КАСКАДНА МОДЕЛЬ</a:t>
            </a:r>
            <a:endParaRPr lang="en-US" sz="3600" dirty="0">
              <a:latin typeface="Segoe UI Variable Text Semibold" pitchFamily="2" charset="0"/>
            </a:endParaRPr>
          </a:p>
        </p:txBody>
      </p:sp>
      <p:sp>
        <p:nvSpPr>
          <p:cNvPr id="7" name="TextBox 6">
            <a:extLst>
              <a:ext uri="{FF2B5EF4-FFF2-40B4-BE49-F238E27FC236}">
                <a16:creationId xmlns:a16="http://schemas.microsoft.com/office/drawing/2014/main" id="{3C290713-17FC-4066-970D-4FE9E40361C8}"/>
              </a:ext>
            </a:extLst>
          </p:cNvPr>
          <p:cNvSpPr txBox="1"/>
          <p:nvPr/>
        </p:nvSpPr>
        <p:spPr>
          <a:xfrm>
            <a:off x="7267403" y="2111493"/>
            <a:ext cx="4387389" cy="2308324"/>
          </a:xfrm>
          <a:prstGeom prst="rect">
            <a:avLst/>
          </a:prstGeom>
          <a:noFill/>
        </p:spPr>
        <p:txBody>
          <a:bodyPr wrap="square">
            <a:spAutoFit/>
          </a:bodyPr>
          <a:lstStyle/>
          <a:p>
            <a:r>
              <a:rPr lang="uk-UA" sz="1800" b="0" i="1" u="none" strike="noStrike" cap="none" dirty="0">
                <a:latin typeface="Calibri"/>
                <a:ea typeface="Calibri"/>
                <a:cs typeface="Calibri"/>
                <a:sym typeface="Calibri"/>
              </a:rPr>
              <a:t>Основна властивість каскадної моделі</a:t>
            </a:r>
            <a:r>
              <a:rPr lang="uk-UA" sz="1800" b="0" i="0" u="none" strike="noStrike" cap="none" dirty="0">
                <a:latin typeface="Calibri"/>
                <a:ea typeface="Calibri"/>
                <a:cs typeface="Calibri"/>
                <a:sym typeface="Calibri"/>
              </a:rPr>
              <a:t> полягає у завершенні кожного етапу до початку наступного, тобто у моделі робиться припущення, що кожна робота буде виконана настільки ретельно і вірно, що після її завершення і переходу до наступного етапу повернення до попереднього етапу не буде потрібне. </a:t>
            </a:r>
            <a:endParaRPr lang="en-US" dirty="0"/>
          </a:p>
        </p:txBody>
      </p:sp>
    </p:spTree>
    <p:extLst>
      <p:ext uri="{BB962C8B-B14F-4D97-AF65-F5344CB8AC3E}">
        <p14:creationId xmlns:p14="http://schemas.microsoft.com/office/powerpoint/2010/main" val="29666955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F3EEC1B-1463-466D-A52E-21DBC62584D0}"/>
              </a:ext>
            </a:extLst>
          </p:cNvPr>
          <p:cNvSpPr>
            <a:spLocks noGrp="1"/>
          </p:cNvSpPr>
          <p:nvPr>
            <p:ph type="title"/>
          </p:nvPr>
        </p:nvSpPr>
        <p:spPr>
          <a:xfrm>
            <a:off x="685800" y="685801"/>
            <a:ext cx="10820400" cy="685800"/>
          </a:xfrm>
        </p:spPr>
        <p:txBody>
          <a:bodyPr>
            <a:normAutofit/>
          </a:bodyPr>
          <a:lstStyle/>
          <a:p>
            <a:r>
              <a:rPr lang="uk-UA" sz="3600" dirty="0">
                <a:latin typeface="Segoe UI Variable Text Semibold" pitchFamily="2" charset="0"/>
              </a:rPr>
              <a:t>КАСКАДНА МОДЕЛЬ</a:t>
            </a:r>
            <a:endParaRPr lang="en-US" sz="3600" dirty="0">
              <a:latin typeface="Segoe UI Variable Text Semibold" pitchFamily="2" charset="0"/>
            </a:endParaRPr>
          </a:p>
        </p:txBody>
      </p:sp>
      <p:pic>
        <p:nvPicPr>
          <p:cNvPr id="5" name="Picture 2" descr="Каскадна модель (waterfall model) - QALight">
            <a:extLst>
              <a:ext uri="{FF2B5EF4-FFF2-40B4-BE49-F238E27FC236}">
                <a16:creationId xmlns:a16="http://schemas.microsoft.com/office/drawing/2014/main" id="{4EB6FC05-C5C2-4DBB-B5DD-14B41EAD0A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0791" y="427072"/>
            <a:ext cx="3120391" cy="2038743"/>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52;p20">
            <a:extLst>
              <a:ext uri="{FF2B5EF4-FFF2-40B4-BE49-F238E27FC236}">
                <a16:creationId xmlns:a16="http://schemas.microsoft.com/office/drawing/2014/main" id="{7D8593EA-C2D6-4B3E-9BFE-194147C15C0C}"/>
              </a:ext>
            </a:extLst>
          </p:cNvPr>
          <p:cNvSpPr/>
          <p:nvPr/>
        </p:nvSpPr>
        <p:spPr>
          <a:xfrm>
            <a:off x="685800" y="2352006"/>
            <a:ext cx="4608095" cy="418576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uk-UA" sz="2800" b="1" i="1" u="none" strike="noStrike" cap="none" dirty="0">
                <a:solidFill>
                  <a:schemeClr val="accent6"/>
                </a:solidFill>
                <a:latin typeface="Calibri"/>
                <a:ea typeface="Calibri"/>
                <a:cs typeface="Calibri"/>
                <a:sym typeface="Calibri"/>
              </a:rPr>
              <a:t>Переваги: </a:t>
            </a:r>
            <a:endParaRPr sz="2800" b="1" dirty="0">
              <a:solidFill>
                <a:schemeClr val="accent6"/>
              </a:solidFill>
            </a:endParaRPr>
          </a:p>
          <a:p>
            <a:pPr marL="0" marR="0" lvl="0" indent="0" algn="l" rtl="0">
              <a:spcBef>
                <a:spcPts val="0"/>
              </a:spcBef>
              <a:spcAft>
                <a:spcPts val="0"/>
              </a:spcAft>
              <a:buNone/>
            </a:pPr>
            <a:endParaRPr b="0" i="1" u="none" strike="noStrike" cap="none" dirty="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2800"/>
              <a:buFont typeface="Noto Sans Symbols"/>
              <a:buChar char="✔"/>
            </a:pPr>
            <a:r>
              <a:rPr lang="uk-UA" b="0" i="0" u="none" strike="noStrike" cap="none" dirty="0">
                <a:solidFill>
                  <a:schemeClr val="dk1"/>
                </a:solidFill>
                <a:latin typeface="Calibri"/>
                <a:ea typeface="Calibri"/>
                <a:cs typeface="Calibri"/>
                <a:sym typeface="Calibri"/>
              </a:rPr>
              <a:t>всі завдання підсистем та ПЗ реалізуються одночасно, що сприяє встановленню стабільних зв'язків між ними; </a:t>
            </a:r>
            <a:endParaRPr dirty="0"/>
          </a:p>
          <a:p>
            <a:pPr marL="285750" marR="0" lvl="0" indent="-285750" algn="just" rtl="0">
              <a:spcBef>
                <a:spcPts val="0"/>
              </a:spcBef>
              <a:spcAft>
                <a:spcPts val="0"/>
              </a:spcAft>
              <a:buClr>
                <a:schemeClr val="dk1"/>
              </a:buClr>
              <a:buSzPts val="2800"/>
              <a:buFont typeface="Noto Sans Symbols"/>
              <a:buChar char="✔"/>
            </a:pPr>
            <a:r>
              <a:rPr lang="uk-UA" b="0" i="0" u="none" strike="noStrike" cap="none" dirty="0">
                <a:solidFill>
                  <a:schemeClr val="dk1"/>
                </a:solidFill>
                <a:latin typeface="Calibri"/>
                <a:ea typeface="Calibri"/>
                <a:cs typeface="Calibri"/>
                <a:sym typeface="Calibri"/>
              </a:rPr>
              <a:t>повністю розроблене ПЗ з документацією на нього легше супроводжувати, тестувати, фіксувати помилки і вносити зміни не безладно, а цілеспрямовано, починаючи з вимог і повторити процес. </a:t>
            </a:r>
            <a:endParaRPr dirty="0"/>
          </a:p>
        </p:txBody>
      </p:sp>
      <p:sp>
        <p:nvSpPr>
          <p:cNvPr id="7" name="Google Shape;160;p21">
            <a:extLst>
              <a:ext uri="{FF2B5EF4-FFF2-40B4-BE49-F238E27FC236}">
                <a16:creationId xmlns:a16="http://schemas.microsoft.com/office/drawing/2014/main" id="{7BBDD278-70CB-4033-AB9F-E6D6E78768B1}"/>
              </a:ext>
            </a:extLst>
          </p:cNvPr>
          <p:cNvSpPr/>
          <p:nvPr/>
        </p:nvSpPr>
        <p:spPr>
          <a:xfrm>
            <a:off x="5897664" y="2352006"/>
            <a:ext cx="5373517" cy="455572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uk-UA" sz="2800" b="1" i="1" u="none" strike="noStrike" cap="none" dirty="0">
                <a:solidFill>
                  <a:srgbClr val="FF0000"/>
                </a:solidFill>
                <a:latin typeface="Calibri"/>
                <a:ea typeface="Calibri"/>
                <a:cs typeface="Calibri"/>
                <a:sym typeface="Calibri"/>
              </a:rPr>
              <a:t>Недоліки:</a:t>
            </a:r>
            <a:endParaRPr sz="2800" b="1" dirty="0">
              <a:solidFill>
                <a:srgbClr val="FF0000"/>
              </a:solidFill>
            </a:endParaRPr>
          </a:p>
          <a:p>
            <a:pPr marL="0" marR="0" lvl="0" indent="0" algn="l" rtl="0">
              <a:spcBef>
                <a:spcPts val="0"/>
              </a:spcBef>
              <a:spcAft>
                <a:spcPts val="0"/>
              </a:spcAft>
              <a:buNone/>
            </a:pPr>
            <a:endParaRPr b="0" i="0" u="none" strike="noStrike" cap="none" dirty="0">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2800"/>
              <a:buFont typeface="Noto Sans Symbols"/>
              <a:buChar char="✔"/>
            </a:pPr>
            <a:r>
              <a:rPr lang="uk-UA" b="0" i="0" u="none" strike="noStrike" cap="none" dirty="0">
                <a:solidFill>
                  <a:schemeClr val="dk1"/>
                </a:solidFill>
                <a:latin typeface="Calibri"/>
                <a:ea typeface="Calibri"/>
                <a:cs typeface="Calibri"/>
                <a:sym typeface="Calibri"/>
              </a:rPr>
              <a:t>процес створення ПС не завжди вкладається в таку жорстку форму і послідовність дій;</a:t>
            </a:r>
            <a:endParaRPr dirty="0"/>
          </a:p>
          <a:p>
            <a:pPr marL="457200" marR="0" lvl="0" indent="-457200" algn="just" rtl="0">
              <a:spcBef>
                <a:spcPts val="0"/>
              </a:spcBef>
              <a:spcAft>
                <a:spcPts val="0"/>
              </a:spcAft>
              <a:buClr>
                <a:schemeClr val="dk1"/>
              </a:buClr>
              <a:buSzPts val="2800"/>
              <a:buFont typeface="Noto Sans Symbols"/>
              <a:buChar char="✔"/>
            </a:pPr>
            <a:r>
              <a:rPr lang="uk-UA" b="0" i="0" u="none" strike="noStrike" cap="none" dirty="0">
                <a:solidFill>
                  <a:schemeClr val="dk1"/>
                </a:solidFill>
                <a:latin typeface="Calibri"/>
                <a:ea typeface="Calibri"/>
                <a:cs typeface="Calibri"/>
                <a:sym typeface="Calibri"/>
              </a:rPr>
              <a:t>не враховуються змінилися потреби користувачів, зміни в зовнішньому середовищі, які викличуть зміни вимог до системи в ході її розробки;</a:t>
            </a:r>
            <a:endParaRPr dirty="0"/>
          </a:p>
          <a:p>
            <a:pPr marL="457200" marR="0" lvl="0" indent="-457200" algn="just" rtl="0">
              <a:spcBef>
                <a:spcPts val="0"/>
              </a:spcBef>
              <a:spcAft>
                <a:spcPts val="0"/>
              </a:spcAft>
              <a:buClr>
                <a:schemeClr val="dk1"/>
              </a:buClr>
              <a:buSzPts val="2800"/>
              <a:buFont typeface="Noto Sans Symbols"/>
              <a:buChar char="✔"/>
            </a:pPr>
            <a:r>
              <a:rPr lang="uk-UA" b="0" i="0" u="none" strike="noStrike" cap="none" dirty="0">
                <a:solidFill>
                  <a:schemeClr val="dk1"/>
                </a:solidFill>
                <a:latin typeface="Calibri"/>
                <a:ea typeface="Calibri"/>
                <a:cs typeface="Calibri"/>
                <a:sym typeface="Calibri"/>
              </a:rPr>
              <a:t>великий розрив між часом внесення помилки (наприклад, на етапі проектування) і часом її виявлення (при супроводі), що призводить до великої переробки ПС.</a:t>
            </a:r>
            <a:endParaRPr dirty="0"/>
          </a:p>
        </p:txBody>
      </p:sp>
    </p:spTree>
    <p:extLst>
      <p:ext uri="{BB962C8B-B14F-4D97-AF65-F5344CB8AC3E}">
        <p14:creationId xmlns:p14="http://schemas.microsoft.com/office/powerpoint/2010/main" val="39181842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608033C-9858-4588-B52A-9CB1EEAEA01F}"/>
              </a:ext>
            </a:extLst>
          </p:cNvPr>
          <p:cNvSpPr>
            <a:spLocks noGrp="1"/>
          </p:cNvSpPr>
          <p:nvPr>
            <p:ph type="title"/>
          </p:nvPr>
        </p:nvSpPr>
        <p:spPr>
          <a:xfrm>
            <a:off x="685800" y="685801"/>
            <a:ext cx="10820400" cy="685800"/>
          </a:xfrm>
        </p:spPr>
        <p:txBody>
          <a:bodyPr>
            <a:normAutofit/>
          </a:bodyPr>
          <a:lstStyle/>
          <a:p>
            <a:r>
              <a:rPr lang="en-US" sz="3600" dirty="0">
                <a:latin typeface="Segoe UI Variable Text Semibold" pitchFamily="2" charset="0"/>
              </a:rPr>
              <a:t>V-</a:t>
            </a:r>
            <a:r>
              <a:rPr lang="uk-UA" sz="3600" dirty="0">
                <a:latin typeface="Segoe UI Variable Text Semibold" pitchFamily="2" charset="0"/>
              </a:rPr>
              <a:t>ПОДІБНА МОДЕЛЬ</a:t>
            </a:r>
            <a:endParaRPr lang="en-US" sz="3600" dirty="0">
              <a:latin typeface="Segoe UI Variable Text Semibold" pitchFamily="2" charset="0"/>
            </a:endParaRPr>
          </a:p>
        </p:txBody>
      </p:sp>
      <p:pic>
        <p:nvPicPr>
          <p:cNvPr id="2050" name="Picture 2" descr="V-модель (v-model) - QALight">
            <a:extLst>
              <a:ext uri="{FF2B5EF4-FFF2-40B4-BE49-F238E27FC236}">
                <a16:creationId xmlns:a16="http://schemas.microsoft.com/office/drawing/2014/main" id="{D00221EA-3D07-47E1-A08F-9EBB43F40C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775010"/>
            <a:ext cx="6947284" cy="439718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0741708-5FDD-46B1-8A89-B774284DED59}"/>
              </a:ext>
            </a:extLst>
          </p:cNvPr>
          <p:cNvSpPr txBox="1"/>
          <p:nvPr/>
        </p:nvSpPr>
        <p:spPr>
          <a:xfrm>
            <a:off x="7546457" y="3429000"/>
            <a:ext cx="4225490" cy="2308324"/>
          </a:xfrm>
          <a:prstGeom prst="rect">
            <a:avLst/>
          </a:prstGeom>
          <a:noFill/>
        </p:spPr>
        <p:txBody>
          <a:bodyPr wrap="square">
            <a:spAutoFit/>
          </a:bodyPr>
          <a:lstStyle/>
          <a:p>
            <a:pPr marL="0" marR="0" lvl="0" indent="0" algn="just" rtl="0">
              <a:spcBef>
                <a:spcPts val="0"/>
              </a:spcBef>
              <a:spcAft>
                <a:spcPts val="0"/>
              </a:spcAft>
              <a:buNone/>
            </a:pPr>
            <a:r>
              <a:rPr lang="ru-RU" b="0" i="1" u="none" strike="noStrike" cap="none" dirty="0">
                <a:solidFill>
                  <a:schemeClr val="dk1"/>
                </a:solidFill>
                <a:latin typeface="Calibri"/>
                <a:ea typeface="Calibri"/>
                <a:cs typeface="Calibri"/>
                <a:sym typeface="Calibri"/>
              </a:rPr>
              <a:t>Основний принцип V-подібної моделі </a:t>
            </a:r>
            <a:r>
              <a:rPr lang="ru-RU" b="0" i="0" u="none" strike="noStrike" cap="none" dirty="0">
                <a:solidFill>
                  <a:schemeClr val="dk1"/>
                </a:solidFill>
                <a:latin typeface="Calibri"/>
                <a:ea typeface="Calibri"/>
                <a:cs typeface="Calibri"/>
                <a:sym typeface="Calibri"/>
              </a:rPr>
              <a:t>- деталізація проекту зростає при русі зліва направо, одночасно з плином часу, і ні те, ні інше не може повернутися назад. </a:t>
            </a:r>
            <a:endParaRPr lang="ru-RU" dirty="0"/>
          </a:p>
          <a:p>
            <a:pPr marL="0" marR="0" lvl="0" indent="0" algn="just" rtl="0">
              <a:spcBef>
                <a:spcPts val="0"/>
              </a:spcBef>
              <a:spcAft>
                <a:spcPts val="0"/>
              </a:spcAft>
              <a:buNone/>
            </a:pPr>
            <a:r>
              <a:rPr lang="ru-RU" b="0" i="0" u="none" strike="noStrike" cap="none" dirty="0">
                <a:solidFill>
                  <a:schemeClr val="dk1"/>
                </a:solidFill>
                <a:latin typeface="Calibri"/>
                <a:ea typeface="Calibri"/>
                <a:cs typeface="Calibri"/>
                <a:sym typeface="Calibri"/>
              </a:rPr>
              <a:t>Ітерації в проекті відбуваються по горизонталі, між лівою і правою сторонами літери. </a:t>
            </a:r>
            <a:endParaRPr lang="ru-RU" dirty="0"/>
          </a:p>
        </p:txBody>
      </p:sp>
    </p:spTree>
    <p:extLst>
      <p:ext uri="{BB962C8B-B14F-4D97-AF65-F5344CB8AC3E}">
        <p14:creationId xmlns:p14="http://schemas.microsoft.com/office/powerpoint/2010/main" val="7138188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342FE7-D2C7-4E5B-B4DA-F564810DE0F9}"/>
              </a:ext>
            </a:extLst>
          </p:cNvPr>
          <p:cNvSpPr>
            <a:spLocks noGrp="1"/>
          </p:cNvSpPr>
          <p:nvPr>
            <p:ph type="title"/>
          </p:nvPr>
        </p:nvSpPr>
        <p:spPr>
          <a:xfrm>
            <a:off x="685800" y="685801"/>
            <a:ext cx="10820400" cy="685800"/>
          </a:xfrm>
        </p:spPr>
        <p:txBody>
          <a:bodyPr>
            <a:normAutofit/>
          </a:bodyPr>
          <a:lstStyle/>
          <a:p>
            <a:r>
              <a:rPr lang="en-US" sz="3600" dirty="0">
                <a:latin typeface="Segoe UI Variable Text Semibold" pitchFamily="2" charset="0"/>
              </a:rPr>
              <a:t>V-</a:t>
            </a:r>
            <a:r>
              <a:rPr lang="uk-UA" sz="3600" dirty="0">
                <a:latin typeface="Segoe UI Variable Text Semibold" pitchFamily="2" charset="0"/>
              </a:rPr>
              <a:t>ПОДІБНА МОДЕЛЬ</a:t>
            </a:r>
            <a:endParaRPr lang="en-US" sz="3600" dirty="0">
              <a:latin typeface="Segoe UI Variable Text Semibold" pitchFamily="2" charset="0"/>
            </a:endParaRPr>
          </a:p>
        </p:txBody>
      </p:sp>
      <p:sp>
        <p:nvSpPr>
          <p:cNvPr id="5" name="Google Shape;183;p24">
            <a:extLst>
              <a:ext uri="{FF2B5EF4-FFF2-40B4-BE49-F238E27FC236}">
                <a16:creationId xmlns:a16="http://schemas.microsoft.com/office/drawing/2014/main" id="{7E7DFEC5-1680-4696-89BF-C54734397A83}"/>
              </a:ext>
            </a:extLst>
          </p:cNvPr>
          <p:cNvSpPr/>
          <p:nvPr/>
        </p:nvSpPr>
        <p:spPr>
          <a:xfrm>
            <a:off x="685800" y="1371601"/>
            <a:ext cx="5787406" cy="507999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uk-UA" sz="2800" b="1" i="1" u="none" strike="noStrike" cap="none" dirty="0">
                <a:solidFill>
                  <a:schemeClr val="accent6"/>
                </a:solidFill>
                <a:latin typeface="Calibri"/>
                <a:ea typeface="Calibri"/>
                <a:cs typeface="Calibri"/>
                <a:sym typeface="Calibri"/>
              </a:rPr>
              <a:t>Переваги:</a:t>
            </a:r>
            <a:endParaRPr sz="2800" dirty="0">
              <a:solidFill>
                <a:schemeClr val="accent6"/>
              </a:solidFill>
            </a:endParaRPr>
          </a:p>
          <a:p>
            <a:pPr marL="342900" marR="0" lvl="0" indent="-342900" algn="just" rtl="0">
              <a:spcBef>
                <a:spcPts val="0"/>
              </a:spcBef>
              <a:spcAft>
                <a:spcPts val="0"/>
              </a:spcAft>
              <a:buClr>
                <a:schemeClr val="dk1"/>
              </a:buClr>
              <a:buSzPts val="2000"/>
              <a:buFont typeface="Noto Sans Symbols"/>
              <a:buChar char="✔"/>
            </a:pPr>
            <a:r>
              <a:rPr lang="uk-UA" b="0" i="0" u="none" strike="noStrike" cap="none" dirty="0">
                <a:solidFill>
                  <a:schemeClr val="dk1"/>
                </a:solidFill>
                <a:latin typeface="Calibri"/>
                <a:ea typeface="Calibri"/>
                <a:cs typeface="Calibri"/>
                <a:sym typeface="Calibri"/>
              </a:rPr>
              <a:t>особливе значення надається плануванню, спрямованому на верифікацію і атестацію створюваного  продукту на ранніх стадіях його розробки. </a:t>
            </a:r>
            <a:endParaRPr dirty="0"/>
          </a:p>
          <a:p>
            <a:pPr marL="342900" marR="0" lvl="0" indent="-342900" algn="just" rtl="0">
              <a:spcBef>
                <a:spcPts val="0"/>
              </a:spcBef>
              <a:spcAft>
                <a:spcPts val="0"/>
              </a:spcAft>
              <a:buClr>
                <a:schemeClr val="dk1"/>
              </a:buClr>
              <a:buSzPts val="2000"/>
              <a:buFont typeface="Noto Sans Symbols"/>
              <a:buChar char="✔"/>
            </a:pPr>
            <a:r>
              <a:rPr lang="uk-UA" b="0" i="0" u="none" strike="noStrike" cap="none" dirty="0">
                <a:solidFill>
                  <a:schemeClr val="dk1"/>
                </a:solidFill>
                <a:latin typeface="Calibri"/>
                <a:ea typeface="Calibri"/>
                <a:cs typeface="Calibri"/>
                <a:sym typeface="Calibri"/>
              </a:rPr>
              <a:t>передбачена атестація і верифікація всіх зовнішніх і внутрішніх отриманих даних, а не тільки самого програмного продукту.</a:t>
            </a:r>
            <a:endParaRPr dirty="0"/>
          </a:p>
          <a:p>
            <a:pPr marL="342900" marR="0" lvl="0" indent="-342900" algn="just" rtl="0">
              <a:spcBef>
                <a:spcPts val="0"/>
              </a:spcBef>
              <a:spcAft>
                <a:spcPts val="0"/>
              </a:spcAft>
              <a:buClr>
                <a:schemeClr val="dk1"/>
              </a:buClr>
              <a:buSzPts val="2000"/>
              <a:buFont typeface="Noto Sans Symbols"/>
              <a:buChar char="✔"/>
            </a:pPr>
            <a:r>
              <a:rPr lang="uk-UA" b="0" i="0" u="none" strike="noStrike" cap="none" dirty="0">
                <a:solidFill>
                  <a:schemeClr val="dk1"/>
                </a:solidFill>
                <a:latin typeface="Calibri"/>
                <a:ea typeface="Calibri"/>
                <a:cs typeface="Calibri"/>
                <a:sym typeface="Calibri"/>
              </a:rPr>
              <a:t>визначення вимог виконується перед розробкою проекту системи, а проектування ПЗ – перед розробкою компонентів.</a:t>
            </a:r>
            <a:endParaRPr dirty="0"/>
          </a:p>
          <a:p>
            <a:pPr marL="342900" marR="0" lvl="0" indent="-342900" algn="just" rtl="0">
              <a:spcBef>
                <a:spcPts val="0"/>
              </a:spcBef>
              <a:spcAft>
                <a:spcPts val="0"/>
              </a:spcAft>
              <a:buClr>
                <a:schemeClr val="dk1"/>
              </a:buClr>
              <a:buSzPts val="2000"/>
              <a:buFont typeface="Noto Sans Symbols"/>
              <a:buChar char="✔"/>
            </a:pPr>
            <a:r>
              <a:rPr lang="uk-UA" b="0" i="0" u="none" strike="noStrike" cap="none" dirty="0">
                <a:solidFill>
                  <a:schemeClr val="dk1"/>
                </a:solidFill>
                <a:latin typeface="Calibri"/>
                <a:ea typeface="Calibri"/>
                <a:cs typeface="Calibri"/>
                <a:sym typeface="Calibri"/>
              </a:rPr>
              <a:t>модель визначає продукти, які повинні бути отримані внаслідок процесу розробки, причому кожні отримані дані повинні піддаватися тестуванню.</a:t>
            </a:r>
            <a:endParaRPr dirty="0"/>
          </a:p>
          <a:p>
            <a:pPr marL="342900" marR="0" lvl="0" indent="-342900" algn="just" rtl="0">
              <a:spcBef>
                <a:spcPts val="0"/>
              </a:spcBef>
              <a:spcAft>
                <a:spcPts val="0"/>
              </a:spcAft>
              <a:buClr>
                <a:schemeClr val="dk1"/>
              </a:buClr>
              <a:buSzPts val="2000"/>
              <a:buFont typeface="Noto Sans Symbols"/>
              <a:buChar char="✔"/>
            </a:pPr>
            <a:r>
              <a:rPr lang="uk-UA" b="0" i="0" u="none" strike="noStrike" cap="none" dirty="0">
                <a:solidFill>
                  <a:schemeClr val="dk1"/>
                </a:solidFill>
                <a:latin typeface="Calibri"/>
                <a:ea typeface="Calibri"/>
                <a:cs typeface="Calibri"/>
                <a:sym typeface="Calibri"/>
              </a:rPr>
              <a:t>менеджери проекту можуть відслідковувати хід процесу розробки, так як в даному випадку цілком можливо скористатися тимчасовою шкалою, а завершення кожної фази є контрольною точкою.</a:t>
            </a:r>
            <a:endParaRPr dirty="0"/>
          </a:p>
        </p:txBody>
      </p:sp>
      <p:sp>
        <p:nvSpPr>
          <p:cNvPr id="6" name="Google Shape;192;p25">
            <a:extLst>
              <a:ext uri="{FF2B5EF4-FFF2-40B4-BE49-F238E27FC236}">
                <a16:creationId xmlns:a16="http://schemas.microsoft.com/office/drawing/2014/main" id="{37A9B38E-9FC6-4DEC-A3FB-01B2FCA9BDDC}"/>
              </a:ext>
            </a:extLst>
          </p:cNvPr>
          <p:cNvSpPr/>
          <p:nvPr/>
        </p:nvSpPr>
        <p:spPr>
          <a:xfrm>
            <a:off x="6790839" y="1371601"/>
            <a:ext cx="5202238" cy="475456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uk-UA" sz="2800" b="1" i="1" u="none" strike="noStrike" cap="none" dirty="0">
                <a:solidFill>
                  <a:srgbClr val="FF0000"/>
                </a:solidFill>
                <a:latin typeface="Calibri"/>
                <a:ea typeface="Calibri"/>
                <a:cs typeface="Calibri"/>
                <a:sym typeface="Calibri"/>
              </a:rPr>
              <a:t>Недоліки:</a:t>
            </a:r>
            <a:endParaRPr sz="2800" dirty="0">
              <a:solidFill>
                <a:srgbClr val="FF0000"/>
              </a:solidFill>
            </a:endParaRPr>
          </a:p>
          <a:p>
            <a:pPr marL="0" marR="0" lvl="0" indent="0" algn="l" rtl="0">
              <a:spcBef>
                <a:spcPts val="0"/>
              </a:spcBef>
              <a:spcAft>
                <a:spcPts val="0"/>
              </a:spcAft>
              <a:buNone/>
            </a:pPr>
            <a:endParaRPr b="0" i="1" u="none" strike="noStrike" cap="none" dirty="0">
              <a:solidFill>
                <a:schemeClr val="dk2"/>
              </a:solidFill>
              <a:latin typeface="Calibri"/>
              <a:ea typeface="Calibri"/>
              <a:cs typeface="Calibri"/>
              <a:sym typeface="Calibri"/>
            </a:endParaRPr>
          </a:p>
          <a:p>
            <a:pPr marL="457200" marR="0" lvl="0" indent="-457200" algn="just" rtl="0">
              <a:spcBef>
                <a:spcPts val="0"/>
              </a:spcBef>
              <a:spcAft>
                <a:spcPts val="0"/>
              </a:spcAft>
              <a:buClr>
                <a:schemeClr val="dk2"/>
              </a:buClr>
              <a:buSzPts val="2400"/>
              <a:buFont typeface="Noto Sans Symbols"/>
              <a:buChar char="✔"/>
            </a:pPr>
            <a:r>
              <a:rPr lang="uk-UA" b="0" i="0" u="none" strike="noStrike" cap="none" dirty="0">
                <a:solidFill>
                  <a:schemeClr val="dk2"/>
                </a:solidFill>
                <a:latin typeface="Calibri"/>
                <a:ea typeface="Calibri"/>
                <a:cs typeface="Calibri"/>
                <a:sym typeface="Calibri"/>
              </a:rPr>
              <a:t>не передбачає роботу з паралельними подіями.</a:t>
            </a:r>
            <a:endParaRPr dirty="0"/>
          </a:p>
          <a:p>
            <a:pPr marL="457200" marR="0" lvl="0" indent="-457200" algn="just" rtl="0">
              <a:spcBef>
                <a:spcPts val="0"/>
              </a:spcBef>
              <a:spcAft>
                <a:spcPts val="0"/>
              </a:spcAft>
              <a:buClr>
                <a:schemeClr val="dk2"/>
              </a:buClr>
              <a:buSzPts val="2400"/>
              <a:buFont typeface="Noto Sans Symbols"/>
              <a:buChar char="✔"/>
            </a:pPr>
            <a:r>
              <a:rPr lang="uk-UA" b="0" i="0" u="none" strike="noStrike" cap="none" dirty="0">
                <a:solidFill>
                  <a:schemeClr val="dk2"/>
                </a:solidFill>
                <a:latin typeface="Calibri"/>
                <a:ea typeface="Calibri"/>
                <a:cs typeface="Calibri"/>
                <a:sym typeface="Calibri"/>
              </a:rPr>
              <a:t>не передбачено внесення динамічних змін до вимог на різних етапах життєвого циклу.</a:t>
            </a:r>
            <a:endParaRPr dirty="0"/>
          </a:p>
          <a:p>
            <a:pPr marL="457200" marR="0" lvl="0" indent="-457200" algn="just" rtl="0">
              <a:spcBef>
                <a:spcPts val="0"/>
              </a:spcBef>
              <a:spcAft>
                <a:spcPts val="0"/>
              </a:spcAft>
              <a:buClr>
                <a:schemeClr val="dk2"/>
              </a:buClr>
              <a:buSzPts val="2400"/>
              <a:buFont typeface="Noto Sans Symbols"/>
              <a:buChar char="✔"/>
            </a:pPr>
            <a:r>
              <a:rPr lang="uk-UA" b="0" i="0" u="none" strike="noStrike" cap="none" dirty="0">
                <a:solidFill>
                  <a:schemeClr val="dk2"/>
                </a:solidFill>
                <a:latin typeface="Calibri"/>
                <a:ea typeface="Calibri"/>
                <a:cs typeface="Calibri"/>
                <a:sym typeface="Calibri"/>
              </a:rPr>
              <a:t>тестування вимог в життєвому циклі відбувається занадто пізно, внаслідок чого неможливо внести зміни, які б не вплинули при цьому на графік виконання проекту.</a:t>
            </a:r>
            <a:endParaRPr dirty="0"/>
          </a:p>
          <a:p>
            <a:pPr marL="457200" marR="0" lvl="0" indent="-457200" algn="just" rtl="0">
              <a:spcBef>
                <a:spcPts val="0"/>
              </a:spcBef>
              <a:spcAft>
                <a:spcPts val="0"/>
              </a:spcAft>
              <a:buClr>
                <a:schemeClr val="dk2"/>
              </a:buClr>
              <a:buSzPts val="2400"/>
              <a:buFont typeface="Noto Sans Symbols"/>
              <a:buChar char="✔"/>
            </a:pPr>
            <a:r>
              <a:rPr lang="uk-UA" b="0" i="0" u="none" strike="noStrike" cap="none" dirty="0">
                <a:solidFill>
                  <a:schemeClr val="dk2"/>
                </a:solidFill>
                <a:latin typeface="Calibri"/>
                <a:ea typeface="Calibri"/>
                <a:cs typeface="Calibri"/>
                <a:sym typeface="Calibri"/>
              </a:rPr>
              <a:t>в модель не входять дії, спрямовані на аналіз ризиків.</a:t>
            </a:r>
            <a:endParaRPr dirty="0"/>
          </a:p>
          <a:p>
            <a:pPr marL="457200" marR="0" lvl="0" indent="-457200" algn="just" rtl="0">
              <a:spcBef>
                <a:spcPts val="0"/>
              </a:spcBef>
              <a:spcAft>
                <a:spcPts val="0"/>
              </a:spcAft>
              <a:buClr>
                <a:schemeClr val="dk2"/>
              </a:buClr>
              <a:buSzPts val="2400"/>
              <a:buFont typeface="Noto Sans Symbols"/>
              <a:buChar char="✔"/>
            </a:pPr>
            <a:r>
              <a:rPr lang="uk-UA" b="0" i="0" u="none" strike="noStrike" cap="none" dirty="0">
                <a:solidFill>
                  <a:schemeClr val="dk2"/>
                </a:solidFill>
                <a:latin typeface="Calibri"/>
                <a:ea typeface="Calibri"/>
                <a:cs typeface="Calibri"/>
                <a:sym typeface="Calibri"/>
              </a:rPr>
              <a:t>деякий результат можна подивитися тільки при досягненні низу букви V.</a:t>
            </a:r>
            <a:endParaRPr dirty="0"/>
          </a:p>
        </p:txBody>
      </p:sp>
    </p:spTree>
    <p:extLst>
      <p:ext uri="{BB962C8B-B14F-4D97-AF65-F5344CB8AC3E}">
        <p14:creationId xmlns:p14="http://schemas.microsoft.com/office/powerpoint/2010/main" val="12453270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D6ECAF1-7C5A-4E3A-B669-D7DED670F5BC}"/>
              </a:ext>
            </a:extLst>
          </p:cNvPr>
          <p:cNvSpPr>
            <a:spLocks noGrp="1"/>
          </p:cNvSpPr>
          <p:nvPr>
            <p:ph type="title"/>
          </p:nvPr>
        </p:nvSpPr>
        <p:spPr>
          <a:xfrm>
            <a:off x="685800" y="541422"/>
            <a:ext cx="10820400" cy="685800"/>
          </a:xfrm>
        </p:spPr>
        <p:txBody>
          <a:bodyPr>
            <a:normAutofit/>
          </a:bodyPr>
          <a:lstStyle/>
          <a:p>
            <a:r>
              <a:rPr lang="uk-UA" sz="3600" dirty="0">
                <a:latin typeface="Segoe UI Variable Text Semibold" pitchFamily="2" charset="0"/>
              </a:rPr>
              <a:t>СПІРАЛЬНА МОДЕЛЬ</a:t>
            </a:r>
            <a:endParaRPr lang="en-US" sz="3600" dirty="0">
              <a:latin typeface="Segoe UI Variable Text Semibold" pitchFamily="2" charset="0"/>
            </a:endParaRPr>
          </a:p>
        </p:txBody>
      </p:sp>
      <p:pic>
        <p:nvPicPr>
          <p:cNvPr id="4098" name="Picture 2" descr="Спіральна модель (spiral model) - QALight">
            <a:extLst>
              <a:ext uri="{FF2B5EF4-FFF2-40B4-BE49-F238E27FC236}">
                <a16:creationId xmlns:a16="http://schemas.microsoft.com/office/drawing/2014/main" id="{820D03FE-6F22-4DD5-91EB-3656FE6A7B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410993"/>
            <a:ext cx="5156885" cy="501146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0ED0906-9BB2-4FB7-AB6C-27D5F597822B}"/>
              </a:ext>
            </a:extLst>
          </p:cNvPr>
          <p:cNvSpPr txBox="1"/>
          <p:nvPr/>
        </p:nvSpPr>
        <p:spPr>
          <a:xfrm>
            <a:off x="6651056" y="2200265"/>
            <a:ext cx="5053264" cy="3185487"/>
          </a:xfrm>
          <a:prstGeom prst="rect">
            <a:avLst/>
          </a:prstGeom>
          <a:noFill/>
        </p:spPr>
        <p:txBody>
          <a:bodyPr wrap="square">
            <a:spAutoFit/>
          </a:bodyPr>
          <a:lstStyle/>
          <a:p>
            <a:pPr marL="0" marR="0" lvl="0" indent="0" algn="just" rtl="0">
              <a:spcBef>
                <a:spcPts val="0"/>
              </a:spcBef>
              <a:spcAft>
                <a:spcPts val="0"/>
              </a:spcAft>
              <a:buClr>
                <a:schemeClr val="dk1"/>
              </a:buClr>
              <a:buSzPts val="2400"/>
              <a:buFont typeface="Noto Sans Symbols"/>
              <a:buNone/>
            </a:pPr>
            <a:r>
              <a:rPr lang="ru-RU" sz="1600" b="0" i="0" u="none" strike="noStrike" cap="none" dirty="0">
                <a:solidFill>
                  <a:schemeClr val="dk1"/>
                </a:solidFill>
                <a:latin typeface="Gill Sans"/>
                <a:ea typeface="Gill Sans"/>
                <a:cs typeface="Gill Sans"/>
                <a:sym typeface="Gill Sans"/>
              </a:rPr>
              <a:t>Внесення змін у спіральній моделі орієнтоване на задоволення потреби користувачів одразу, як тільки буде встановлено, що створені артефакти або елементи документації (опис вимог проекту, коментарі різного виду) не відповідають дійсному стану розроблення.</a:t>
            </a:r>
            <a:endParaRPr lang="ru-RU" sz="1600" dirty="0"/>
          </a:p>
          <a:p>
            <a:pPr marL="0" marR="0" lvl="0" indent="0" algn="just" rtl="0">
              <a:spcBef>
                <a:spcPts val="0"/>
              </a:spcBef>
              <a:spcAft>
                <a:spcPts val="0"/>
              </a:spcAft>
              <a:buClr>
                <a:schemeClr val="dk1"/>
              </a:buClr>
              <a:buSzPts val="1100"/>
              <a:buFont typeface="Noto Sans Symbols"/>
              <a:buNone/>
            </a:pPr>
            <a:endParaRPr lang="ru-RU" sz="900" b="0" i="0" u="none" strike="noStrike" cap="none" dirty="0">
              <a:solidFill>
                <a:schemeClr val="dk1"/>
              </a:solidFill>
              <a:latin typeface="Gill Sans"/>
              <a:ea typeface="Gill Sans"/>
              <a:cs typeface="Gill Sans"/>
              <a:sym typeface="Gill Sans"/>
            </a:endParaRPr>
          </a:p>
          <a:p>
            <a:pPr marL="0" marR="0" lvl="0" indent="0" algn="just" rtl="0">
              <a:spcBef>
                <a:spcPts val="0"/>
              </a:spcBef>
              <a:spcAft>
                <a:spcPts val="0"/>
              </a:spcAft>
              <a:buClr>
                <a:schemeClr val="dk1"/>
              </a:buClr>
              <a:buSzPts val="2400"/>
              <a:buFont typeface="Noto Sans Symbols"/>
              <a:buNone/>
            </a:pPr>
            <a:r>
              <a:rPr lang="ru-RU" sz="1600" b="0" i="0" u="none" strike="noStrike" cap="none" dirty="0">
                <a:solidFill>
                  <a:schemeClr val="dk1"/>
                </a:solidFill>
                <a:latin typeface="Gill Sans"/>
                <a:ea typeface="Gill Sans"/>
                <a:cs typeface="Gill Sans"/>
                <a:sym typeface="Gill Sans"/>
              </a:rPr>
              <a:t>Дана модель ЖЦ припускає аналіз продукту на витку розроблення, його перевірку, оцінювання правильності та прийняття рішення переходити на наступний виток або спуститися на попередній виток для доопрацювання на ньому проміжного продукту.</a:t>
            </a:r>
            <a:endParaRPr lang="ru-RU" sz="1600" dirty="0"/>
          </a:p>
        </p:txBody>
      </p:sp>
    </p:spTree>
    <p:extLst>
      <p:ext uri="{BB962C8B-B14F-4D97-AF65-F5344CB8AC3E}">
        <p14:creationId xmlns:p14="http://schemas.microsoft.com/office/powerpoint/2010/main" val="16573223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87D9354-CF62-43BC-A67A-E6FDDE4EC5CC}"/>
              </a:ext>
            </a:extLst>
          </p:cNvPr>
          <p:cNvSpPr>
            <a:spLocks noGrp="1"/>
          </p:cNvSpPr>
          <p:nvPr>
            <p:ph type="title"/>
          </p:nvPr>
        </p:nvSpPr>
        <p:spPr>
          <a:xfrm>
            <a:off x="685800" y="541422"/>
            <a:ext cx="10820400" cy="685800"/>
          </a:xfrm>
        </p:spPr>
        <p:txBody>
          <a:bodyPr>
            <a:normAutofit/>
          </a:bodyPr>
          <a:lstStyle/>
          <a:p>
            <a:r>
              <a:rPr lang="uk-UA" sz="3600" dirty="0">
                <a:latin typeface="Segoe UI Variable Text Semibold" pitchFamily="2" charset="0"/>
              </a:rPr>
              <a:t>СПІРАЛЬНА МОДЕЛЬ</a:t>
            </a:r>
            <a:endParaRPr lang="en-US" sz="3600" dirty="0">
              <a:latin typeface="Segoe UI Variable Text Semibold" pitchFamily="2" charset="0"/>
            </a:endParaRPr>
          </a:p>
        </p:txBody>
      </p:sp>
      <p:sp>
        <p:nvSpPr>
          <p:cNvPr id="5" name="Google Shape;247;p32">
            <a:extLst>
              <a:ext uri="{FF2B5EF4-FFF2-40B4-BE49-F238E27FC236}">
                <a16:creationId xmlns:a16="http://schemas.microsoft.com/office/drawing/2014/main" id="{BB3975B1-A4EB-4D8D-8535-B3288622F301}"/>
              </a:ext>
            </a:extLst>
          </p:cNvPr>
          <p:cNvSpPr/>
          <p:nvPr/>
        </p:nvSpPr>
        <p:spPr>
          <a:xfrm>
            <a:off x="685800" y="2259606"/>
            <a:ext cx="4165333" cy="226812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None/>
            </a:pPr>
            <a:r>
              <a:rPr lang="uk-UA" sz="2400" b="1" i="1" u="none" strike="noStrike" cap="none" dirty="0">
                <a:solidFill>
                  <a:srgbClr val="FF0000"/>
                </a:solidFill>
                <a:latin typeface="Calibri"/>
                <a:ea typeface="Calibri"/>
                <a:cs typeface="Calibri"/>
                <a:sym typeface="Calibri"/>
              </a:rPr>
              <a:t>Недоліком</a:t>
            </a:r>
            <a:r>
              <a:rPr lang="uk-UA" sz="2400" b="0" i="0" u="none" strike="noStrike" cap="none" dirty="0">
                <a:solidFill>
                  <a:schemeClr val="dk2"/>
                </a:solidFill>
                <a:latin typeface="Calibri"/>
                <a:ea typeface="Calibri"/>
                <a:cs typeface="Calibri"/>
                <a:sym typeface="Calibri"/>
              </a:rPr>
              <a:t> </a:t>
            </a:r>
            <a:r>
              <a:rPr lang="uk-UA" sz="2400" b="0" i="0" u="none" strike="noStrike" cap="none" dirty="0">
                <a:latin typeface="Calibri"/>
                <a:ea typeface="Calibri"/>
                <a:cs typeface="Calibri"/>
                <a:sym typeface="Calibri"/>
              </a:rPr>
              <a:t>спіральної моделі є важкість визначення моменту переходу розроблення на наступний етап. </a:t>
            </a:r>
            <a:endParaRPr sz="2400" dirty="0"/>
          </a:p>
          <a:p>
            <a:pPr marL="0" marR="0" lvl="0" indent="0" algn="just" rtl="0">
              <a:spcBef>
                <a:spcPts val="0"/>
              </a:spcBef>
              <a:spcAft>
                <a:spcPts val="0"/>
              </a:spcAft>
              <a:buNone/>
            </a:pPr>
            <a:endParaRPr sz="2000" b="0" i="0" u="none" strike="noStrike" cap="none" dirty="0">
              <a:solidFill>
                <a:schemeClr val="dk2"/>
              </a:solidFill>
              <a:latin typeface="Calibri"/>
              <a:ea typeface="Calibri"/>
              <a:cs typeface="Calibri"/>
              <a:sym typeface="Calibri"/>
            </a:endParaRPr>
          </a:p>
          <a:p>
            <a:pPr marL="0" marR="0" lvl="0" indent="0" algn="just" rtl="0">
              <a:spcBef>
                <a:spcPts val="0"/>
              </a:spcBef>
              <a:spcAft>
                <a:spcPts val="0"/>
              </a:spcAft>
              <a:buNone/>
            </a:pPr>
            <a:r>
              <a:rPr lang="uk-UA" sz="2000" b="1" i="0" u="none" strike="noStrike" cap="none" dirty="0">
                <a:solidFill>
                  <a:schemeClr val="dk2"/>
                </a:solidFill>
                <a:latin typeface="Calibri"/>
                <a:ea typeface="Calibri"/>
                <a:cs typeface="Calibri"/>
                <a:sym typeface="Calibri"/>
              </a:rPr>
              <a:t>	</a:t>
            </a:r>
            <a:endParaRPr sz="2000" dirty="0"/>
          </a:p>
        </p:txBody>
      </p:sp>
      <p:sp>
        <p:nvSpPr>
          <p:cNvPr id="7" name="TextBox 6">
            <a:extLst>
              <a:ext uri="{FF2B5EF4-FFF2-40B4-BE49-F238E27FC236}">
                <a16:creationId xmlns:a16="http://schemas.microsoft.com/office/drawing/2014/main" id="{05FC753C-67AD-4F89-982F-9E48A8D01EF5}"/>
              </a:ext>
            </a:extLst>
          </p:cNvPr>
          <p:cNvSpPr txBox="1"/>
          <p:nvPr/>
        </p:nvSpPr>
        <p:spPr>
          <a:xfrm>
            <a:off x="6198669" y="2259606"/>
            <a:ext cx="5086149" cy="3046988"/>
          </a:xfrm>
          <a:prstGeom prst="rect">
            <a:avLst/>
          </a:prstGeom>
          <a:noFill/>
        </p:spPr>
        <p:txBody>
          <a:bodyPr wrap="square">
            <a:spAutoFit/>
          </a:bodyPr>
          <a:lstStyle/>
          <a:p>
            <a:r>
              <a:rPr lang="uk-UA" sz="2400" b="1" i="1" u="none" strike="noStrike" cap="none" dirty="0">
                <a:solidFill>
                  <a:schemeClr val="accent6"/>
                </a:solidFill>
                <a:latin typeface="Calibri"/>
                <a:ea typeface="Calibri"/>
                <a:cs typeface="Calibri"/>
                <a:sym typeface="Calibri"/>
              </a:rPr>
              <a:t>Серед переваг </a:t>
            </a:r>
            <a:r>
              <a:rPr lang="uk-UA" sz="2400" b="0" i="0" u="none" strike="noStrike" cap="none" dirty="0">
                <a:latin typeface="Calibri"/>
                <a:ea typeface="Calibri"/>
                <a:cs typeface="Calibri"/>
                <a:sym typeface="Calibri"/>
              </a:rPr>
              <a:t>спіральної моделі слід відмітити спрощення внесення змін в проект при зміні вимог замовника, оскільки елементи ПЗ інтегруються поступово. Спіральна модель життєвого циклу дає можливість визначати якість вже на етапі проектування.</a:t>
            </a:r>
            <a:endParaRPr lang="en-US" sz="2400" dirty="0"/>
          </a:p>
        </p:txBody>
      </p:sp>
    </p:spTree>
    <p:extLst>
      <p:ext uri="{BB962C8B-B14F-4D97-AF65-F5344CB8AC3E}">
        <p14:creationId xmlns:p14="http://schemas.microsoft.com/office/powerpoint/2010/main" val="8772194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Scheme of Incremental model | New Line Technologies">
            <a:extLst>
              <a:ext uri="{FF2B5EF4-FFF2-40B4-BE49-F238E27FC236}">
                <a16:creationId xmlns:a16="http://schemas.microsoft.com/office/drawing/2014/main" id="{A661391E-C8D1-45AD-A140-21EBE742D0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475" y="1416066"/>
            <a:ext cx="9235117" cy="4900512"/>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C6376775-8152-45F8-AD00-223AF296B42E}"/>
              </a:ext>
            </a:extLst>
          </p:cNvPr>
          <p:cNvSpPr>
            <a:spLocks noGrp="1"/>
          </p:cNvSpPr>
          <p:nvPr>
            <p:ph type="title"/>
          </p:nvPr>
        </p:nvSpPr>
        <p:spPr>
          <a:xfrm>
            <a:off x="685800" y="541422"/>
            <a:ext cx="10820400" cy="685800"/>
          </a:xfrm>
        </p:spPr>
        <p:txBody>
          <a:bodyPr>
            <a:normAutofit/>
          </a:bodyPr>
          <a:lstStyle/>
          <a:p>
            <a:r>
              <a:rPr lang="uk-UA" sz="3600" dirty="0">
                <a:latin typeface="Segoe UI Variable Text Semibold" pitchFamily="2" charset="0"/>
              </a:rPr>
              <a:t>ІНКРЕМЕНТНА МОДЕЛЬ</a:t>
            </a:r>
            <a:endParaRPr lang="en-US" sz="3600" dirty="0">
              <a:latin typeface="Segoe UI Variable Text Semibold" pitchFamily="2" charset="0"/>
            </a:endParaRPr>
          </a:p>
        </p:txBody>
      </p:sp>
    </p:spTree>
    <p:extLst>
      <p:ext uri="{BB962C8B-B14F-4D97-AF65-F5344CB8AC3E}">
        <p14:creationId xmlns:p14="http://schemas.microsoft.com/office/powerpoint/2010/main" val="858184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EED1EF5-F7EA-4B39-A709-87E637D4C87B}"/>
              </a:ext>
            </a:extLst>
          </p:cNvPr>
          <p:cNvSpPr txBox="1"/>
          <p:nvPr/>
        </p:nvSpPr>
        <p:spPr>
          <a:xfrm>
            <a:off x="853841" y="2103989"/>
            <a:ext cx="10484317" cy="3108543"/>
          </a:xfrm>
          <a:prstGeom prst="rect">
            <a:avLst/>
          </a:prstGeom>
          <a:noFill/>
        </p:spPr>
        <p:txBody>
          <a:bodyPr wrap="square">
            <a:spAutoFit/>
          </a:bodyPr>
          <a:lstStyle/>
          <a:p>
            <a:pPr marL="0" marR="0" lvl="0" indent="0" algn="just" rtl="0">
              <a:spcBef>
                <a:spcPts val="0"/>
              </a:spcBef>
              <a:spcAft>
                <a:spcPts val="0"/>
              </a:spcAft>
              <a:buNone/>
            </a:pPr>
            <a:r>
              <a:rPr lang="uk-UA" sz="2800" b="1" i="1" u="none" strike="noStrike" cap="none" dirty="0">
                <a:latin typeface="Calibri"/>
                <a:ea typeface="Calibri"/>
                <a:cs typeface="Calibri"/>
                <a:sym typeface="Calibri"/>
              </a:rPr>
              <a:t>Дану модель ЖЦ доцільно використовувати</a:t>
            </a:r>
            <a:r>
              <a:rPr lang="uk-UA" sz="2800" b="0" i="1" u="none" strike="noStrike" cap="none" dirty="0">
                <a:latin typeface="Calibri"/>
                <a:ea typeface="Calibri"/>
                <a:cs typeface="Calibri"/>
                <a:sym typeface="Calibri"/>
              </a:rPr>
              <a:t>, коли:</a:t>
            </a:r>
            <a:endParaRPr lang="uk-UA" sz="2800" dirty="0"/>
          </a:p>
          <a:p>
            <a:pPr marL="514350" marR="0" lvl="0" indent="-514350" algn="just" rtl="0">
              <a:spcBef>
                <a:spcPts val="0"/>
              </a:spcBef>
              <a:spcAft>
                <a:spcPts val="0"/>
              </a:spcAft>
              <a:buFont typeface="Arial" panose="020B0604020202020204" pitchFamily="34" charset="0"/>
              <a:buChar char="•"/>
            </a:pPr>
            <a:r>
              <a:rPr lang="uk-UA" sz="2800" b="0" i="0" u="none" strike="noStrike" cap="none" dirty="0">
                <a:latin typeface="Calibri"/>
                <a:ea typeface="Calibri"/>
                <a:cs typeface="Calibri"/>
                <a:sym typeface="Calibri"/>
              </a:rPr>
              <a:t>бажано реалізувати деякі можливості системи швидко за рахунок створення проміжної версії продукту;</a:t>
            </a:r>
            <a:endParaRPr lang="uk-UA" sz="2800" dirty="0"/>
          </a:p>
          <a:p>
            <a:pPr marL="514350" marR="0" lvl="0" indent="-514350" algn="just" rtl="0">
              <a:spcBef>
                <a:spcPts val="0"/>
              </a:spcBef>
              <a:spcAft>
                <a:spcPts val="0"/>
              </a:spcAft>
              <a:buFont typeface="Arial" panose="020B0604020202020204" pitchFamily="34" charset="0"/>
              <a:buChar char="•"/>
            </a:pPr>
            <a:r>
              <a:rPr lang="uk-UA" sz="2800" b="0" i="0" u="none" strike="noStrike" cap="none" dirty="0">
                <a:latin typeface="Calibri"/>
                <a:ea typeface="Calibri"/>
                <a:cs typeface="Calibri"/>
                <a:sym typeface="Calibri"/>
              </a:rPr>
              <a:t>система декомпозується на окремі складові частини, які можна реалізовувати як деякі самостійні проміжні або готові продукти;</a:t>
            </a:r>
            <a:endParaRPr lang="uk-UA" sz="2800" dirty="0"/>
          </a:p>
          <a:p>
            <a:pPr marL="514350" marR="0" lvl="0" indent="-514350" algn="just" rtl="0">
              <a:spcBef>
                <a:spcPts val="0"/>
              </a:spcBef>
              <a:spcAft>
                <a:spcPts val="0"/>
              </a:spcAft>
              <a:buFont typeface="Arial" panose="020B0604020202020204" pitchFamily="34" charset="0"/>
              <a:buChar char="•"/>
            </a:pPr>
            <a:r>
              <a:rPr lang="uk-UA" sz="2800" b="0" i="0" u="none" strike="noStrike" cap="none" dirty="0">
                <a:latin typeface="Calibri"/>
                <a:ea typeface="Calibri"/>
                <a:cs typeface="Calibri"/>
                <a:sym typeface="Calibri"/>
              </a:rPr>
              <a:t>можливе збільшення фінансування на розробку окремих частин системи.</a:t>
            </a:r>
            <a:endParaRPr lang="uk-UA" sz="2800" dirty="0"/>
          </a:p>
        </p:txBody>
      </p:sp>
      <p:sp>
        <p:nvSpPr>
          <p:cNvPr id="8" name="Title 1">
            <a:extLst>
              <a:ext uri="{FF2B5EF4-FFF2-40B4-BE49-F238E27FC236}">
                <a16:creationId xmlns:a16="http://schemas.microsoft.com/office/drawing/2014/main" id="{38F1ACD8-122D-421D-AE66-CDD491492475}"/>
              </a:ext>
            </a:extLst>
          </p:cNvPr>
          <p:cNvSpPr>
            <a:spLocks noGrp="1"/>
          </p:cNvSpPr>
          <p:nvPr>
            <p:ph type="title"/>
          </p:nvPr>
        </p:nvSpPr>
        <p:spPr>
          <a:xfrm>
            <a:off x="685800" y="541422"/>
            <a:ext cx="10820400" cy="685800"/>
          </a:xfrm>
        </p:spPr>
        <p:txBody>
          <a:bodyPr>
            <a:normAutofit/>
          </a:bodyPr>
          <a:lstStyle/>
          <a:p>
            <a:r>
              <a:rPr lang="uk-UA" sz="3600" dirty="0">
                <a:latin typeface="Segoe UI Variable Text Semibold" pitchFamily="2" charset="0"/>
              </a:rPr>
              <a:t>ІНКРЕМЕНТНА МОДЕЛЬ</a:t>
            </a:r>
            <a:endParaRPr lang="en-US" sz="3600" dirty="0">
              <a:latin typeface="Segoe UI Variable Text Semibold" pitchFamily="2" charset="0"/>
            </a:endParaRPr>
          </a:p>
        </p:txBody>
      </p:sp>
    </p:spTree>
    <p:extLst>
      <p:ext uri="{BB962C8B-B14F-4D97-AF65-F5344CB8AC3E}">
        <p14:creationId xmlns:p14="http://schemas.microsoft.com/office/powerpoint/2010/main" val="27751141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3AFC24B-DEA7-496A-9995-DA5B0B6997BC}"/>
              </a:ext>
            </a:extLst>
          </p:cNvPr>
          <p:cNvSpPr>
            <a:spLocks noGrp="1"/>
          </p:cNvSpPr>
          <p:nvPr>
            <p:ph type="title"/>
          </p:nvPr>
        </p:nvSpPr>
        <p:spPr>
          <a:xfrm>
            <a:off x="685800" y="637675"/>
            <a:ext cx="10820400" cy="685800"/>
          </a:xfrm>
        </p:spPr>
        <p:txBody>
          <a:bodyPr>
            <a:normAutofit fontScale="90000"/>
          </a:bodyPr>
          <a:lstStyle/>
          <a:p>
            <a:r>
              <a:rPr lang="en-US" b="1" dirty="0">
                <a:latin typeface="Segoe UI Variable Text Semibold" pitchFamily="2" charset="0"/>
              </a:rPr>
              <a:t>AGILE INTRO</a:t>
            </a:r>
            <a:endParaRPr lang="uk-UA" b="1" dirty="0">
              <a:latin typeface="Segoe UI Variable Text Semibold" pitchFamily="2" charset="0"/>
            </a:endParaRPr>
          </a:p>
        </p:txBody>
      </p:sp>
      <p:pic>
        <p:nvPicPr>
          <p:cNvPr id="5" name="Picture 4" descr="Screen Shot 2014-11-25 at 11.22.47 PM.png">
            <a:extLst>
              <a:ext uri="{FF2B5EF4-FFF2-40B4-BE49-F238E27FC236}">
                <a16:creationId xmlns:a16="http://schemas.microsoft.com/office/drawing/2014/main" id="{2C7D2476-AF59-41D2-963E-FC10B1F26E26}"/>
              </a:ext>
            </a:extLst>
          </p:cNvPr>
          <p:cNvPicPr>
            <a:picLocks noChangeAspect="1"/>
          </p:cNvPicPr>
          <p:nvPr/>
        </p:nvPicPr>
        <p:blipFill rotWithShape="1">
          <a:blip r:embed="rId2">
            <a:extLst>
              <a:ext uri="{28A0092B-C50C-407E-A947-70E740481C1C}">
                <a14:useLocalDpi xmlns:a14="http://schemas.microsoft.com/office/drawing/2010/main" val="0"/>
              </a:ext>
            </a:extLst>
          </a:blip>
          <a:srcRect l="28139" t="8289" r="26189" b="53955"/>
          <a:stretch/>
        </p:blipFill>
        <p:spPr>
          <a:xfrm>
            <a:off x="685800" y="2581128"/>
            <a:ext cx="4282365" cy="2024891"/>
          </a:xfrm>
          <a:prstGeom prst="rect">
            <a:avLst/>
          </a:prstGeom>
        </p:spPr>
      </p:pic>
      <p:pic>
        <p:nvPicPr>
          <p:cNvPr id="6" name="Picture 5" descr="Screen Shot 2014-11-25 at 11.22.47 PM.png">
            <a:extLst>
              <a:ext uri="{FF2B5EF4-FFF2-40B4-BE49-F238E27FC236}">
                <a16:creationId xmlns:a16="http://schemas.microsoft.com/office/drawing/2014/main" id="{58636899-6713-4BF3-A199-866F6F526BF6}"/>
              </a:ext>
            </a:extLst>
          </p:cNvPr>
          <p:cNvPicPr>
            <a:picLocks noChangeAspect="1"/>
          </p:cNvPicPr>
          <p:nvPr/>
        </p:nvPicPr>
        <p:blipFill rotWithShape="1">
          <a:blip r:embed="rId2">
            <a:extLst>
              <a:ext uri="{28A0092B-C50C-407E-A947-70E740481C1C}">
                <a14:useLocalDpi xmlns:a14="http://schemas.microsoft.com/office/drawing/2010/main" val="0"/>
              </a:ext>
            </a:extLst>
          </a:blip>
          <a:srcRect l="27191" t="58162" r="24075"/>
          <a:stretch/>
        </p:blipFill>
        <p:spPr>
          <a:xfrm>
            <a:off x="6096000" y="2332101"/>
            <a:ext cx="5404656" cy="2653785"/>
          </a:xfrm>
          <a:prstGeom prst="rect">
            <a:avLst/>
          </a:prstGeom>
        </p:spPr>
      </p:pic>
    </p:spTree>
    <p:extLst>
      <p:ext uri="{BB962C8B-B14F-4D97-AF65-F5344CB8AC3E}">
        <p14:creationId xmlns:p14="http://schemas.microsoft.com/office/powerpoint/2010/main" val="28695799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55A4622-7CA7-496E-BF1C-7E16B885C605}"/>
              </a:ext>
            </a:extLst>
          </p:cNvPr>
          <p:cNvSpPr>
            <a:spLocks noGrp="1"/>
          </p:cNvSpPr>
          <p:nvPr>
            <p:ph type="title"/>
          </p:nvPr>
        </p:nvSpPr>
        <p:spPr>
          <a:xfrm>
            <a:off x="685800" y="637675"/>
            <a:ext cx="10820400" cy="685800"/>
          </a:xfrm>
        </p:spPr>
        <p:txBody>
          <a:bodyPr>
            <a:normAutofit fontScale="90000"/>
          </a:bodyPr>
          <a:lstStyle/>
          <a:p>
            <a:r>
              <a:rPr lang="uk-UA" b="1" dirty="0">
                <a:latin typeface="Segoe UI Variable Text Semibold" pitchFamily="2" charset="0"/>
              </a:rPr>
              <a:t>ЯК ЦЕ ПРАЦЮЄ?</a:t>
            </a:r>
          </a:p>
        </p:txBody>
      </p:sp>
      <p:pic>
        <p:nvPicPr>
          <p:cNvPr id="5" name="Picture 4" descr="Screen Shot 2014-11-25 at 11.24.43 PM.png">
            <a:extLst>
              <a:ext uri="{FF2B5EF4-FFF2-40B4-BE49-F238E27FC236}">
                <a16:creationId xmlns:a16="http://schemas.microsoft.com/office/drawing/2014/main" id="{2E56B665-F8B5-4ABB-8DDF-FF3DB90EF2FF}"/>
              </a:ext>
            </a:extLst>
          </p:cNvPr>
          <p:cNvPicPr>
            <a:picLocks noChangeAspect="1"/>
          </p:cNvPicPr>
          <p:nvPr/>
        </p:nvPicPr>
        <p:blipFill rotWithShape="1">
          <a:blip r:embed="rId2">
            <a:extLst>
              <a:ext uri="{28A0092B-C50C-407E-A947-70E740481C1C}">
                <a14:useLocalDpi xmlns:a14="http://schemas.microsoft.com/office/drawing/2010/main" val="0"/>
              </a:ext>
            </a:extLst>
          </a:blip>
          <a:srcRect l="71209" t="67782" r="3443"/>
          <a:stretch/>
        </p:blipFill>
        <p:spPr>
          <a:xfrm>
            <a:off x="10023021" y="3873976"/>
            <a:ext cx="1679897" cy="1915373"/>
          </a:xfrm>
          <a:prstGeom prst="rect">
            <a:avLst/>
          </a:prstGeom>
        </p:spPr>
      </p:pic>
      <p:pic>
        <p:nvPicPr>
          <p:cNvPr id="6" name="Picture 5" descr="Screen Shot 2014-11-25 at 11.24.43 PM.png">
            <a:extLst>
              <a:ext uri="{FF2B5EF4-FFF2-40B4-BE49-F238E27FC236}">
                <a16:creationId xmlns:a16="http://schemas.microsoft.com/office/drawing/2014/main" id="{5CE7EECA-2251-4B24-A881-52FFF44B5860}"/>
              </a:ext>
            </a:extLst>
          </p:cNvPr>
          <p:cNvPicPr>
            <a:picLocks noChangeAspect="1"/>
          </p:cNvPicPr>
          <p:nvPr/>
        </p:nvPicPr>
        <p:blipFill rotWithShape="1">
          <a:blip r:embed="rId2">
            <a:extLst>
              <a:ext uri="{28A0092B-C50C-407E-A947-70E740481C1C}">
                <a14:useLocalDpi xmlns:a14="http://schemas.microsoft.com/office/drawing/2010/main" val="0"/>
              </a:ext>
            </a:extLst>
          </a:blip>
          <a:srcRect l="74432" t="33705" r="6154" b="34117"/>
          <a:stretch/>
        </p:blipFill>
        <p:spPr>
          <a:xfrm>
            <a:off x="9358349" y="1950414"/>
            <a:ext cx="1342502" cy="1996024"/>
          </a:xfrm>
          <a:prstGeom prst="rect">
            <a:avLst/>
          </a:prstGeom>
        </p:spPr>
      </p:pic>
      <p:pic>
        <p:nvPicPr>
          <p:cNvPr id="7" name="Picture 6" descr="Screen Shot 2014-11-25 at 11.24.43 PM.png">
            <a:extLst>
              <a:ext uri="{FF2B5EF4-FFF2-40B4-BE49-F238E27FC236}">
                <a16:creationId xmlns:a16="http://schemas.microsoft.com/office/drawing/2014/main" id="{7EE6EFF5-830F-45D0-9B41-0A4071E78ED0}"/>
              </a:ext>
            </a:extLst>
          </p:cNvPr>
          <p:cNvPicPr>
            <a:picLocks noChangeAspect="1"/>
          </p:cNvPicPr>
          <p:nvPr/>
        </p:nvPicPr>
        <p:blipFill rotWithShape="1">
          <a:blip r:embed="rId2">
            <a:extLst>
              <a:ext uri="{28A0092B-C50C-407E-A947-70E740481C1C}">
                <a14:useLocalDpi xmlns:a14="http://schemas.microsoft.com/office/drawing/2010/main" val="0"/>
              </a:ext>
            </a:extLst>
          </a:blip>
          <a:srcRect l="74506" r="6447" b="67581"/>
          <a:stretch/>
        </p:blipFill>
        <p:spPr>
          <a:xfrm>
            <a:off x="8053417" y="731557"/>
            <a:ext cx="1365612" cy="2084943"/>
          </a:xfrm>
          <a:prstGeom prst="rect">
            <a:avLst/>
          </a:prstGeom>
        </p:spPr>
      </p:pic>
      <p:sp>
        <p:nvSpPr>
          <p:cNvPr id="8" name="Text Placeholder 2">
            <a:extLst>
              <a:ext uri="{FF2B5EF4-FFF2-40B4-BE49-F238E27FC236}">
                <a16:creationId xmlns:a16="http://schemas.microsoft.com/office/drawing/2014/main" id="{DD6F46C3-B2A9-4A88-A81C-0BAA378AD5C0}"/>
              </a:ext>
            </a:extLst>
          </p:cNvPr>
          <p:cNvSpPr txBox="1">
            <a:spLocks/>
          </p:cNvSpPr>
          <p:nvPr/>
        </p:nvSpPr>
        <p:spPr>
          <a:xfrm>
            <a:off x="887931" y="1334588"/>
            <a:ext cx="8958714" cy="4188823"/>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chemeClr val="tx1"/>
                </a:solidFill>
                <a:effectLst>
                  <a:outerShdw blurRad="38100" dist="38100" dir="2700000" algn="tl">
                    <a:srgbClr val="000000">
                      <a:alpha val="43137"/>
                    </a:srgbClr>
                  </a:outerShdw>
                </a:effectLst>
              </a:rPr>
              <a:t>You make a list</a:t>
            </a:r>
          </a:p>
          <a:p>
            <a:r>
              <a:rPr lang="en-US" sz="1600" dirty="0">
                <a:solidFill>
                  <a:schemeClr val="tx1"/>
                </a:solidFill>
              </a:rPr>
              <a:t>Sitting down your customer you make a list of features they would like to </a:t>
            </a:r>
          </a:p>
          <a:p>
            <a:r>
              <a:rPr lang="en-US" sz="1600" dirty="0">
                <a:solidFill>
                  <a:schemeClr val="tx1"/>
                </a:solidFill>
              </a:rPr>
              <a:t>see in their software. We call these things </a:t>
            </a:r>
            <a:r>
              <a:rPr lang="en-US" sz="1600" dirty="0">
                <a:solidFill>
                  <a:srgbClr val="FF0000"/>
                </a:solidFill>
              </a:rPr>
              <a:t>user stories </a:t>
            </a:r>
            <a:r>
              <a:rPr lang="en-US" sz="1600" dirty="0">
                <a:solidFill>
                  <a:schemeClr val="tx1"/>
                </a:solidFill>
              </a:rPr>
              <a:t>and they become the</a:t>
            </a:r>
          </a:p>
          <a:p>
            <a:r>
              <a:rPr lang="en-US" sz="1600" dirty="0">
                <a:solidFill>
                  <a:schemeClr val="tx1"/>
                </a:solidFill>
              </a:rPr>
              <a:t>To Do list for your project.</a:t>
            </a:r>
          </a:p>
          <a:p>
            <a:endParaRPr lang="en-US" sz="1600" dirty="0">
              <a:solidFill>
                <a:schemeClr val="tx1"/>
              </a:solidFill>
            </a:endParaRPr>
          </a:p>
          <a:p>
            <a:endParaRPr lang="en-US" sz="1600" dirty="0">
              <a:solidFill>
                <a:schemeClr val="tx1"/>
              </a:solidFill>
            </a:endParaRPr>
          </a:p>
          <a:p>
            <a:r>
              <a:rPr lang="en-US" sz="1800" b="1" dirty="0">
                <a:solidFill>
                  <a:schemeClr val="tx1"/>
                </a:solidFill>
                <a:effectLst>
                  <a:outerShdw blurRad="38100" dist="38100" dir="2700000" algn="tl">
                    <a:srgbClr val="000000">
                      <a:alpha val="43137"/>
                    </a:srgbClr>
                  </a:outerShdw>
                </a:effectLst>
              </a:rPr>
              <a:t>You size things up</a:t>
            </a:r>
          </a:p>
          <a:p>
            <a:r>
              <a:rPr lang="en-US" sz="1600" dirty="0">
                <a:solidFill>
                  <a:schemeClr val="tx1"/>
                </a:solidFill>
              </a:rPr>
              <a:t>Then, using Agile </a:t>
            </a:r>
            <a:r>
              <a:rPr lang="en-US" sz="1600" dirty="0">
                <a:solidFill>
                  <a:srgbClr val="FF0000"/>
                </a:solidFill>
              </a:rPr>
              <a:t>estimation</a:t>
            </a:r>
            <a:r>
              <a:rPr lang="en-US" sz="1600" dirty="0">
                <a:solidFill>
                  <a:schemeClr val="tx1"/>
                </a:solidFill>
              </a:rPr>
              <a:t> techniques, you size your stories relatively to each other, </a:t>
            </a:r>
          </a:p>
          <a:p>
            <a:r>
              <a:rPr lang="en-US" sz="1600" dirty="0">
                <a:solidFill>
                  <a:schemeClr val="tx1"/>
                </a:solidFill>
              </a:rPr>
              <a:t>coming up with a guess as to how long you think each user story will take.</a:t>
            </a:r>
          </a:p>
          <a:p>
            <a:endParaRPr lang="en-US" sz="1600" dirty="0">
              <a:solidFill>
                <a:schemeClr val="tx1"/>
              </a:solidFill>
            </a:endParaRPr>
          </a:p>
          <a:p>
            <a:endParaRPr lang="en-US" sz="1600" dirty="0">
              <a:solidFill>
                <a:schemeClr val="tx1"/>
              </a:solidFill>
            </a:endParaRPr>
          </a:p>
          <a:p>
            <a:r>
              <a:rPr lang="en-US" sz="1800" b="1" dirty="0">
                <a:solidFill>
                  <a:schemeClr val="tx1"/>
                </a:solidFill>
                <a:effectLst>
                  <a:outerShdw blurRad="38100" dist="38100" dir="2700000" algn="tl">
                    <a:srgbClr val="000000">
                      <a:alpha val="43137"/>
                    </a:srgbClr>
                  </a:outerShdw>
                </a:effectLst>
              </a:rPr>
              <a:t>You set some priorities</a:t>
            </a:r>
          </a:p>
          <a:p>
            <a:r>
              <a:rPr lang="en-US" sz="1600" dirty="0">
                <a:solidFill>
                  <a:schemeClr val="tx1"/>
                </a:solidFill>
              </a:rPr>
              <a:t>Like most lists, there always seems to be more to do than time allows. So you ask your customer </a:t>
            </a:r>
          </a:p>
          <a:p>
            <a:r>
              <a:rPr lang="en-US" sz="1600" dirty="0">
                <a:solidFill>
                  <a:schemeClr val="tx1"/>
                </a:solidFill>
              </a:rPr>
              <a:t>to prioritize their list so you get the most important stuff done first, and save the least important for last.</a:t>
            </a:r>
            <a:endParaRPr lang="uk-UA" sz="1600" dirty="0">
              <a:solidFill>
                <a:schemeClr val="tx1"/>
              </a:solidFill>
            </a:endParaRPr>
          </a:p>
        </p:txBody>
      </p:sp>
    </p:spTree>
    <p:extLst>
      <p:ext uri="{BB962C8B-B14F-4D97-AF65-F5344CB8AC3E}">
        <p14:creationId xmlns:p14="http://schemas.microsoft.com/office/powerpoint/2010/main" val="18955546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D558A208-CECA-4A20-A584-43AA5E9102CC}"/>
              </a:ext>
            </a:extLst>
          </p:cNvPr>
          <p:cNvSpPr>
            <a:spLocks noGrp="1"/>
          </p:cNvSpPr>
          <p:nvPr>
            <p:ph type="title"/>
          </p:nvPr>
        </p:nvSpPr>
        <p:spPr>
          <a:xfrm>
            <a:off x="685800" y="441572"/>
            <a:ext cx="10820400" cy="685800"/>
          </a:xfrm>
        </p:spPr>
        <p:txBody>
          <a:bodyPr>
            <a:normAutofit fontScale="90000"/>
          </a:bodyPr>
          <a:lstStyle/>
          <a:p>
            <a:r>
              <a:rPr lang="en-US" dirty="0">
                <a:latin typeface="Segoe UI Variable Display Semib" pitchFamily="2" charset="0"/>
              </a:rPr>
              <a:t>AGILE </a:t>
            </a:r>
            <a:r>
              <a:rPr lang="uk-UA" dirty="0">
                <a:latin typeface="Segoe UI Variable Display Semib" pitchFamily="2" charset="0"/>
              </a:rPr>
              <a:t>МЕТОДОЛОГІЯ</a:t>
            </a:r>
            <a:endParaRPr lang="en-US" dirty="0">
              <a:latin typeface="Segoe UI Variable Display Semib" pitchFamily="2" charset="0"/>
            </a:endParaRPr>
          </a:p>
        </p:txBody>
      </p:sp>
      <p:pic>
        <p:nvPicPr>
          <p:cNvPr id="5" name="Picture 14" descr="Agile Methodology: Incremental and Iterative way of development | by  Ashutosh Agrawal | Medium">
            <a:extLst>
              <a:ext uri="{FF2B5EF4-FFF2-40B4-BE49-F238E27FC236}">
                <a16:creationId xmlns:a16="http://schemas.microsoft.com/office/drawing/2014/main" id="{728E3E53-A675-4965-A14C-FB07D97B2E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87333"/>
            <a:ext cx="10934401" cy="296352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B549223-AECD-4573-8ABB-0DB557065789}"/>
              </a:ext>
            </a:extLst>
          </p:cNvPr>
          <p:cNvSpPr txBox="1"/>
          <p:nvPr/>
        </p:nvSpPr>
        <p:spPr>
          <a:xfrm>
            <a:off x="685800" y="5106499"/>
            <a:ext cx="5098983" cy="923330"/>
          </a:xfrm>
          <a:prstGeom prst="rect">
            <a:avLst/>
          </a:prstGeom>
          <a:noFill/>
        </p:spPr>
        <p:txBody>
          <a:bodyPr wrap="square">
            <a:spAutoFit/>
          </a:bodyPr>
          <a:lstStyle/>
          <a:p>
            <a:r>
              <a:rPr lang="en-US" dirty="0">
                <a:latin typeface="Segoe UI Variable Display Semib" pitchFamily="2" charset="0"/>
              </a:rPr>
              <a:t>Agile </a:t>
            </a:r>
            <a:r>
              <a:rPr lang="en-US" dirty="0" err="1">
                <a:latin typeface="Segoe UI Variable Display Semib" pitchFamily="2" charset="0"/>
              </a:rPr>
              <a:t>зосереджується</a:t>
            </a:r>
            <a:r>
              <a:rPr lang="en-US" dirty="0">
                <a:latin typeface="Segoe UI Variable Display Semib" pitchFamily="2" charset="0"/>
              </a:rPr>
              <a:t> </a:t>
            </a:r>
            <a:r>
              <a:rPr lang="en-US" dirty="0" err="1">
                <a:latin typeface="Segoe UI Variable Display Semib" pitchFamily="2" charset="0"/>
              </a:rPr>
              <a:t>на</a:t>
            </a:r>
            <a:r>
              <a:rPr lang="en-US" dirty="0">
                <a:latin typeface="Segoe UI Variable Display Semib" pitchFamily="2" charset="0"/>
              </a:rPr>
              <a:t> </a:t>
            </a:r>
            <a:r>
              <a:rPr lang="en-US" dirty="0" err="1">
                <a:latin typeface="Segoe UI Variable Display Semib" pitchFamily="2" charset="0"/>
              </a:rPr>
              <a:t>тому</a:t>
            </a:r>
            <a:r>
              <a:rPr lang="en-US" dirty="0">
                <a:latin typeface="Segoe UI Variable Display Semib" pitchFamily="2" charset="0"/>
              </a:rPr>
              <a:t>, </a:t>
            </a:r>
            <a:r>
              <a:rPr lang="en-US" dirty="0" err="1">
                <a:latin typeface="Segoe UI Variable Display Semib" pitchFamily="2" charset="0"/>
              </a:rPr>
              <a:t>як</a:t>
            </a:r>
            <a:r>
              <a:rPr lang="en-US" dirty="0">
                <a:latin typeface="Segoe UI Variable Display Semib" pitchFamily="2" charset="0"/>
              </a:rPr>
              <a:t> </a:t>
            </a:r>
            <a:r>
              <a:rPr lang="en-US" dirty="0" err="1">
                <a:latin typeface="Segoe UI Variable Display Semib" pitchFamily="2" charset="0"/>
              </a:rPr>
              <a:t>задовольнити</a:t>
            </a:r>
            <a:r>
              <a:rPr lang="en-US" dirty="0">
                <a:latin typeface="Segoe UI Variable Display Semib" pitchFamily="2" charset="0"/>
              </a:rPr>
              <a:t> </a:t>
            </a:r>
            <a:r>
              <a:rPr lang="en-US" dirty="0" err="1">
                <a:latin typeface="Segoe UI Variable Display Semib" pitchFamily="2" charset="0"/>
              </a:rPr>
              <a:t>користувачів</a:t>
            </a:r>
            <a:r>
              <a:rPr lang="en-US" dirty="0">
                <a:latin typeface="Segoe UI Variable Display Semib" pitchFamily="2" charset="0"/>
              </a:rPr>
              <a:t>, а </a:t>
            </a:r>
            <a:r>
              <a:rPr lang="en-US" dirty="0" err="1">
                <a:latin typeface="Segoe UI Variable Display Semib" pitchFamily="2" charset="0"/>
              </a:rPr>
              <a:t>не</a:t>
            </a:r>
            <a:r>
              <a:rPr lang="en-US" dirty="0">
                <a:latin typeface="Segoe UI Variable Display Semib" pitchFamily="2" charset="0"/>
              </a:rPr>
              <a:t> </a:t>
            </a:r>
            <a:r>
              <a:rPr lang="en-US" dirty="0" err="1">
                <a:latin typeface="Segoe UI Variable Display Semib" pitchFamily="2" charset="0"/>
              </a:rPr>
              <a:t>на</a:t>
            </a:r>
            <a:r>
              <a:rPr lang="en-US" dirty="0">
                <a:latin typeface="Segoe UI Variable Display Semib" pitchFamily="2" charset="0"/>
              </a:rPr>
              <a:t> </a:t>
            </a:r>
            <a:r>
              <a:rPr lang="en-US" dirty="0" err="1">
                <a:latin typeface="Segoe UI Variable Display Semib" pitchFamily="2" charset="0"/>
              </a:rPr>
              <a:t>документації</a:t>
            </a:r>
            <a:r>
              <a:rPr lang="en-US" dirty="0">
                <a:latin typeface="Segoe UI Variable Display Semib" pitchFamily="2" charset="0"/>
              </a:rPr>
              <a:t> </a:t>
            </a:r>
            <a:r>
              <a:rPr lang="en-US" dirty="0" err="1">
                <a:latin typeface="Segoe UI Variable Display Semib" pitchFamily="2" charset="0"/>
              </a:rPr>
              <a:t>та</a:t>
            </a:r>
            <a:r>
              <a:rPr lang="en-US" dirty="0">
                <a:latin typeface="Segoe UI Variable Display Semib" pitchFamily="2" charset="0"/>
              </a:rPr>
              <a:t> </a:t>
            </a:r>
            <a:r>
              <a:rPr lang="en-US" dirty="0" err="1">
                <a:latin typeface="Segoe UI Variable Display Semib" pitchFamily="2" charset="0"/>
              </a:rPr>
              <a:t>жорстких</a:t>
            </a:r>
            <a:r>
              <a:rPr lang="en-US" dirty="0">
                <a:latin typeface="Segoe UI Variable Display Semib" pitchFamily="2" charset="0"/>
              </a:rPr>
              <a:t> </a:t>
            </a:r>
            <a:r>
              <a:rPr lang="en-US" dirty="0" err="1">
                <a:latin typeface="Segoe UI Variable Display Semib" pitchFamily="2" charset="0"/>
              </a:rPr>
              <a:t>процедурах</a:t>
            </a:r>
            <a:r>
              <a:rPr lang="en-US" dirty="0">
                <a:latin typeface="Segoe UI Variable Display Semib" pitchFamily="2" charset="0"/>
              </a:rPr>
              <a:t>.</a:t>
            </a:r>
          </a:p>
        </p:txBody>
      </p:sp>
      <p:sp>
        <p:nvSpPr>
          <p:cNvPr id="7" name="TextBox 6">
            <a:extLst>
              <a:ext uri="{FF2B5EF4-FFF2-40B4-BE49-F238E27FC236}">
                <a16:creationId xmlns:a16="http://schemas.microsoft.com/office/drawing/2014/main" id="{81887813-864A-4FF8-8F24-695D240AE109}"/>
              </a:ext>
            </a:extLst>
          </p:cNvPr>
          <p:cNvSpPr txBox="1"/>
          <p:nvPr/>
        </p:nvSpPr>
        <p:spPr>
          <a:xfrm>
            <a:off x="6500061" y="5106499"/>
            <a:ext cx="5278855" cy="923330"/>
          </a:xfrm>
          <a:prstGeom prst="rect">
            <a:avLst/>
          </a:prstGeom>
          <a:noFill/>
        </p:spPr>
        <p:txBody>
          <a:bodyPr wrap="square">
            <a:spAutoFit/>
          </a:bodyPr>
          <a:lstStyle/>
          <a:p>
            <a:r>
              <a:rPr lang="en-US" dirty="0" err="1">
                <a:latin typeface="Segoe UI Variable Display Semib" pitchFamily="2" charset="0"/>
              </a:rPr>
              <a:t>Спілкування</a:t>
            </a:r>
            <a:r>
              <a:rPr lang="en-US" dirty="0">
                <a:latin typeface="Segoe UI Variable Display Semib" pitchFamily="2" charset="0"/>
              </a:rPr>
              <a:t> є </a:t>
            </a:r>
            <a:r>
              <a:rPr lang="en-US" dirty="0" err="1">
                <a:latin typeface="Segoe UI Variable Display Semib" pitchFamily="2" charset="0"/>
              </a:rPr>
              <a:t>пріоритетом</a:t>
            </a:r>
            <a:r>
              <a:rPr lang="en-US" dirty="0">
                <a:latin typeface="Segoe UI Variable Display Semib" pitchFamily="2" charset="0"/>
              </a:rPr>
              <a:t> Agile, </a:t>
            </a:r>
            <a:r>
              <a:rPr lang="en-US" dirty="0" err="1">
                <a:latin typeface="Segoe UI Variable Display Semib" pitchFamily="2" charset="0"/>
              </a:rPr>
              <a:t>особливо</a:t>
            </a:r>
            <a:r>
              <a:rPr lang="en-US" dirty="0">
                <a:latin typeface="Segoe UI Variable Display Semib" pitchFamily="2" charset="0"/>
              </a:rPr>
              <a:t> </a:t>
            </a:r>
            <a:r>
              <a:rPr lang="en-US" dirty="0" err="1">
                <a:latin typeface="Segoe UI Variable Display Semib" pitchFamily="2" charset="0"/>
              </a:rPr>
              <a:t>між</a:t>
            </a:r>
            <a:r>
              <a:rPr lang="en-US" dirty="0">
                <a:latin typeface="Segoe UI Variable Display Semib" pitchFamily="2" charset="0"/>
              </a:rPr>
              <a:t> </a:t>
            </a:r>
            <a:r>
              <a:rPr lang="en-US" dirty="0" err="1">
                <a:latin typeface="Segoe UI Variable Display Semib" pitchFamily="2" charset="0"/>
              </a:rPr>
              <a:t>розробниками</a:t>
            </a:r>
            <a:r>
              <a:rPr lang="en-US" dirty="0">
                <a:latin typeface="Segoe UI Variable Display Semib" pitchFamily="2" charset="0"/>
              </a:rPr>
              <a:t>, </a:t>
            </a:r>
            <a:r>
              <a:rPr lang="en-US" dirty="0" err="1">
                <a:latin typeface="Segoe UI Variable Display Semib" pitchFamily="2" charset="0"/>
              </a:rPr>
              <a:t>клієнтами</a:t>
            </a:r>
            <a:r>
              <a:rPr lang="en-US" dirty="0">
                <a:latin typeface="Segoe UI Variable Display Semib" pitchFamily="2" charset="0"/>
              </a:rPr>
              <a:t> </a:t>
            </a:r>
            <a:r>
              <a:rPr lang="en-US" dirty="0" err="1">
                <a:latin typeface="Segoe UI Variable Display Semib" pitchFamily="2" charset="0"/>
              </a:rPr>
              <a:t>та</a:t>
            </a:r>
            <a:r>
              <a:rPr lang="en-US" dirty="0">
                <a:latin typeface="Segoe UI Variable Display Semib" pitchFamily="2" charset="0"/>
              </a:rPr>
              <a:t> </a:t>
            </a:r>
            <a:r>
              <a:rPr lang="en-US" dirty="0" err="1">
                <a:latin typeface="Segoe UI Variable Display Semib" pitchFamily="2" charset="0"/>
              </a:rPr>
              <a:t>користувачами</a:t>
            </a:r>
            <a:r>
              <a:rPr lang="en-US" dirty="0">
                <a:latin typeface="Segoe UI Variable Display Semib" pitchFamily="2" charset="0"/>
              </a:rPr>
              <a:t>.</a:t>
            </a:r>
          </a:p>
        </p:txBody>
      </p:sp>
    </p:spTree>
    <p:extLst>
      <p:ext uri="{BB962C8B-B14F-4D97-AF65-F5344CB8AC3E}">
        <p14:creationId xmlns:p14="http://schemas.microsoft.com/office/powerpoint/2010/main" val="11838012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Місце для тексту 2">
            <a:extLst>
              <a:ext uri="{FF2B5EF4-FFF2-40B4-BE49-F238E27FC236}">
                <a16:creationId xmlns:a16="http://schemas.microsoft.com/office/drawing/2014/main" id="{4287EB45-2E36-46B5-9F89-24A4B7D9E577}"/>
              </a:ext>
            </a:extLst>
          </p:cNvPr>
          <p:cNvSpPr txBox="1">
            <a:spLocks/>
          </p:cNvSpPr>
          <p:nvPr/>
        </p:nvSpPr>
        <p:spPr>
          <a:xfrm>
            <a:off x="685292" y="2062212"/>
            <a:ext cx="5174998" cy="34290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spcAft>
                <a:spcPts val="1200"/>
              </a:spcAft>
            </a:pPr>
            <a:r>
              <a:rPr lang="uk-UA" sz="2800" b="1" dirty="0">
                <a:solidFill>
                  <a:schemeClr val="accent6"/>
                </a:solidFill>
                <a:latin typeface="Segoe UI Variable Display Semib" pitchFamily="2" charset="0"/>
              </a:rPr>
              <a:t>Переваги</a:t>
            </a:r>
          </a:p>
          <a:p>
            <a:pPr marL="342900" indent="-342900" algn="just">
              <a:buFont typeface="+mj-lt"/>
              <a:buAutoNum type="arabicPeriod"/>
            </a:pPr>
            <a:r>
              <a:rPr lang="ru-RU" sz="1800" dirty="0">
                <a:solidFill>
                  <a:schemeClr val="tx1"/>
                </a:solidFill>
                <a:latin typeface="Segoe UI Variable Display Semib" pitchFamily="2" charset="0"/>
              </a:rPr>
              <a:t>Програмне забезпечення має мінімальну кількість дефектів завдяки ітераційним зусиллям у тестуванні та точному налаштуванні.</a:t>
            </a:r>
          </a:p>
          <a:p>
            <a:pPr marL="342900" indent="-342900" algn="just">
              <a:buFont typeface="+mj-lt"/>
              <a:buAutoNum type="arabicPeriod"/>
            </a:pPr>
            <a:r>
              <a:rPr lang="ru-RU" sz="1800" dirty="0">
                <a:solidFill>
                  <a:schemeClr val="tx1"/>
                </a:solidFill>
                <a:latin typeface="Segoe UI Variable Display Semib" pitchFamily="2" charset="0"/>
              </a:rPr>
              <a:t>Чіткість між членами команди під час розробки завдяки частій і прозорій розробці.</a:t>
            </a:r>
          </a:p>
          <a:p>
            <a:pPr marL="342900" indent="-342900" algn="just">
              <a:buFont typeface="+mj-lt"/>
              <a:buAutoNum type="arabicPeriod"/>
            </a:pPr>
            <a:r>
              <a:rPr lang="ru-RU" sz="1800" dirty="0">
                <a:solidFill>
                  <a:schemeClr val="tx1"/>
                </a:solidFill>
                <a:latin typeface="Segoe UI Variable Display Semib" pitchFamily="2" charset="0"/>
              </a:rPr>
              <a:t>Зміни у вимогах до проекту легко вносяться та виконуються з незначним впливом на часовий графік.</a:t>
            </a:r>
          </a:p>
          <a:p>
            <a:pPr marL="342900" indent="-342900" algn="just">
              <a:buFont typeface="+mj-lt"/>
              <a:buAutoNum type="arabicPeriod"/>
            </a:pPr>
            <a:r>
              <a:rPr lang="ru-RU" sz="1800" dirty="0">
                <a:solidFill>
                  <a:schemeClr val="tx1"/>
                </a:solidFill>
                <a:latin typeface="Segoe UI Variable Display Semib" pitchFamily="2" charset="0"/>
              </a:rPr>
              <a:t>Загальне покращення якості результату.</a:t>
            </a:r>
            <a:endParaRPr lang="en-US" sz="1800" dirty="0">
              <a:solidFill>
                <a:schemeClr val="tx1"/>
              </a:solidFill>
              <a:latin typeface="Segoe UI Variable Display Semib" pitchFamily="2" charset="0"/>
            </a:endParaRPr>
          </a:p>
        </p:txBody>
      </p:sp>
      <p:sp>
        <p:nvSpPr>
          <p:cNvPr id="5" name="Місце для тексту 3">
            <a:extLst>
              <a:ext uri="{FF2B5EF4-FFF2-40B4-BE49-F238E27FC236}">
                <a16:creationId xmlns:a16="http://schemas.microsoft.com/office/drawing/2014/main" id="{03B71F5D-01A0-4D80-AB4C-A9EFC4E96F07}"/>
              </a:ext>
            </a:extLst>
          </p:cNvPr>
          <p:cNvSpPr txBox="1">
            <a:spLocks/>
          </p:cNvSpPr>
          <p:nvPr/>
        </p:nvSpPr>
        <p:spPr>
          <a:xfrm>
            <a:off x="6331712" y="2062212"/>
            <a:ext cx="5175504" cy="3429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1200"/>
              </a:spcAft>
            </a:pPr>
            <a:r>
              <a:rPr lang="uk-UA" sz="2800" b="1" dirty="0">
                <a:solidFill>
                  <a:srgbClr val="FF0000"/>
                </a:solidFill>
                <a:latin typeface="Segoe UI Variable Display Semib" pitchFamily="2" charset="0"/>
              </a:rPr>
              <a:t>Недоліки</a:t>
            </a:r>
          </a:p>
          <a:p>
            <a:pPr marL="342900" indent="-342900" algn="l">
              <a:buFont typeface="+mj-lt"/>
              <a:buAutoNum type="arabicPeriod"/>
            </a:pPr>
            <a:r>
              <a:rPr lang="ru-RU" sz="1800" dirty="0">
                <a:solidFill>
                  <a:schemeClr val="tx1"/>
                </a:solidFill>
                <a:latin typeface="Segoe UI Variable Display Semib" pitchFamily="2" charset="0"/>
              </a:rPr>
              <a:t>Команда іноді може втратити концентрацію через величезну кількість запитів на зміни.</a:t>
            </a:r>
          </a:p>
          <a:p>
            <a:pPr marL="342900" indent="-342900" algn="l">
              <a:buFont typeface="+mj-lt"/>
              <a:buAutoNum type="arabicPeriod"/>
            </a:pPr>
            <a:r>
              <a:rPr lang="ru-RU" sz="1800" dirty="0">
                <a:solidFill>
                  <a:schemeClr val="tx1"/>
                </a:solidFill>
                <a:latin typeface="Segoe UI Variable Display Semib" pitchFamily="2" charset="0"/>
              </a:rPr>
              <a:t>Документація відходить на другий план у </a:t>
            </a:r>
            <a:r>
              <a:rPr lang="en-US" sz="1800" dirty="0">
                <a:solidFill>
                  <a:schemeClr val="tx1"/>
                </a:solidFill>
                <a:latin typeface="Segoe UI Variable Display Semib" pitchFamily="2" charset="0"/>
              </a:rPr>
              <a:t>Agile, </a:t>
            </a:r>
            <a:r>
              <a:rPr lang="ru-RU" sz="1800" dirty="0">
                <a:solidFill>
                  <a:schemeClr val="tx1"/>
                </a:solidFill>
                <a:latin typeface="Segoe UI Variable Display Semib" pitchFamily="2" charset="0"/>
              </a:rPr>
              <a:t>що може стати проблемою на подальшому етапі розробки.</a:t>
            </a:r>
          </a:p>
          <a:p>
            <a:pPr marL="342900" indent="-342900" algn="l">
              <a:buFont typeface="+mj-lt"/>
              <a:buAutoNum type="arabicPeriod"/>
            </a:pPr>
            <a:r>
              <a:rPr lang="en-US" sz="1800" dirty="0">
                <a:solidFill>
                  <a:schemeClr val="tx1"/>
                </a:solidFill>
                <a:latin typeface="Segoe UI Variable Display Semib" pitchFamily="2" charset="0"/>
              </a:rPr>
              <a:t>Agile </a:t>
            </a:r>
            <a:r>
              <a:rPr lang="ru-RU" sz="1800" dirty="0">
                <a:solidFill>
                  <a:schemeClr val="tx1"/>
                </a:solidFill>
                <a:latin typeface="Segoe UI Variable Display Semib" pitchFamily="2" charset="0"/>
              </a:rPr>
              <a:t>зосереджується на обговореннях і зворотному зв’язку, що може зайняти надто багато часу для команди.</a:t>
            </a:r>
          </a:p>
          <a:p>
            <a:pPr marL="342900" indent="-342900" algn="l">
              <a:buFont typeface="+mj-lt"/>
              <a:buAutoNum type="arabicPeriod"/>
            </a:pPr>
            <a:r>
              <a:rPr lang="ru-RU" sz="1800" dirty="0">
                <a:solidFill>
                  <a:schemeClr val="tx1"/>
                </a:solidFill>
                <a:latin typeface="Segoe UI Variable Display Semib" pitchFamily="2" charset="0"/>
              </a:rPr>
              <a:t>Через неструктурований підхід </a:t>
            </a:r>
            <a:r>
              <a:rPr lang="en-US" sz="1800" dirty="0">
                <a:solidFill>
                  <a:schemeClr val="tx1"/>
                </a:solidFill>
                <a:latin typeface="Segoe UI Variable Display Semib" pitchFamily="2" charset="0"/>
              </a:rPr>
              <a:t>Agile </a:t>
            </a:r>
            <a:r>
              <a:rPr lang="ru-RU" sz="1800" dirty="0">
                <a:solidFill>
                  <a:schemeClr val="tx1"/>
                </a:solidFill>
                <a:latin typeface="Segoe UI Variable Display Semib" pitchFamily="2" charset="0"/>
              </a:rPr>
              <a:t>вимагає досвідчених розробників, які можуть працювати самостійно.</a:t>
            </a:r>
            <a:endParaRPr lang="en-US" sz="1800" dirty="0">
              <a:solidFill>
                <a:schemeClr val="tx1"/>
              </a:solidFill>
              <a:latin typeface="Segoe UI Variable Display Semib" pitchFamily="2" charset="0"/>
            </a:endParaRPr>
          </a:p>
        </p:txBody>
      </p:sp>
      <p:sp>
        <p:nvSpPr>
          <p:cNvPr id="6" name="Заголовок 1">
            <a:extLst>
              <a:ext uri="{FF2B5EF4-FFF2-40B4-BE49-F238E27FC236}">
                <a16:creationId xmlns:a16="http://schemas.microsoft.com/office/drawing/2014/main" id="{F37751C2-EACA-4742-BB4F-510D7A78C40F}"/>
              </a:ext>
            </a:extLst>
          </p:cNvPr>
          <p:cNvSpPr>
            <a:spLocks noGrp="1"/>
          </p:cNvSpPr>
          <p:nvPr>
            <p:ph type="title"/>
          </p:nvPr>
        </p:nvSpPr>
        <p:spPr>
          <a:xfrm>
            <a:off x="685800" y="441572"/>
            <a:ext cx="10820400" cy="685800"/>
          </a:xfrm>
        </p:spPr>
        <p:txBody>
          <a:bodyPr>
            <a:normAutofit fontScale="90000"/>
          </a:bodyPr>
          <a:lstStyle/>
          <a:p>
            <a:r>
              <a:rPr lang="en-US" dirty="0">
                <a:latin typeface="Segoe UI Variable Display Semib" pitchFamily="2" charset="0"/>
              </a:rPr>
              <a:t>AGILE </a:t>
            </a:r>
            <a:r>
              <a:rPr lang="uk-UA" dirty="0">
                <a:latin typeface="Segoe UI Variable Display Semib" pitchFamily="2" charset="0"/>
              </a:rPr>
              <a:t>МЕТОДОЛОГІЯ</a:t>
            </a:r>
            <a:endParaRPr lang="en-US" dirty="0">
              <a:latin typeface="Segoe UI Variable Display Semib" pitchFamily="2" charset="0"/>
            </a:endParaRPr>
          </a:p>
        </p:txBody>
      </p:sp>
      <p:pic>
        <p:nvPicPr>
          <p:cNvPr id="7" name="Picture 30" descr="Expert team Icon - Download in Flat Style">
            <a:extLst>
              <a:ext uri="{FF2B5EF4-FFF2-40B4-BE49-F238E27FC236}">
                <a16:creationId xmlns:a16="http://schemas.microsoft.com/office/drawing/2014/main" id="{FCADA737-8AB3-4AFB-8158-D6EEF72E8F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0988" y="101999"/>
            <a:ext cx="1795212" cy="1795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68121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Місце для тексту 3">
            <a:extLst>
              <a:ext uri="{FF2B5EF4-FFF2-40B4-BE49-F238E27FC236}">
                <a16:creationId xmlns:a16="http://schemas.microsoft.com/office/drawing/2014/main" id="{09511C04-0314-4A5F-9E57-115623E005D1}"/>
              </a:ext>
            </a:extLst>
          </p:cNvPr>
          <p:cNvSpPr txBox="1">
            <a:spLocks/>
          </p:cNvSpPr>
          <p:nvPr/>
        </p:nvSpPr>
        <p:spPr>
          <a:xfrm>
            <a:off x="7447547" y="2628693"/>
            <a:ext cx="4383505" cy="212378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tx1"/>
                </a:solidFill>
                <a:latin typeface="Segoe UI Variable Display Semib" pitchFamily="2" charset="0"/>
              </a:rPr>
              <a:t>WATERFALL </a:t>
            </a:r>
            <a:r>
              <a:rPr lang="uk-UA" sz="2400" b="1" dirty="0">
                <a:solidFill>
                  <a:schemeClr val="tx1"/>
                </a:solidFill>
                <a:latin typeface="Segoe UI Variable Display Semib" pitchFamily="2" charset="0"/>
              </a:rPr>
              <a:t>МЕТОДОЛОГІЯ </a:t>
            </a:r>
            <a:r>
              <a:rPr lang="uk-UA" sz="2400" dirty="0">
                <a:solidFill>
                  <a:schemeClr val="tx1"/>
                </a:solidFill>
                <a:latin typeface="Segoe UI Variable Display Semib" pitchFamily="2" charset="0"/>
              </a:rPr>
              <a:t>- ц</a:t>
            </a:r>
            <a:r>
              <a:rPr lang="ru-RU" sz="2400" dirty="0">
                <a:solidFill>
                  <a:schemeClr val="tx1"/>
                </a:solidFill>
                <a:latin typeface="Segoe UI Variable Display Semib" pitchFamily="2" charset="0"/>
              </a:rPr>
              <a:t>е простий лінійний метод, у якому етапи розробки впорядковані в послідовні каскадні процеси.</a:t>
            </a:r>
            <a:endParaRPr lang="en-US" sz="2400" dirty="0">
              <a:solidFill>
                <a:schemeClr val="tx1"/>
              </a:solidFill>
              <a:latin typeface="Segoe UI Variable Display Semib" pitchFamily="2" charset="0"/>
            </a:endParaRPr>
          </a:p>
        </p:txBody>
      </p:sp>
      <p:sp>
        <p:nvSpPr>
          <p:cNvPr id="5" name="Заголовок 1">
            <a:extLst>
              <a:ext uri="{FF2B5EF4-FFF2-40B4-BE49-F238E27FC236}">
                <a16:creationId xmlns:a16="http://schemas.microsoft.com/office/drawing/2014/main" id="{E20506B0-3100-4728-B712-0B49A36C3788}"/>
              </a:ext>
            </a:extLst>
          </p:cNvPr>
          <p:cNvSpPr>
            <a:spLocks noGrp="1"/>
          </p:cNvSpPr>
          <p:nvPr>
            <p:ph type="title"/>
          </p:nvPr>
        </p:nvSpPr>
        <p:spPr>
          <a:xfrm>
            <a:off x="685800" y="441572"/>
            <a:ext cx="10820400" cy="685800"/>
          </a:xfrm>
        </p:spPr>
        <p:txBody>
          <a:bodyPr>
            <a:normAutofit fontScale="90000"/>
          </a:bodyPr>
          <a:lstStyle/>
          <a:p>
            <a:r>
              <a:rPr lang="en-US" dirty="0">
                <a:latin typeface="Segoe UI Variable Display Semib" pitchFamily="2" charset="0"/>
              </a:rPr>
              <a:t>WATERFALL </a:t>
            </a:r>
            <a:r>
              <a:rPr lang="uk-UA" dirty="0">
                <a:latin typeface="Segoe UI Variable Display Semib" pitchFamily="2" charset="0"/>
              </a:rPr>
              <a:t>МЕТОДОЛОГІЯ</a:t>
            </a:r>
            <a:endParaRPr lang="en-US" dirty="0">
              <a:latin typeface="Segoe UI Variable Display Semib" pitchFamily="2" charset="0"/>
            </a:endParaRPr>
          </a:p>
        </p:txBody>
      </p:sp>
      <p:pic>
        <p:nvPicPr>
          <p:cNvPr id="6" name="Picture 10" descr="What Is Waterfall Model? | Type of SDLC Models - News4u95 - A Part of Your  Everyday Life">
            <a:extLst>
              <a:ext uri="{FF2B5EF4-FFF2-40B4-BE49-F238E27FC236}">
                <a16:creationId xmlns:a16="http://schemas.microsoft.com/office/drawing/2014/main" id="{7CF66EAA-65A1-48B9-84A6-DED7CEFE7F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524000"/>
            <a:ext cx="5965140" cy="4772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32642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Місце для тексту 2">
            <a:extLst>
              <a:ext uri="{FF2B5EF4-FFF2-40B4-BE49-F238E27FC236}">
                <a16:creationId xmlns:a16="http://schemas.microsoft.com/office/drawing/2014/main" id="{3DFE4FA0-E7AD-4AF0-B27B-0DF50FA1F486}"/>
              </a:ext>
            </a:extLst>
          </p:cNvPr>
          <p:cNvSpPr txBox="1">
            <a:spLocks/>
          </p:cNvSpPr>
          <p:nvPr/>
        </p:nvSpPr>
        <p:spPr>
          <a:xfrm>
            <a:off x="686307" y="1576137"/>
            <a:ext cx="4523367" cy="34290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1200"/>
              </a:spcAft>
            </a:pPr>
            <a:r>
              <a:rPr lang="uk-UA" sz="2800" b="1" dirty="0">
                <a:solidFill>
                  <a:schemeClr val="accent6"/>
                </a:solidFill>
                <a:latin typeface="Segoe UI Variable Display Semib" pitchFamily="2" charset="0"/>
              </a:rPr>
              <a:t>Переваги</a:t>
            </a:r>
          </a:p>
          <a:p>
            <a:pPr marL="342900" indent="-342900">
              <a:buFont typeface="+mj-lt"/>
              <a:buAutoNum type="arabicPeriod"/>
            </a:pPr>
            <a:r>
              <a:rPr lang="ru-RU" sz="1600" dirty="0">
                <a:solidFill>
                  <a:schemeClr val="tx1"/>
                </a:solidFill>
                <a:latin typeface="Segoe UI Variable Display Semib" pitchFamily="2" charset="0"/>
              </a:rPr>
              <a:t>Лінійність моделі водоспаду робить її легкою для розуміння, особливо для нових розробників.</a:t>
            </a:r>
          </a:p>
          <a:p>
            <a:pPr marL="342900" indent="-342900">
              <a:buFont typeface="+mj-lt"/>
              <a:buAutoNum type="arabicPeriod"/>
            </a:pPr>
            <a:r>
              <a:rPr lang="ru-RU" sz="1600" dirty="0">
                <a:solidFill>
                  <a:schemeClr val="tx1"/>
                </a:solidFill>
                <a:latin typeface="Segoe UI Variable Display Semib" pitchFamily="2" charset="0"/>
              </a:rPr>
              <a:t>Усі специфікації та результати викладені перед початком розробки.</a:t>
            </a:r>
          </a:p>
          <a:p>
            <a:pPr marL="342900" indent="-342900">
              <a:buFont typeface="+mj-lt"/>
              <a:buAutoNum type="arabicPeriod"/>
            </a:pPr>
            <a:r>
              <a:rPr lang="ru-RU" sz="1600" dirty="0">
                <a:solidFill>
                  <a:schemeClr val="tx1"/>
                </a:solidFill>
                <a:latin typeface="Segoe UI Variable Display Semib" pitchFamily="2" charset="0"/>
              </a:rPr>
              <a:t>Немає місця для неправильного передачі інформації з моделлю водоспаду, оскільки вона чітко визначена на кожному етапі.</a:t>
            </a:r>
            <a:endParaRPr lang="en-US" sz="1600" dirty="0">
              <a:solidFill>
                <a:schemeClr val="tx1"/>
              </a:solidFill>
              <a:latin typeface="Segoe UI Variable Display Semib" pitchFamily="2" charset="0"/>
            </a:endParaRPr>
          </a:p>
        </p:txBody>
      </p:sp>
      <p:sp>
        <p:nvSpPr>
          <p:cNvPr id="5" name="Місце для тексту 3">
            <a:extLst>
              <a:ext uri="{FF2B5EF4-FFF2-40B4-BE49-F238E27FC236}">
                <a16:creationId xmlns:a16="http://schemas.microsoft.com/office/drawing/2014/main" id="{F2628BF0-CCB1-42F5-B36C-5F3316DDF480}"/>
              </a:ext>
            </a:extLst>
          </p:cNvPr>
          <p:cNvSpPr txBox="1">
            <a:spLocks/>
          </p:cNvSpPr>
          <p:nvPr/>
        </p:nvSpPr>
        <p:spPr>
          <a:xfrm>
            <a:off x="6316578" y="1576137"/>
            <a:ext cx="5189621" cy="3429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1200"/>
              </a:spcAft>
            </a:pPr>
            <a:r>
              <a:rPr lang="uk-UA" sz="2800" b="1" dirty="0">
                <a:solidFill>
                  <a:srgbClr val="FF0000"/>
                </a:solidFill>
                <a:latin typeface="Segoe UI Variable Display Semib" pitchFamily="2" charset="0"/>
              </a:rPr>
              <a:t>Недоліки</a:t>
            </a:r>
          </a:p>
          <a:p>
            <a:pPr marL="342900" indent="-342900" algn="l">
              <a:buFont typeface="+mj-lt"/>
              <a:buAutoNum type="arabicPeriod"/>
            </a:pPr>
            <a:r>
              <a:rPr lang="ru-RU" sz="1600" dirty="0">
                <a:solidFill>
                  <a:schemeClr val="tx1"/>
                </a:solidFill>
                <a:latin typeface="Segoe UI Variable Display Semib" pitchFamily="2" charset="0"/>
              </a:rPr>
              <a:t>Не включає відгуки клієнтів на ранніх етапах, що збільшує ризик відхилення проекту від мети.</a:t>
            </a:r>
          </a:p>
          <a:p>
            <a:pPr marL="342900" indent="-342900" algn="l">
              <a:buFont typeface="+mj-lt"/>
              <a:buAutoNum type="arabicPeriod"/>
            </a:pPr>
            <a:r>
              <a:rPr lang="ru-RU" sz="1600" dirty="0">
                <a:solidFill>
                  <a:schemeClr val="tx1"/>
                </a:solidFill>
                <a:latin typeface="Segoe UI Variable Display Semib" pitchFamily="2" charset="0"/>
              </a:rPr>
              <a:t>Тестування виконується лише в кінці розробки. </a:t>
            </a:r>
          </a:p>
          <a:p>
            <a:pPr marL="342900" indent="-342900" algn="l">
              <a:buFont typeface="+mj-lt"/>
              <a:buAutoNum type="arabicPeriod"/>
            </a:pPr>
            <a:r>
              <a:rPr lang="ru-RU" sz="1600" dirty="0">
                <a:solidFill>
                  <a:schemeClr val="tx1"/>
                </a:solidFill>
                <a:latin typeface="Segoe UI Variable Display Semib" pitchFamily="2" charset="0"/>
              </a:rPr>
              <a:t>Жорсткість моделі водоспаду не дає можливості змінювати, що робить її непридатною для складних проектів.</a:t>
            </a:r>
          </a:p>
          <a:p>
            <a:pPr marL="342900" indent="-342900" algn="l">
              <a:buFont typeface="+mj-lt"/>
              <a:buAutoNum type="arabicPeriod"/>
            </a:pPr>
            <a:r>
              <a:rPr lang="ru-RU" sz="1600" dirty="0">
                <a:solidFill>
                  <a:schemeClr val="tx1"/>
                </a:solidFill>
                <a:latin typeface="Segoe UI Variable Display Semib" pitchFamily="2" charset="0"/>
              </a:rPr>
              <a:t>Команда може витрачати занадто багато часу на документацію.</a:t>
            </a:r>
            <a:endParaRPr lang="en-US" dirty="0">
              <a:solidFill>
                <a:schemeClr val="tx1"/>
              </a:solidFill>
              <a:latin typeface="Segoe UI Variable Display Semib" pitchFamily="2" charset="0"/>
            </a:endParaRPr>
          </a:p>
        </p:txBody>
      </p:sp>
      <p:sp>
        <p:nvSpPr>
          <p:cNvPr id="6" name="Заголовок 1">
            <a:extLst>
              <a:ext uri="{FF2B5EF4-FFF2-40B4-BE49-F238E27FC236}">
                <a16:creationId xmlns:a16="http://schemas.microsoft.com/office/drawing/2014/main" id="{EBF5F851-E035-4896-B1A9-60178E0A6F97}"/>
              </a:ext>
            </a:extLst>
          </p:cNvPr>
          <p:cNvSpPr>
            <a:spLocks noGrp="1"/>
          </p:cNvSpPr>
          <p:nvPr>
            <p:ph type="title"/>
          </p:nvPr>
        </p:nvSpPr>
        <p:spPr>
          <a:xfrm>
            <a:off x="685800" y="441572"/>
            <a:ext cx="10820400" cy="685800"/>
          </a:xfrm>
        </p:spPr>
        <p:txBody>
          <a:bodyPr>
            <a:normAutofit fontScale="90000"/>
          </a:bodyPr>
          <a:lstStyle/>
          <a:p>
            <a:r>
              <a:rPr lang="en-US" dirty="0">
                <a:latin typeface="Segoe UI Variable Display Semib" pitchFamily="2" charset="0"/>
              </a:rPr>
              <a:t>WATERFALL </a:t>
            </a:r>
            <a:r>
              <a:rPr lang="uk-UA" dirty="0">
                <a:latin typeface="Segoe UI Variable Display Semib" pitchFamily="2" charset="0"/>
              </a:rPr>
              <a:t>МЕТОДОЛОГІЯ</a:t>
            </a:r>
            <a:endParaRPr lang="en-US" dirty="0">
              <a:latin typeface="Segoe UI Variable Display Semib" pitchFamily="2" charset="0"/>
            </a:endParaRPr>
          </a:p>
        </p:txBody>
      </p:sp>
      <p:pic>
        <p:nvPicPr>
          <p:cNvPr id="7" name="Picture 2" descr="Model Icon Png #53842 - Free Icons Library">
            <a:extLst>
              <a:ext uri="{FF2B5EF4-FFF2-40B4-BE49-F238E27FC236}">
                <a16:creationId xmlns:a16="http://schemas.microsoft.com/office/drawing/2014/main" id="{440ECF03-DCA0-4761-9858-1EA5C353B0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0" y="-202117"/>
            <a:ext cx="2658978" cy="2658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13556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989AF0A2-5738-452F-8CB9-EC242CED4C1C}"/>
              </a:ext>
            </a:extLst>
          </p:cNvPr>
          <p:cNvSpPr>
            <a:spLocks noGrp="1"/>
          </p:cNvSpPr>
          <p:nvPr>
            <p:ph type="title"/>
          </p:nvPr>
        </p:nvSpPr>
        <p:spPr>
          <a:xfrm>
            <a:off x="685800" y="264696"/>
            <a:ext cx="10820400" cy="685800"/>
          </a:xfrm>
        </p:spPr>
        <p:txBody>
          <a:bodyPr>
            <a:normAutofit fontScale="90000"/>
          </a:bodyPr>
          <a:lstStyle/>
          <a:p>
            <a:r>
              <a:rPr lang="en-US" dirty="0">
                <a:latin typeface="Segoe UI Variable Display Semib" pitchFamily="2" charset="0"/>
              </a:rPr>
              <a:t>AGILE Framework - SCRUM</a:t>
            </a:r>
          </a:p>
        </p:txBody>
      </p:sp>
      <p:pic>
        <p:nvPicPr>
          <p:cNvPr id="5" name="Picture 8" descr="What is Scrum Model in Agile Software Development? | by Animesh Chatterjee  | Medium">
            <a:extLst>
              <a:ext uri="{FF2B5EF4-FFF2-40B4-BE49-F238E27FC236}">
                <a16:creationId xmlns:a16="http://schemas.microsoft.com/office/drawing/2014/main" id="{69E826C8-78FF-43B4-8674-2C9A9EAE1A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1632" y="1138626"/>
            <a:ext cx="9728735" cy="5454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16218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F4AF0A9D-9AB8-4A63-981F-CB080ED5CE6A}"/>
              </a:ext>
            </a:extLst>
          </p:cNvPr>
          <p:cNvSpPr>
            <a:spLocks noGrp="1"/>
          </p:cNvSpPr>
          <p:nvPr>
            <p:ph type="title"/>
          </p:nvPr>
        </p:nvSpPr>
        <p:spPr>
          <a:xfrm>
            <a:off x="685800" y="577517"/>
            <a:ext cx="10820400" cy="685800"/>
          </a:xfrm>
        </p:spPr>
        <p:txBody>
          <a:bodyPr>
            <a:normAutofit fontScale="90000"/>
          </a:bodyPr>
          <a:lstStyle/>
          <a:p>
            <a:r>
              <a:rPr lang="en-US" dirty="0">
                <a:latin typeface="Segoe UI Variable Display Semib" pitchFamily="2" charset="0"/>
              </a:rPr>
              <a:t>PRODUCT/SPRINT Backlog</a:t>
            </a:r>
          </a:p>
        </p:txBody>
      </p:sp>
      <p:pic>
        <p:nvPicPr>
          <p:cNvPr id="5" name="Picture 2">
            <a:extLst>
              <a:ext uri="{FF2B5EF4-FFF2-40B4-BE49-F238E27FC236}">
                <a16:creationId xmlns:a16="http://schemas.microsoft.com/office/drawing/2014/main" id="{CAE50C87-7827-4115-944F-AAA40C20A7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490411"/>
            <a:ext cx="9673389" cy="4390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31950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80E39FEE-935C-49C1-9E9F-F7BCE0067A1C}"/>
              </a:ext>
            </a:extLst>
          </p:cNvPr>
          <p:cNvSpPr>
            <a:spLocks noGrp="1"/>
          </p:cNvSpPr>
          <p:nvPr>
            <p:ph type="title"/>
          </p:nvPr>
        </p:nvSpPr>
        <p:spPr>
          <a:xfrm>
            <a:off x="685800" y="505328"/>
            <a:ext cx="10820400" cy="685800"/>
          </a:xfrm>
        </p:spPr>
        <p:txBody>
          <a:bodyPr>
            <a:normAutofit fontScale="90000"/>
          </a:bodyPr>
          <a:lstStyle/>
          <a:p>
            <a:r>
              <a:rPr lang="uk-UA" dirty="0">
                <a:latin typeface="Segoe UI Variable Display Semib" pitchFamily="2" charset="0"/>
              </a:rPr>
              <a:t>РОЛІ В </a:t>
            </a:r>
            <a:r>
              <a:rPr lang="en-US" dirty="0">
                <a:latin typeface="Segoe UI Variable Display Semib" pitchFamily="2" charset="0"/>
              </a:rPr>
              <a:t>SCRUM</a:t>
            </a:r>
          </a:p>
        </p:txBody>
      </p:sp>
      <p:pic>
        <p:nvPicPr>
          <p:cNvPr id="5" name="Picture 2">
            <a:extLst>
              <a:ext uri="{FF2B5EF4-FFF2-40B4-BE49-F238E27FC236}">
                <a16:creationId xmlns:a16="http://schemas.microsoft.com/office/drawing/2014/main" id="{5270D04E-57D1-4A4A-8885-F9E89909A7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952625"/>
            <a:ext cx="6268452" cy="367344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Download Free png Business Analyst - Archer Specialist Recruitment -  DLPNG.com">
            <a:extLst>
              <a:ext uri="{FF2B5EF4-FFF2-40B4-BE49-F238E27FC236}">
                <a16:creationId xmlns:a16="http://schemas.microsoft.com/office/drawing/2014/main" id="{240CFD48-EF81-429F-81CD-87001482C4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4372" y="109587"/>
            <a:ext cx="4762500" cy="3905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77279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6965F609-3187-45C3-B75F-50FC8F90109C}"/>
              </a:ext>
            </a:extLst>
          </p:cNvPr>
          <p:cNvSpPr>
            <a:spLocks noGrp="1"/>
          </p:cNvSpPr>
          <p:nvPr>
            <p:ph type="title"/>
          </p:nvPr>
        </p:nvSpPr>
        <p:spPr>
          <a:xfrm>
            <a:off x="785060" y="469768"/>
            <a:ext cx="10820400" cy="685800"/>
          </a:xfrm>
        </p:spPr>
        <p:txBody>
          <a:bodyPr>
            <a:normAutofit fontScale="90000"/>
          </a:bodyPr>
          <a:lstStyle/>
          <a:p>
            <a:r>
              <a:rPr lang="en-US" dirty="0">
                <a:latin typeface="Segoe UI Variable Display Semib" pitchFamily="2" charset="0"/>
              </a:rPr>
              <a:t>SCRUM MEETINGS</a:t>
            </a:r>
          </a:p>
        </p:txBody>
      </p:sp>
      <p:sp>
        <p:nvSpPr>
          <p:cNvPr id="5" name="TextBox 4">
            <a:extLst>
              <a:ext uri="{FF2B5EF4-FFF2-40B4-BE49-F238E27FC236}">
                <a16:creationId xmlns:a16="http://schemas.microsoft.com/office/drawing/2014/main" id="{1C018C26-76D5-4C35-9D3E-38E707B54ACE}"/>
              </a:ext>
            </a:extLst>
          </p:cNvPr>
          <p:cNvSpPr txBox="1"/>
          <p:nvPr/>
        </p:nvSpPr>
        <p:spPr>
          <a:xfrm>
            <a:off x="685800" y="1739184"/>
            <a:ext cx="10296024" cy="4154984"/>
          </a:xfrm>
          <a:prstGeom prst="rect">
            <a:avLst/>
          </a:prstGeom>
          <a:noFill/>
        </p:spPr>
        <p:txBody>
          <a:bodyPr wrap="square">
            <a:spAutoFit/>
          </a:bodyPr>
          <a:lstStyle/>
          <a:p>
            <a:pPr algn="l"/>
            <a:r>
              <a:rPr lang="en-US" sz="2800" b="1" i="0" dirty="0">
                <a:effectLst/>
                <a:latin typeface="var(--med-font)"/>
              </a:rPr>
              <a:t>Daily Scrum:</a:t>
            </a:r>
          </a:p>
          <a:p>
            <a:pPr marL="342900" indent="-342900" algn="l">
              <a:buFont typeface="Wingdings" panose="05000000000000000000" pitchFamily="2" charset="2"/>
              <a:buChar char="§"/>
            </a:pPr>
            <a:r>
              <a:rPr lang="ru-RU" sz="2000" b="0" i="0" dirty="0" err="1">
                <a:effectLst/>
                <a:latin typeface="CharterITCPro-Regular"/>
              </a:rPr>
              <a:t>допомагає</a:t>
            </a:r>
            <a:r>
              <a:rPr lang="ru-RU" sz="2000" b="0" i="0" dirty="0">
                <a:effectLst/>
                <a:latin typeface="CharterITCPro-Regular"/>
              </a:rPr>
              <a:t> </a:t>
            </a:r>
            <a:r>
              <a:rPr lang="ru-RU" sz="2000" b="0" i="0" dirty="0" err="1">
                <a:effectLst/>
                <a:latin typeface="CharterITCPro-Regular"/>
              </a:rPr>
              <a:t>команді</a:t>
            </a:r>
            <a:r>
              <a:rPr lang="ru-RU" sz="2000" b="0" i="0" dirty="0">
                <a:effectLst/>
                <a:latin typeface="CharterITCPro-Regular"/>
              </a:rPr>
              <a:t> </a:t>
            </a:r>
            <a:r>
              <a:rPr lang="ru-RU" sz="2000" b="0" i="0" dirty="0" err="1">
                <a:effectLst/>
                <a:latin typeface="CharterITCPro-Regular"/>
              </a:rPr>
              <a:t>визначати</a:t>
            </a:r>
            <a:r>
              <a:rPr lang="ru-RU" sz="2000" b="0" i="0" dirty="0">
                <a:effectLst/>
                <a:latin typeface="CharterITCPro-Regular"/>
              </a:rPr>
              <a:t> </a:t>
            </a:r>
            <a:r>
              <a:rPr lang="ru-RU" sz="2000" b="0" i="0" dirty="0" err="1">
                <a:effectLst/>
                <a:latin typeface="CharterITCPro-Regular"/>
              </a:rPr>
              <a:t>перешкоди</a:t>
            </a:r>
            <a:r>
              <a:rPr lang="ru-RU" sz="2000" b="0" i="0" dirty="0">
                <a:effectLst/>
                <a:latin typeface="CharterITCPro-Regular"/>
              </a:rPr>
              <a:t>, </a:t>
            </a:r>
            <a:r>
              <a:rPr lang="ru-RU" sz="2000" b="0" i="0" dirty="0" err="1">
                <a:effectLst/>
                <a:latin typeface="CharterITCPro-Regular"/>
              </a:rPr>
              <a:t>щоб</a:t>
            </a:r>
            <a:r>
              <a:rPr lang="ru-RU" sz="2000" b="0" i="0" dirty="0">
                <a:effectLst/>
                <a:latin typeface="CharterITCPro-Regular"/>
              </a:rPr>
              <a:t> вони могли </a:t>
            </a:r>
            <a:r>
              <a:rPr lang="ru-RU" sz="2000" b="0" i="0" dirty="0" err="1">
                <a:effectLst/>
                <a:latin typeface="CharterITCPro-Regular"/>
              </a:rPr>
              <a:t>їх</a:t>
            </a:r>
            <a:r>
              <a:rPr lang="ru-RU" sz="2000" b="0" i="0" dirty="0">
                <a:effectLst/>
                <a:latin typeface="CharterITCPro-Regular"/>
              </a:rPr>
              <a:t> </a:t>
            </a:r>
            <a:r>
              <a:rPr lang="ru-RU" sz="2000" b="0" i="0" dirty="0" err="1">
                <a:effectLst/>
                <a:latin typeface="CharterITCPro-Regular"/>
              </a:rPr>
              <a:t>швидко</a:t>
            </a:r>
            <a:r>
              <a:rPr lang="ru-RU" sz="2000" b="0" i="0" dirty="0">
                <a:effectLst/>
                <a:latin typeface="CharterITCPro-Regular"/>
              </a:rPr>
              <a:t> </a:t>
            </a:r>
            <a:r>
              <a:rPr lang="ru-RU" sz="2000" b="0" i="0" dirty="0" err="1">
                <a:effectLst/>
                <a:latin typeface="CharterITCPro-Regular"/>
              </a:rPr>
              <a:t>вирішити</a:t>
            </a:r>
            <a:endParaRPr lang="ru-RU" sz="2000" b="0" i="0" dirty="0">
              <a:effectLst/>
              <a:latin typeface="CharterITCPro-Regular"/>
            </a:endParaRPr>
          </a:p>
          <a:p>
            <a:pPr marL="342900" indent="-342900" algn="l">
              <a:buFont typeface="Wingdings" panose="05000000000000000000" pitchFamily="2" charset="2"/>
              <a:buChar char="§"/>
            </a:pPr>
            <a:r>
              <a:rPr lang="ru-RU" sz="2000" b="0" i="0" dirty="0" err="1">
                <a:effectLst/>
                <a:latin typeface="CharterITCPro-Regular"/>
              </a:rPr>
              <a:t>Дозволяє</a:t>
            </a:r>
            <a:r>
              <a:rPr lang="ru-RU" sz="2000" b="0" i="0" dirty="0">
                <a:effectLst/>
                <a:latin typeface="CharterITCPro-Regular"/>
              </a:rPr>
              <a:t> </a:t>
            </a:r>
            <a:r>
              <a:rPr lang="ru-RU" sz="2000" b="0" i="0" dirty="0" err="1">
                <a:effectLst/>
                <a:latin typeface="CharterITCPro-Regular"/>
              </a:rPr>
              <a:t>команді</a:t>
            </a:r>
            <a:r>
              <a:rPr lang="ru-RU" sz="2000" b="0" i="0" dirty="0">
                <a:effectLst/>
                <a:latin typeface="CharterITCPro-Regular"/>
              </a:rPr>
              <a:t> часто </a:t>
            </a:r>
            <a:r>
              <a:rPr lang="ru-RU" sz="2000" b="0" i="0" dirty="0" err="1">
                <a:effectLst/>
                <a:latin typeface="CharterITCPro-Regular"/>
              </a:rPr>
              <a:t>вносити</a:t>
            </a:r>
            <a:r>
              <a:rPr lang="ru-RU" sz="2000" b="0" i="0" dirty="0">
                <a:effectLst/>
                <a:latin typeface="CharterITCPro-Regular"/>
              </a:rPr>
              <a:t> </a:t>
            </a:r>
            <a:r>
              <a:rPr lang="ru-RU" sz="2000" b="0" i="0" dirty="0" err="1">
                <a:effectLst/>
                <a:latin typeface="CharterITCPro-Regular"/>
              </a:rPr>
              <a:t>незначні</a:t>
            </a:r>
            <a:r>
              <a:rPr lang="ru-RU" sz="2000" b="0" i="0" dirty="0">
                <a:effectLst/>
                <a:latin typeface="CharterITCPro-Regular"/>
              </a:rPr>
              <a:t> </a:t>
            </a:r>
            <a:r>
              <a:rPr lang="ru-RU" sz="2000" b="0" i="0" dirty="0" err="1">
                <a:effectLst/>
                <a:latin typeface="CharterITCPro-Regular"/>
              </a:rPr>
              <a:t>виправлення</a:t>
            </a:r>
            <a:r>
              <a:rPr lang="ru-RU" sz="2000" b="0" i="0" dirty="0">
                <a:effectLst/>
                <a:latin typeface="CharterITCPro-Regular"/>
              </a:rPr>
              <a:t> курсу, </a:t>
            </a:r>
            <a:r>
              <a:rPr lang="ru-RU" sz="2000" b="0" i="0" dirty="0" err="1">
                <a:effectLst/>
                <a:latin typeface="CharterITCPro-Regular"/>
              </a:rPr>
              <a:t>щоб</a:t>
            </a:r>
            <a:r>
              <a:rPr lang="ru-RU" sz="2000" b="0" i="0" dirty="0">
                <a:effectLst/>
                <a:latin typeface="CharterITCPro-Regular"/>
              </a:rPr>
              <a:t> вони не </a:t>
            </a:r>
            <a:r>
              <a:rPr lang="ru-RU" sz="2000" b="0" i="0" dirty="0" err="1">
                <a:effectLst/>
                <a:latin typeface="CharterITCPro-Regular"/>
              </a:rPr>
              <a:t>витрачали</a:t>
            </a:r>
            <a:r>
              <a:rPr lang="ru-RU" sz="2000" b="0" i="0" dirty="0">
                <a:effectLst/>
                <a:latin typeface="CharterITCPro-Regular"/>
              </a:rPr>
              <a:t> </a:t>
            </a:r>
            <a:r>
              <a:rPr lang="ru-RU" sz="2000" b="0" i="0" dirty="0" err="1">
                <a:effectLst/>
                <a:latin typeface="CharterITCPro-Regular"/>
              </a:rPr>
              <a:t>надто</a:t>
            </a:r>
            <a:r>
              <a:rPr lang="ru-RU" sz="2000" b="0" i="0" dirty="0">
                <a:effectLst/>
                <a:latin typeface="CharterITCPro-Regular"/>
              </a:rPr>
              <a:t> </a:t>
            </a:r>
            <a:r>
              <a:rPr lang="ru-RU" sz="2000" b="0" i="0" dirty="0" err="1">
                <a:effectLst/>
                <a:latin typeface="CharterITCPro-Regular"/>
              </a:rPr>
              <a:t>багато</a:t>
            </a:r>
            <a:r>
              <a:rPr lang="ru-RU" sz="2000" b="0" i="0" dirty="0">
                <a:effectLst/>
                <a:latin typeface="CharterITCPro-Regular"/>
              </a:rPr>
              <a:t> часу на </a:t>
            </a:r>
            <a:r>
              <a:rPr lang="ru-RU" sz="2000" b="0" i="0" dirty="0" err="1">
                <a:effectLst/>
                <a:latin typeface="CharterITCPro-Regular"/>
              </a:rPr>
              <a:t>неправильний</a:t>
            </a:r>
            <a:r>
              <a:rPr lang="ru-RU" sz="2000" b="0" i="0" dirty="0">
                <a:effectLst/>
                <a:latin typeface="CharterITCPro-Regular"/>
              </a:rPr>
              <a:t> шлях</a:t>
            </a:r>
          </a:p>
          <a:p>
            <a:pPr algn="l"/>
            <a:endParaRPr lang="en-US" sz="2000" b="0" i="0" dirty="0">
              <a:effectLst/>
              <a:latin typeface="CharterITCPro-Regular"/>
            </a:endParaRPr>
          </a:p>
          <a:p>
            <a:pPr algn="l"/>
            <a:r>
              <a:rPr lang="en-US" sz="2800" b="1" i="0" dirty="0">
                <a:effectLst/>
                <a:latin typeface="var(--med-font)"/>
              </a:rPr>
              <a:t>Sprint Planning:</a:t>
            </a:r>
          </a:p>
          <a:p>
            <a:pPr marL="342900" indent="-342900" algn="l">
              <a:buFont typeface="Wingdings" panose="05000000000000000000" pitchFamily="2" charset="2"/>
              <a:buChar char="§"/>
            </a:pPr>
            <a:r>
              <a:rPr lang="ru-RU" sz="2000" b="0" i="0" dirty="0" err="1">
                <a:effectLst/>
                <a:latin typeface="CharterITCPro-Regular"/>
              </a:rPr>
              <a:t>Дозвол</a:t>
            </a:r>
            <a:r>
              <a:rPr lang="ru-RU" sz="2000" dirty="0" err="1">
                <a:latin typeface="CharterITCPro-Regular"/>
              </a:rPr>
              <a:t>я</a:t>
            </a:r>
            <a:r>
              <a:rPr lang="uk-UA" sz="2000" dirty="0">
                <a:latin typeface="CharterITCPro-Regular"/>
              </a:rPr>
              <a:t>є</a:t>
            </a:r>
            <a:r>
              <a:rPr lang="ru-RU" sz="2000" b="0" i="0" dirty="0">
                <a:effectLst/>
                <a:latin typeface="CharterITCPro-Regular"/>
              </a:rPr>
              <a:t> </a:t>
            </a:r>
            <a:r>
              <a:rPr lang="ru-RU" sz="2000" b="0" i="0" dirty="0" err="1">
                <a:effectLst/>
                <a:latin typeface="CharterITCPro-Regular"/>
              </a:rPr>
              <a:t>команді</a:t>
            </a:r>
            <a:r>
              <a:rPr lang="ru-RU" sz="2000" b="0" i="0" dirty="0">
                <a:effectLst/>
                <a:latin typeface="CharterITCPro-Regular"/>
              </a:rPr>
              <a:t> </a:t>
            </a:r>
            <a:r>
              <a:rPr lang="ru-RU" sz="2000" b="0" i="0" dirty="0" err="1">
                <a:effectLst/>
                <a:latin typeface="CharterITCPro-Regular"/>
              </a:rPr>
              <a:t>вирівняти</a:t>
            </a:r>
            <a:r>
              <a:rPr lang="ru-RU" sz="2000" b="0" i="0" dirty="0">
                <a:effectLst/>
                <a:latin typeface="CharterITCPro-Regular"/>
              </a:rPr>
              <a:t> </a:t>
            </a:r>
            <a:r>
              <a:rPr lang="ru-RU" sz="2000" b="0" i="0" dirty="0" err="1">
                <a:effectLst/>
                <a:latin typeface="CharterITCPro-Regular"/>
              </a:rPr>
              <a:t>пріоритети</a:t>
            </a:r>
            <a:r>
              <a:rPr lang="ru-RU" sz="2000" b="0" i="0" dirty="0">
                <a:effectLst/>
                <a:latin typeface="CharterITCPro-Regular"/>
              </a:rPr>
              <a:t> спринту перед початком спринту</a:t>
            </a:r>
          </a:p>
          <a:p>
            <a:pPr marL="342900" indent="-342900" algn="l">
              <a:buFont typeface="Wingdings" panose="05000000000000000000" pitchFamily="2" charset="2"/>
              <a:buChar char="§"/>
            </a:pPr>
            <a:r>
              <a:rPr lang="ru-RU" sz="2000" dirty="0" err="1">
                <a:latin typeface="CharterITCPro-Regular"/>
              </a:rPr>
              <a:t>Д</a:t>
            </a:r>
            <a:r>
              <a:rPr lang="ru-RU" sz="2000" b="0" i="0" dirty="0" err="1">
                <a:effectLst/>
                <a:latin typeface="CharterITCPro-Regular"/>
              </a:rPr>
              <a:t>ає</a:t>
            </a:r>
            <a:r>
              <a:rPr lang="ru-RU" sz="2000" b="0" i="0" dirty="0">
                <a:effectLst/>
                <a:latin typeface="CharterITCPro-Regular"/>
              </a:rPr>
              <a:t> кожному в </a:t>
            </a:r>
            <a:r>
              <a:rPr lang="ru-RU" sz="2000" b="0" i="0" dirty="0" err="1">
                <a:effectLst/>
                <a:latin typeface="CharterITCPro-Regular"/>
              </a:rPr>
              <a:t>команді</a:t>
            </a:r>
            <a:r>
              <a:rPr lang="ru-RU" sz="2000" b="0" i="0" dirty="0">
                <a:effectLst/>
                <a:latin typeface="CharterITCPro-Regular"/>
              </a:rPr>
              <a:t> </a:t>
            </a:r>
            <a:r>
              <a:rPr lang="ru-RU" sz="2000" b="0" i="0" dirty="0" err="1">
                <a:effectLst/>
                <a:latin typeface="CharterITCPro-Regular"/>
              </a:rPr>
              <a:t>розуміння</a:t>
            </a:r>
            <a:r>
              <a:rPr lang="ru-RU" sz="2000" b="0" i="0" dirty="0">
                <a:effectLst/>
                <a:latin typeface="CharterITCPro-Regular"/>
              </a:rPr>
              <a:t> </a:t>
            </a:r>
            <a:r>
              <a:rPr lang="ru-RU" sz="2000" b="0" i="0" dirty="0" err="1">
                <a:effectLst/>
                <a:latin typeface="CharterITCPro-Regular"/>
              </a:rPr>
              <a:t>своїх</a:t>
            </a:r>
            <a:r>
              <a:rPr lang="ru-RU" sz="2000" b="0" i="0" dirty="0">
                <a:effectLst/>
                <a:latin typeface="CharterITCPro-Regular"/>
              </a:rPr>
              <a:t> </a:t>
            </a:r>
            <a:r>
              <a:rPr lang="ru-RU" sz="2000" b="0" i="0" dirty="0" err="1">
                <a:effectLst/>
                <a:latin typeface="CharterITCPro-Regular"/>
              </a:rPr>
              <a:t>обов’язків</a:t>
            </a:r>
            <a:r>
              <a:rPr lang="ru-RU" sz="2000" b="0" i="0" dirty="0">
                <a:effectLst/>
                <a:latin typeface="CharterITCPro-Regular"/>
              </a:rPr>
              <a:t> у </a:t>
            </a:r>
            <a:r>
              <a:rPr lang="ru-RU" sz="2000" b="0" i="0" dirty="0" err="1">
                <a:effectLst/>
                <a:latin typeface="CharterITCPro-Regular"/>
              </a:rPr>
              <a:t>наступному</a:t>
            </a:r>
            <a:r>
              <a:rPr lang="ru-RU" sz="2000" b="0" i="0" dirty="0">
                <a:effectLst/>
                <a:latin typeface="CharterITCPro-Regular"/>
              </a:rPr>
              <a:t> </a:t>
            </a:r>
            <a:r>
              <a:rPr lang="ru-RU" sz="2000" b="0" i="0" dirty="0" err="1">
                <a:effectLst/>
                <a:latin typeface="CharterITCPro-Regular"/>
              </a:rPr>
              <a:t>спринті</a:t>
            </a:r>
            <a:endParaRPr lang="ru-RU" sz="2000" b="0" i="0" dirty="0">
              <a:effectLst/>
              <a:latin typeface="CharterITCPro-Regular"/>
            </a:endParaRPr>
          </a:p>
          <a:p>
            <a:pPr algn="l"/>
            <a:endParaRPr lang="en-US" sz="2000" b="0" i="0" dirty="0">
              <a:effectLst/>
              <a:latin typeface="CharterITCPro-Regular"/>
            </a:endParaRPr>
          </a:p>
          <a:p>
            <a:pPr algn="l"/>
            <a:r>
              <a:rPr lang="en-US" sz="2800" b="1" i="0" dirty="0">
                <a:effectLst/>
                <a:latin typeface="var(--med-font)"/>
              </a:rPr>
              <a:t>Sprint Retrospective:</a:t>
            </a:r>
          </a:p>
          <a:p>
            <a:pPr marL="342900" indent="-342900" algn="l">
              <a:buFont typeface="Wingdings" panose="05000000000000000000" pitchFamily="2" charset="2"/>
              <a:buChar char="§"/>
            </a:pPr>
            <a:r>
              <a:rPr lang="ru-RU" sz="2000" b="0" i="0" dirty="0" err="1">
                <a:effectLst/>
                <a:latin typeface="CharterITCPro-Regular"/>
              </a:rPr>
              <a:t>Дозволяє</a:t>
            </a:r>
            <a:r>
              <a:rPr lang="ru-RU" sz="2000" b="0" i="0" dirty="0">
                <a:effectLst/>
                <a:latin typeface="CharterITCPro-Regular"/>
              </a:rPr>
              <a:t> </a:t>
            </a:r>
            <a:r>
              <a:rPr lang="ru-RU" sz="2000" b="0" i="0" dirty="0" err="1">
                <a:effectLst/>
                <a:latin typeface="CharterITCPro-Regular"/>
              </a:rPr>
              <a:t>команді</a:t>
            </a:r>
            <a:r>
              <a:rPr lang="ru-RU" sz="2000" b="0" i="0" dirty="0">
                <a:effectLst/>
                <a:latin typeface="CharterITCPro-Regular"/>
              </a:rPr>
              <a:t> </a:t>
            </a:r>
            <a:r>
              <a:rPr lang="ru-RU" sz="2000" b="0" i="0" dirty="0" err="1">
                <a:effectLst/>
                <a:latin typeface="CharterITCPro-Regular"/>
              </a:rPr>
              <a:t>оцінювати</a:t>
            </a:r>
            <a:r>
              <a:rPr lang="ru-RU" sz="2000" b="0" i="0" dirty="0">
                <a:effectLst/>
                <a:latin typeface="CharterITCPro-Regular"/>
              </a:rPr>
              <a:t> свою роботу </a:t>
            </a:r>
            <a:r>
              <a:rPr lang="ru-RU" sz="2000" b="0" i="0" dirty="0" err="1">
                <a:effectLst/>
                <a:latin typeface="CharterITCPro-Regular"/>
              </a:rPr>
              <a:t>після</a:t>
            </a:r>
            <a:r>
              <a:rPr lang="ru-RU" sz="2000" b="0" i="0" dirty="0">
                <a:effectLst/>
                <a:latin typeface="CharterITCPro-Regular"/>
              </a:rPr>
              <a:t> кожного спринту та </a:t>
            </a:r>
            <a:r>
              <a:rPr lang="ru-RU" sz="2000" b="0" i="0" dirty="0" err="1">
                <a:effectLst/>
                <a:latin typeface="CharterITCPro-Regular"/>
              </a:rPr>
              <a:t>відзначати</a:t>
            </a:r>
            <a:r>
              <a:rPr lang="ru-RU" sz="2000" b="0" i="0" dirty="0">
                <a:effectLst/>
                <a:latin typeface="CharterITCPro-Regular"/>
              </a:rPr>
              <a:t> </a:t>
            </a:r>
            <a:r>
              <a:rPr lang="ru-RU" sz="2000" b="0" i="0" dirty="0" err="1">
                <a:effectLst/>
                <a:latin typeface="CharterITCPro-Regular"/>
              </a:rPr>
              <a:t>свої</a:t>
            </a:r>
            <a:r>
              <a:rPr lang="ru-RU" sz="2000" b="0" i="0" dirty="0">
                <a:effectLst/>
                <a:latin typeface="CharterITCPro-Regular"/>
              </a:rPr>
              <a:t> </a:t>
            </a:r>
            <a:r>
              <a:rPr lang="ru-RU" sz="2000" b="0" i="0" dirty="0" err="1">
                <a:effectLst/>
                <a:latin typeface="CharterITCPro-Regular"/>
              </a:rPr>
              <a:t>успіхи</a:t>
            </a:r>
            <a:endParaRPr lang="ru-RU" sz="2000" b="0" i="0" dirty="0">
              <a:effectLst/>
              <a:latin typeface="CharterITCPro-Regular"/>
            </a:endParaRPr>
          </a:p>
          <a:p>
            <a:pPr marL="342900" indent="-342900" algn="l">
              <a:buFont typeface="Wingdings" panose="05000000000000000000" pitchFamily="2" charset="2"/>
              <a:buChar char="§"/>
            </a:pPr>
            <a:r>
              <a:rPr lang="ru-RU" sz="2000" dirty="0" err="1">
                <a:latin typeface="CharterITCPro-Regular"/>
              </a:rPr>
              <a:t>Д</a:t>
            </a:r>
            <a:r>
              <a:rPr lang="ru-RU" sz="2000" b="0" i="0" dirty="0" err="1">
                <a:effectLst/>
                <a:latin typeface="CharterITCPro-Regular"/>
              </a:rPr>
              <a:t>опомагає</a:t>
            </a:r>
            <a:r>
              <a:rPr lang="ru-RU" sz="2000" b="0" i="0" dirty="0">
                <a:effectLst/>
                <a:latin typeface="CharterITCPro-Regular"/>
              </a:rPr>
              <a:t> </a:t>
            </a:r>
            <a:r>
              <a:rPr lang="ru-RU" sz="2000" b="0" i="0" dirty="0" err="1">
                <a:effectLst/>
                <a:latin typeface="CharterITCPro-Regular"/>
              </a:rPr>
              <a:t>команді</a:t>
            </a:r>
            <a:r>
              <a:rPr lang="ru-RU" sz="2000" b="0" i="0" dirty="0">
                <a:effectLst/>
                <a:latin typeface="CharterITCPro-Regular"/>
              </a:rPr>
              <a:t> </a:t>
            </a:r>
            <a:r>
              <a:rPr lang="ru-RU" sz="2000" b="0" i="0" dirty="0" err="1">
                <a:effectLst/>
                <a:latin typeface="CharterITCPro-Regular"/>
              </a:rPr>
              <a:t>продовжувати</a:t>
            </a:r>
            <a:r>
              <a:rPr lang="ru-RU" sz="2000" b="0" i="0" dirty="0">
                <a:effectLst/>
                <a:latin typeface="CharterITCPro-Regular"/>
              </a:rPr>
              <a:t> </a:t>
            </a:r>
            <a:r>
              <a:rPr lang="ru-RU" sz="2000" b="0" i="0" dirty="0" err="1">
                <a:effectLst/>
                <a:latin typeface="CharterITCPro-Regular"/>
              </a:rPr>
              <a:t>вдосконалювати</a:t>
            </a:r>
            <a:r>
              <a:rPr lang="ru-RU" sz="2000" b="0" i="0" dirty="0">
                <a:effectLst/>
                <a:latin typeface="CharterITCPro-Regular"/>
              </a:rPr>
              <a:t> </a:t>
            </a:r>
            <a:r>
              <a:rPr lang="ru-RU" sz="2000" b="0" i="0" dirty="0" err="1">
                <a:effectLst/>
                <a:latin typeface="CharterITCPro-Regular"/>
              </a:rPr>
              <a:t>свої</a:t>
            </a:r>
            <a:r>
              <a:rPr lang="ru-RU" sz="2000" b="0" i="0" dirty="0">
                <a:effectLst/>
                <a:latin typeface="CharterITCPro-Regular"/>
              </a:rPr>
              <a:t> </a:t>
            </a:r>
            <a:r>
              <a:rPr lang="ru-RU" sz="2000" b="0" i="0" dirty="0" err="1">
                <a:effectLst/>
                <a:latin typeface="CharterITCPro-Regular"/>
              </a:rPr>
              <a:t>процеси</a:t>
            </a:r>
            <a:endParaRPr lang="en-US" sz="2000" b="0" i="0" dirty="0">
              <a:effectLst/>
              <a:latin typeface="var(--med-font)"/>
            </a:endParaRPr>
          </a:p>
        </p:txBody>
      </p:sp>
      <p:pic>
        <p:nvPicPr>
          <p:cNvPr id="6" name="Picture 2" descr="Общаться с изображением PNG | PNG Mart">
            <a:extLst>
              <a:ext uri="{FF2B5EF4-FFF2-40B4-BE49-F238E27FC236}">
                <a16:creationId xmlns:a16="http://schemas.microsoft.com/office/drawing/2014/main" id="{B3406FDA-67A6-42C0-98C5-E63346FED8D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73389" y="288793"/>
            <a:ext cx="1733551" cy="1733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74991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2181015A-FD43-4ED6-98AE-B96C56A76C78}"/>
              </a:ext>
            </a:extLst>
          </p:cNvPr>
          <p:cNvSpPr>
            <a:spLocks noGrp="1"/>
          </p:cNvSpPr>
          <p:nvPr>
            <p:ph type="title"/>
          </p:nvPr>
        </p:nvSpPr>
        <p:spPr>
          <a:xfrm>
            <a:off x="685800" y="445169"/>
            <a:ext cx="10820400" cy="685800"/>
          </a:xfrm>
        </p:spPr>
        <p:txBody>
          <a:bodyPr>
            <a:normAutofit fontScale="90000"/>
          </a:bodyPr>
          <a:lstStyle/>
          <a:p>
            <a:r>
              <a:rPr lang="en-US" dirty="0">
                <a:latin typeface="Segoe UI Variable Display Semib" pitchFamily="2" charset="0"/>
              </a:rPr>
              <a:t>AGILE Framework - KANBAN</a:t>
            </a:r>
          </a:p>
        </p:txBody>
      </p:sp>
      <p:pic>
        <p:nvPicPr>
          <p:cNvPr id="5" name="Picture 2" descr="When is it appropriate to choose the Kanban method? - David J. Anderson  School of Management">
            <a:extLst>
              <a:ext uri="{FF2B5EF4-FFF2-40B4-BE49-F238E27FC236}">
                <a16:creationId xmlns:a16="http://schemas.microsoft.com/office/drawing/2014/main" id="{A7F1A42D-1BF7-4C85-A544-B8D8C6611D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95" y="1546853"/>
            <a:ext cx="6894095" cy="413826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B2D4872-66D2-41E9-8717-C86D7AA0037F}"/>
              </a:ext>
            </a:extLst>
          </p:cNvPr>
          <p:cNvSpPr txBox="1"/>
          <p:nvPr/>
        </p:nvSpPr>
        <p:spPr>
          <a:xfrm>
            <a:off x="7964905" y="1584660"/>
            <a:ext cx="4006516" cy="2031325"/>
          </a:xfrm>
          <a:prstGeom prst="rect">
            <a:avLst/>
          </a:prstGeom>
          <a:noFill/>
        </p:spPr>
        <p:txBody>
          <a:bodyPr wrap="square">
            <a:spAutoFit/>
          </a:bodyPr>
          <a:lstStyle/>
          <a:p>
            <a:r>
              <a:rPr lang="en-US" b="1" i="0" u="none" strike="noStrike" dirty="0">
                <a:effectLst/>
                <a:latin typeface="Roboto" panose="02000000000000000000" pitchFamily="2" charset="0"/>
                <a:hlinkClick r:id="rId3">
                  <a:extLst>
                    <a:ext uri="{A12FA001-AC4F-418D-AE19-62706E023703}">
                      <ahyp:hlinkClr xmlns:ahyp="http://schemas.microsoft.com/office/drawing/2018/hyperlinkcolor" val="tx"/>
                    </a:ext>
                  </a:extLst>
                </a:hlinkClick>
              </a:rPr>
              <a:t>Kanban</a:t>
            </a:r>
            <a:r>
              <a:rPr lang="en-US" b="0" i="0" dirty="0">
                <a:effectLst/>
                <a:latin typeface="Roboto" panose="02000000000000000000" pitchFamily="2" charset="0"/>
              </a:rPr>
              <a:t> — </a:t>
            </a:r>
            <a:r>
              <a:rPr lang="ru-RU" b="0" i="0" dirty="0" err="1">
                <a:effectLst/>
                <a:latin typeface="Roboto" panose="02000000000000000000" pitchFamily="2" charset="0"/>
              </a:rPr>
              <a:t>це</a:t>
            </a:r>
            <a:r>
              <a:rPr lang="ru-RU" b="0" i="0" dirty="0">
                <a:effectLst/>
                <a:latin typeface="Roboto" panose="02000000000000000000" pitchFamily="2" charset="0"/>
              </a:rPr>
              <a:t> </a:t>
            </a:r>
            <a:r>
              <a:rPr lang="ru-RU" b="0" i="0" dirty="0" err="1">
                <a:effectLst/>
                <a:latin typeface="Roboto" panose="02000000000000000000" pitchFamily="2" charset="0"/>
              </a:rPr>
              <a:t>концепція</a:t>
            </a:r>
            <a:r>
              <a:rPr lang="ru-RU" b="0" i="0" dirty="0">
                <a:effectLst/>
                <a:latin typeface="Roboto" panose="02000000000000000000" pitchFamily="2" charset="0"/>
              </a:rPr>
              <a:t> </a:t>
            </a:r>
            <a:r>
              <a:rPr lang="ru-RU" b="0" i="0" dirty="0" err="1">
                <a:effectLst/>
                <a:latin typeface="Roboto" panose="02000000000000000000" pitchFamily="2" charset="0"/>
              </a:rPr>
              <a:t>підтримки</a:t>
            </a:r>
            <a:r>
              <a:rPr lang="ru-RU" b="0" i="0" dirty="0">
                <a:effectLst/>
                <a:latin typeface="Roboto" panose="02000000000000000000" pitchFamily="2" charset="0"/>
              </a:rPr>
              <a:t> </a:t>
            </a:r>
            <a:r>
              <a:rPr lang="ru-RU" b="0" i="0" dirty="0" err="1">
                <a:effectLst/>
                <a:latin typeface="Roboto" panose="02000000000000000000" pitchFamily="2" charset="0"/>
              </a:rPr>
              <a:t>безперервного</a:t>
            </a:r>
            <a:r>
              <a:rPr lang="ru-RU" b="0" i="0" dirty="0">
                <a:effectLst/>
                <a:latin typeface="Roboto" panose="02000000000000000000" pitchFamily="2" charset="0"/>
              </a:rPr>
              <a:t> потоку </a:t>
            </a:r>
            <a:r>
              <a:rPr lang="ru-RU" b="0" i="0" dirty="0" err="1">
                <a:effectLst/>
                <a:latin typeface="Roboto" panose="02000000000000000000" pitchFamily="2" charset="0"/>
              </a:rPr>
              <a:t>завдань</a:t>
            </a:r>
            <a:r>
              <a:rPr lang="ru-RU" b="0" i="0" dirty="0">
                <a:effectLst/>
                <a:latin typeface="Roboto" panose="02000000000000000000" pitchFamily="2" charset="0"/>
              </a:rPr>
              <a:t> та </a:t>
            </a:r>
            <a:r>
              <a:rPr lang="ru-RU" b="0" i="0" dirty="0" err="1">
                <a:effectLst/>
                <a:latin typeface="Roboto" panose="02000000000000000000" pitchFamily="2" charset="0"/>
              </a:rPr>
              <a:t>їх</a:t>
            </a:r>
            <a:r>
              <a:rPr lang="ru-RU" b="0" i="0" dirty="0">
                <a:effectLst/>
                <a:latin typeface="Roboto" panose="02000000000000000000" pitchFamily="2" charset="0"/>
              </a:rPr>
              <a:t> </a:t>
            </a:r>
            <a:r>
              <a:rPr lang="ru-RU" b="0" i="0" dirty="0" err="1">
                <a:effectLst/>
                <a:latin typeface="Roboto" panose="02000000000000000000" pitchFamily="2" charset="0"/>
              </a:rPr>
              <a:t>ефективного</a:t>
            </a:r>
            <a:r>
              <a:rPr lang="ru-RU" b="0" i="0" dirty="0">
                <a:effectLst/>
                <a:latin typeface="Roboto" panose="02000000000000000000" pitchFamily="2" charset="0"/>
              </a:rPr>
              <a:t> </a:t>
            </a:r>
            <a:r>
              <a:rPr lang="ru-RU" b="0" i="0" dirty="0" err="1">
                <a:effectLst/>
                <a:latin typeface="Roboto" panose="02000000000000000000" pitchFamily="2" charset="0"/>
              </a:rPr>
              <a:t>виконання</a:t>
            </a:r>
            <a:r>
              <a:rPr lang="ru-RU" b="0" i="0" dirty="0">
                <a:effectLst/>
                <a:latin typeface="Roboto" panose="02000000000000000000" pitchFamily="2" charset="0"/>
              </a:rPr>
              <a:t> </a:t>
            </a:r>
            <a:r>
              <a:rPr lang="ru-RU" b="0" i="0" dirty="0" err="1">
                <a:effectLst/>
                <a:latin typeface="Roboto" panose="02000000000000000000" pitchFamily="2" charset="0"/>
              </a:rPr>
              <a:t>завдяки</a:t>
            </a:r>
            <a:r>
              <a:rPr lang="ru-RU" b="0" i="0" dirty="0">
                <a:effectLst/>
                <a:latin typeface="Roboto" panose="02000000000000000000" pitchFamily="2" charset="0"/>
              </a:rPr>
              <a:t> </a:t>
            </a:r>
            <a:r>
              <a:rPr lang="ru-RU" b="0" i="0" dirty="0" err="1">
                <a:effectLst/>
                <a:latin typeface="Roboto" panose="02000000000000000000" pitchFamily="2" charset="0"/>
              </a:rPr>
              <a:t>максимальній</a:t>
            </a:r>
            <a:r>
              <a:rPr lang="ru-RU" b="0" i="0" dirty="0">
                <a:effectLst/>
                <a:latin typeface="Roboto" panose="02000000000000000000" pitchFamily="2" charset="0"/>
              </a:rPr>
              <a:t> </a:t>
            </a:r>
            <a:r>
              <a:rPr lang="ru-RU" b="0" i="0" dirty="0" err="1">
                <a:effectLst/>
                <a:latin typeface="Roboto" panose="02000000000000000000" pitchFamily="2" charset="0"/>
              </a:rPr>
              <a:t>ефективності</a:t>
            </a:r>
            <a:r>
              <a:rPr lang="ru-RU" b="0" i="0" dirty="0">
                <a:effectLst/>
                <a:latin typeface="Roboto" panose="02000000000000000000" pitchFamily="2" charset="0"/>
              </a:rPr>
              <a:t> </a:t>
            </a:r>
            <a:r>
              <a:rPr lang="ru-RU" b="0" i="0" dirty="0" err="1">
                <a:effectLst/>
                <a:latin typeface="Roboto" panose="02000000000000000000" pitchFamily="2" charset="0"/>
              </a:rPr>
              <a:t>роботи</a:t>
            </a:r>
            <a:r>
              <a:rPr lang="ru-RU" b="0" i="0" dirty="0">
                <a:effectLst/>
                <a:latin typeface="Roboto" panose="02000000000000000000" pitchFamily="2" charset="0"/>
              </a:rPr>
              <a:t> </a:t>
            </a:r>
            <a:r>
              <a:rPr lang="ru-RU" b="0" i="0" dirty="0" err="1">
                <a:effectLst/>
                <a:latin typeface="Roboto" panose="02000000000000000000" pitchFamily="2" charset="0"/>
              </a:rPr>
              <a:t>команди</a:t>
            </a:r>
            <a:r>
              <a:rPr lang="ru-RU" b="0" i="0" dirty="0">
                <a:effectLst/>
                <a:latin typeface="Roboto" panose="02000000000000000000" pitchFamily="2" charset="0"/>
              </a:rPr>
              <a:t>. </a:t>
            </a:r>
            <a:r>
              <a:rPr lang="ru-RU" b="0" i="0" dirty="0" err="1">
                <a:effectLst/>
                <a:latin typeface="Roboto" panose="02000000000000000000" pitchFamily="2" charset="0"/>
              </a:rPr>
              <a:t>Водночас</a:t>
            </a:r>
            <a:r>
              <a:rPr lang="ru-RU" b="0" i="0" dirty="0">
                <a:effectLst/>
                <a:latin typeface="Roboto" panose="02000000000000000000" pitchFamily="2" charset="0"/>
              </a:rPr>
              <a:t> </a:t>
            </a:r>
            <a:r>
              <a:rPr lang="ru-RU" b="0" i="0" dirty="0" err="1">
                <a:effectLst/>
                <a:latin typeface="Roboto" panose="02000000000000000000" pitchFamily="2" charset="0"/>
              </a:rPr>
              <a:t>команді</a:t>
            </a:r>
            <a:r>
              <a:rPr lang="ru-RU" b="0" i="0" dirty="0">
                <a:effectLst/>
                <a:latin typeface="Roboto" panose="02000000000000000000" pitchFamily="2" charset="0"/>
              </a:rPr>
              <a:t> </a:t>
            </a:r>
            <a:r>
              <a:rPr lang="ru-RU" b="0" i="0" dirty="0" err="1">
                <a:effectLst/>
                <a:latin typeface="Roboto" panose="02000000000000000000" pitchFamily="2" charset="0"/>
              </a:rPr>
              <a:t>ніколи</a:t>
            </a:r>
            <a:r>
              <a:rPr lang="ru-RU" b="0" i="0" dirty="0">
                <a:effectLst/>
                <a:latin typeface="Roboto" panose="02000000000000000000" pitchFamily="2" charset="0"/>
              </a:rPr>
              <a:t> не </a:t>
            </a:r>
            <a:r>
              <a:rPr lang="ru-RU" b="0" i="0" dirty="0" err="1">
                <a:effectLst/>
                <a:latin typeface="Roboto" panose="02000000000000000000" pitchFamily="2" charset="0"/>
              </a:rPr>
              <a:t>дається</a:t>
            </a:r>
            <a:r>
              <a:rPr lang="ru-RU" b="0" i="0" dirty="0">
                <a:effectLst/>
                <a:latin typeface="Roboto" panose="02000000000000000000" pitchFamily="2" charset="0"/>
              </a:rPr>
              <a:t> </a:t>
            </a:r>
            <a:r>
              <a:rPr lang="ru-RU" b="0" i="0" dirty="0" err="1">
                <a:effectLst/>
                <a:latin typeface="Roboto" panose="02000000000000000000" pitchFamily="2" charset="0"/>
              </a:rPr>
              <a:t>більше</a:t>
            </a:r>
            <a:r>
              <a:rPr lang="ru-RU" b="0" i="0" dirty="0">
                <a:effectLst/>
                <a:latin typeface="Roboto" panose="02000000000000000000" pitchFamily="2" charset="0"/>
              </a:rPr>
              <a:t> </a:t>
            </a:r>
            <a:r>
              <a:rPr lang="ru-RU" b="0" i="0" dirty="0" err="1">
                <a:effectLst/>
                <a:latin typeface="Roboto" panose="02000000000000000000" pitchFamily="2" charset="0"/>
              </a:rPr>
              <a:t>роботи</a:t>
            </a:r>
            <a:r>
              <a:rPr lang="ru-RU" b="0" i="0" dirty="0">
                <a:effectLst/>
                <a:latin typeface="Roboto" panose="02000000000000000000" pitchFamily="2" charset="0"/>
              </a:rPr>
              <a:t>, </a:t>
            </a:r>
            <a:r>
              <a:rPr lang="ru-RU" b="0" i="0" dirty="0" err="1">
                <a:effectLst/>
                <a:latin typeface="Roboto" panose="02000000000000000000" pitchFamily="2" charset="0"/>
              </a:rPr>
              <a:t>ніж</a:t>
            </a:r>
            <a:r>
              <a:rPr lang="ru-RU" b="0" i="0" dirty="0">
                <a:effectLst/>
                <a:latin typeface="Roboto" panose="02000000000000000000" pitchFamily="2" charset="0"/>
              </a:rPr>
              <a:t> вона </a:t>
            </a:r>
            <a:r>
              <a:rPr lang="ru-RU" b="0" i="0" dirty="0" err="1">
                <a:effectLst/>
                <a:latin typeface="Roboto" panose="02000000000000000000" pitchFamily="2" charset="0"/>
              </a:rPr>
              <a:t>здатна</a:t>
            </a:r>
            <a:r>
              <a:rPr lang="ru-RU" b="0" i="0" dirty="0">
                <a:effectLst/>
                <a:latin typeface="Roboto" panose="02000000000000000000" pitchFamily="2" charset="0"/>
              </a:rPr>
              <a:t> </a:t>
            </a:r>
            <a:r>
              <a:rPr lang="ru-RU" b="0" i="0" dirty="0" err="1">
                <a:effectLst/>
                <a:latin typeface="Roboto" panose="02000000000000000000" pitchFamily="2" charset="0"/>
              </a:rPr>
              <a:t>виконати</a:t>
            </a:r>
            <a:r>
              <a:rPr lang="ru-RU" b="0" i="0" dirty="0">
                <a:effectLst/>
                <a:latin typeface="Roboto" panose="02000000000000000000" pitchFamily="2" charset="0"/>
              </a:rPr>
              <a:t>.</a:t>
            </a:r>
            <a:endParaRPr lang="en-US" dirty="0"/>
          </a:p>
        </p:txBody>
      </p:sp>
      <p:sp>
        <p:nvSpPr>
          <p:cNvPr id="7" name="TextBox 6">
            <a:extLst>
              <a:ext uri="{FF2B5EF4-FFF2-40B4-BE49-F238E27FC236}">
                <a16:creationId xmlns:a16="http://schemas.microsoft.com/office/drawing/2014/main" id="{2E184F20-1C6C-42F3-A21B-C12B5D013FD2}"/>
              </a:ext>
            </a:extLst>
          </p:cNvPr>
          <p:cNvSpPr txBox="1"/>
          <p:nvPr/>
        </p:nvSpPr>
        <p:spPr>
          <a:xfrm>
            <a:off x="7964905" y="4026114"/>
            <a:ext cx="4006516" cy="1200329"/>
          </a:xfrm>
          <a:prstGeom prst="rect">
            <a:avLst/>
          </a:prstGeom>
          <a:noFill/>
        </p:spPr>
        <p:txBody>
          <a:bodyPr wrap="square">
            <a:spAutoFit/>
          </a:bodyPr>
          <a:lstStyle/>
          <a:p>
            <a:pPr algn="l"/>
            <a:r>
              <a:rPr lang="en-US" b="1" i="0" dirty="0">
                <a:effectLst/>
                <a:latin typeface="Roboto" panose="02000000000000000000" pitchFamily="2" charset="0"/>
              </a:rPr>
              <a:t>Kanban </a:t>
            </a:r>
            <a:r>
              <a:rPr lang="ru-RU" b="1" i="0" dirty="0" err="1">
                <a:effectLst/>
                <a:latin typeface="Roboto" panose="02000000000000000000" pitchFamily="2" charset="0"/>
              </a:rPr>
              <a:t>має</a:t>
            </a:r>
            <a:r>
              <a:rPr lang="ru-RU" b="1" i="0" dirty="0">
                <a:effectLst/>
                <a:latin typeface="Roboto" panose="02000000000000000000" pitchFamily="2" charset="0"/>
              </a:rPr>
              <a:t> два </a:t>
            </a:r>
            <a:r>
              <a:rPr lang="ru-RU" b="1" i="0" dirty="0" err="1">
                <a:effectLst/>
                <a:latin typeface="Roboto" panose="02000000000000000000" pitchFamily="2" charset="0"/>
              </a:rPr>
              <a:t>основні</a:t>
            </a:r>
            <a:r>
              <a:rPr lang="ru-RU" b="1" dirty="0">
                <a:latin typeface="Roboto" panose="02000000000000000000" pitchFamily="2" charset="0"/>
              </a:rPr>
              <a:t> </a:t>
            </a:r>
            <a:r>
              <a:rPr lang="ru-RU" b="1" i="0" u="none" strike="noStrike" dirty="0" err="1">
                <a:effectLst/>
                <a:latin typeface="Roboto" panose="02000000000000000000" pitchFamily="2" charset="0"/>
                <a:hlinkClick r:id="rId4">
                  <a:extLst>
                    <a:ext uri="{A12FA001-AC4F-418D-AE19-62706E023703}">
                      <ahyp:hlinkClr xmlns:ahyp="http://schemas.microsoft.com/office/drawing/2018/hyperlinkcolor" val="tx"/>
                    </a:ext>
                  </a:extLst>
                </a:hlinkClick>
              </a:rPr>
              <a:t>принципи</a:t>
            </a:r>
            <a:r>
              <a:rPr lang="ru-RU" b="1" i="0" dirty="0">
                <a:effectLst/>
                <a:latin typeface="Roboto" panose="02000000000000000000" pitchFamily="2" charset="0"/>
              </a:rPr>
              <a:t>: </a:t>
            </a:r>
          </a:p>
          <a:p>
            <a:pPr algn="l">
              <a:buFont typeface="Arial" panose="020B0604020202020204" pitchFamily="34" charset="0"/>
              <a:buChar char="•"/>
            </a:pPr>
            <a:r>
              <a:rPr lang="ru-RU" b="0" i="0" dirty="0" err="1">
                <a:effectLst/>
                <a:latin typeface="Roboto" panose="02000000000000000000" pitchFamily="2" charset="0"/>
              </a:rPr>
              <a:t>візуалізації</a:t>
            </a:r>
            <a:r>
              <a:rPr lang="ru-RU" b="0" i="0" dirty="0">
                <a:effectLst/>
                <a:latin typeface="Roboto" panose="02000000000000000000" pitchFamily="2" charset="0"/>
              </a:rPr>
              <a:t> </a:t>
            </a:r>
            <a:r>
              <a:rPr lang="ru-RU" b="0" i="0" dirty="0" err="1">
                <a:effectLst/>
                <a:latin typeface="Roboto" panose="02000000000000000000" pitchFamily="2" charset="0"/>
              </a:rPr>
              <a:t>роботи</a:t>
            </a:r>
            <a:r>
              <a:rPr lang="ru-RU" b="0" i="0" dirty="0">
                <a:effectLst/>
                <a:latin typeface="Roboto" panose="02000000000000000000" pitchFamily="2" charset="0"/>
              </a:rPr>
              <a:t>; </a:t>
            </a:r>
          </a:p>
          <a:p>
            <a:pPr algn="l">
              <a:buFont typeface="Arial" panose="020B0604020202020204" pitchFamily="34" charset="0"/>
              <a:buChar char="•"/>
            </a:pPr>
            <a:r>
              <a:rPr lang="ru-RU" b="0" i="0" dirty="0" err="1">
                <a:effectLst/>
                <a:latin typeface="Roboto" panose="02000000000000000000" pitchFamily="2" charset="0"/>
              </a:rPr>
              <a:t>обмеження</a:t>
            </a:r>
            <a:r>
              <a:rPr lang="ru-RU" b="0" i="0" dirty="0">
                <a:effectLst/>
                <a:latin typeface="Roboto" panose="02000000000000000000" pitchFamily="2" charset="0"/>
              </a:rPr>
              <a:t> </a:t>
            </a:r>
            <a:r>
              <a:rPr lang="ru-RU" b="0" i="0" dirty="0" err="1">
                <a:effectLst/>
                <a:latin typeface="Roboto" panose="02000000000000000000" pitchFamily="2" charset="0"/>
              </a:rPr>
              <a:t>кількості</a:t>
            </a:r>
            <a:r>
              <a:rPr lang="ru-RU" b="0" i="0" dirty="0">
                <a:effectLst/>
                <a:latin typeface="Roboto" panose="02000000000000000000" pitchFamily="2" charset="0"/>
              </a:rPr>
              <a:t> </a:t>
            </a:r>
            <a:r>
              <a:rPr lang="ru-RU" b="0" i="0" dirty="0" err="1">
                <a:effectLst/>
                <a:latin typeface="Roboto" panose="02000000000000000000" pitchFamily="2" charset="0"/>
              </a:rPr>
              <a:t>завдань</a:t>
            </a:r>
            <a:r>
              <a:rPr lang="ru-RU" b="0" i="0" dirty="0">
                <a:effectLst/>
                <a:latin typeface="Roboto" panose="02000000000000000000" pitchFamily="2" charset="0"/>
              </a:rPr>
              <a:t> </a:t>
            </a:r>
          </a:p>
          <a:p>
            <a:pPr algn="l"/>
            <a:r>
              <a:rPr lang="ru-RU" b="0" i="0" dirty="0">
                <a:effectLst/>
                <a:latin typeface="Roboto" panose="02000000000000000000" pitchFamily="2" charset="0"/>
              </a:rPr>
              <a:t>“у </a:t>
            </a:r>
            <a:r>
              <a:rPr lang="ru-RU" b="0" i="0" dirty="0" err="1">
                <a:effectLst/>
                <a:latin typeface="Roboto" panose="02000000000000000000" pitchFamily="2" charset="0"/>
              </a:rPr>
              <a:t>процесі</a:t>
            </a:r>
            <a:r>
              <a:rPr lang="ru-RU" b="0" i="0" dirty="0">
                <a:effectLst/>
                <a:latin typeface="Roboto" panose="02000000000000000000" pitchFamily="2" charset="0"/>
              </a:rPr>
              <a:t>”. </a:t>
            </a:r>
          </a:p>
        </p:txBody>
      </p:sp>
    </p:spTree>
    <p:extLst>
      <p:ext uri="{BB962C8B-B14F-4D97-AF65-F5344CB8AC3E}">
        <p14:creationId xmlns:p14="http://schemas.microsoft.com/office/powerpoint/2010/main" val="27564304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Місце для тексту 2">
            <a:extLst>
              <a:ext uri="{FF2B5EF4-FFF2-40B4-BE49-F238E27FC236}">
                <a16:creationId xmlns:a16="http://schemas.microsoft.com/office/drawing/2014/main" id="{FBE775BF-B7AD-43A4-881E-443D9BEE048B}"/>
              </a:ext>
            </a:extLst>
          </p:cNvPr>
          <p:cNvSpPr txBox="1">
            <a:spLocks/>
          </p:cNvSpPr>
          <p:nvPr/>
        </p:nvSpPr>
        <p:spPr>
          <a:xfrm>
            <a:off x="685800" y="1451008"/>
            <a:ext cx="5174998" cy="34290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1200"/>
              </a:spcAft>
            </a:pPr>
            <a:r>
              <a:rPr lang="ru-RU" sz="2800" b="1" dirty="0">
                <a:solidFill>
                  <a:schemeClr val="accent6"/>
                </a:solidFill>
              </a:rPr>
              <a:t>Переваги</a:t>
            </a:r>
          </a:p>
          <a:p>
            <a:pPr marL="342900" indent="-342900">
              <a:buFont typeface="Wingdings" panose="05000000000000000000" pitchFamily="2" charset="2"/>
              <a:buChar char="§"/>
            </a:pPr>
            <a:r>
              <a:rPr lang="ru-RU" sz="2000" dirty="0">
                <a:solidFill>
                  <a:schemeClr val="tx1"/>
                </a:solidFill>
                <a:latin typeface="Roboto" panose="02000000000000000000" pitchFamily="2" charset="0"/>
                <a:ea typeface="Roboto" panose="02000000000000000000" pitchFamily="2" charset="0"/>
              </a:rPr>
              <a:t>Підвищення ефективності роботи. </a:t>
            </a:r>
          </a:p>
          <a:p>
            <a:pPr marL="342900" indent="-342900">
              <a:buFont typeface="Wingdings" panose="05000000000000000000" pitchFamily="2" charset="2"/>
              <a:buChar char="§"/>
            </a:pPr>
            <a:r>
              <a:rPr lang="ru-RU" sz="2000" dirty="0">
                <a:solidFill>
                  <a:schemeClr val="tx1"/>
                </a:solidFill>
                <a:latin typeface="Roboto" panose="02000000000000000000" pitchFamily="2" charset="0"/>
                <a:ea typeface="Roboto" panose="02000000000000000000" pitchFamily="2" charset="0"/>
              </a:rPr>
              <a:t>Краща взаємодія в команді. </a:t>
            </a:r>
          </a:p>
          <a:p>
            <a:pPr marL="342900" indent="-342900">
              <a:buFont typeface="Wingdings" panose="05000000000000000000" pitchFamily="2" charset="2"/>
              <a:buChar char="§"/>
            </a:pPr>
            <a:r>
              <a:rPr lang="ru-RU" sz="2000" dirty="0">
                <a:solidFill>
                  <a:schemeClr val="tx1"/>
                </a:solidFill>
                <a:latin typeface="Roboto" panose="02000000000000000000" pitchFamily="2" charset="0"/>
                <a:ea typeface="Roboto" panose="02000000000000000000" pitchFamily="2" charset="0"/>
              </a:rPr>
              <a:t>Висока гнучкість.</a:t>
            </a:r>
          </a:p>
          <a:p>
            <a:pPr marL="342900" indent="-342900">
              <a:buFont typeface="Wingdings" panose="05000000000000000000" pitchFamily="2" charset="2"/>
              <a:buChar char="§"/>
            </a:pPr>
            <a:r>
              <a:rPr lang="ru-RU" sz="2000" dirty="0">
                <a:solidFill>
                  <a:schemeClr val="tx1"/>
                </a:solidFill>
                <a:latin typeface="Roboto" panose="02000000000000000000" pitchFamily="2" charset="0"/>
                <a:ea typeface="Roboto" panose="02000000000000000000" pitchFamily="2" charset="0"/>
              </a:rPr>
              <a:t>Скорочення часу на обговорення та наради. </a:t>
            </a:r>
            <a:endParaRPr lang="en-US" dirty="0">
              <a:solidFill>
                <a:schemeClr val="tx1"/>
              </a:solidFill>
              <a:latin typeface="Roboto" panose="02000000000000000000" pitchFamily="2" charset="0"/>
              <a:ea typeface="Roboto" panose="02000000000000000000" pitchFamily="2" charset="0"/>
            </a:endParaRPr>
          </a:p>
        </p:txBody>
      </p:sp>
      <p:sp>
        <p:nvSpPr>
          <p:cNvPr id="5" name="Місце для тексту 3">
            <a:extLst>
              <a:ext uri="{FF2B5EF4-FFF2-40B4-BE49-F238E27FC236}">
                <a16:creationId xmlns:a16="http://schemas.microsoft.com/office/drawing/2014/main" id="{3CBD3AE7-D15F-4937-9925-252BB1FB3F2F}"/>
              </a:ext>
            </a:extLst>
          </p:cNvPr>
          <p:cNvSpPr txBox="1">
            <a:spLocks/>
          </p:cNvSpPr>
          <p:nvPr/>
        </p:nvSpPr>
        <p:spPr>
          <a:xfrm>
            <a:off x="6330696" y="1451008"/>
            <a:ext cx="5175504" cy="3429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1200"/>
              </a:spcAft>
            </a:pPr>
            <a:r>
              <a:rPr lang="ru-RU" sz="2800" b="1" dirty="0">
                <a:solidFill>
                  <a:srgbClr val="FF0000"/>
                </a:solidFill>
              </a:rPr>
              <a:t>Недол</a:t>
            </a:r>
            <a:r>
              <a:rPr lang="uk-UA" sz="2800" b="1" dirty="0">
                <a:solidFill>
                  <a:srgbClr val="FF0000"/>
                </a:solidFill>
              </a:rPr>
              <a:t>іки</a:t>
            </a:r>
          </a:p>
          <a:p>
            <a:pPr marL="342900" indent="-342900" algn="l">
              <a:buFont typeface="Wingdings" panose="05000000000000000000" pitchFamily="2" charset="2"/>
              <a:buChar char="§"/>
            </a:pPr>
            <a:r>
              <a:rPr lang="ru-RU" sz="2000" dirty="0">
                <a:solidFill>
                  <a:schemeClr val="tx1"/>
                </a:solidFill>
                <a:latin typeface="Roboto" panose="02000000000000000000" pitchFamily="2" charset="0"/>
              </a:rPr>
              <a:t>Вимагає постійної наявності завдань, як на конвеєрі. </a:t>
            </a:r>
          </a:p>
          <a:p>
            <a:pPr marL="342900" indent="-342900" algn="l">
              <a:buFont typeface="Wingdings" panose="05000000000000000000" pitchFamily="2" charset="2"/>
              <a:buChar char="§"/>
            </a:pPr>
            <a:r>
              <a:rPr lang="ru-RU" sz="2000" dirty="0">
                <a:solidFill>
                  <a:schemeClr val="tx1"/>
                </a:solidFill>
                <a:latin typeface="Roboto" panose="02000000000000000000" pitchFamily="2" charset="0"/>
              </a:rPr>
              <a:t>Немає часових обмежень. </a:t>
            </a:r>
          </a:p>
          <a:p>
            <a:pPr marL="342900" indent="-342900" algn="l">
              <a:buFont typeface="Wingdings" panose="05000000000000000000" pitchFamily="2" charset="2"/>
              <a:buChar char="§"/>
            </a:pPr>
            <a:r>
              <a:rPr lang="ru-RU" sz="2000" dirty="0">
                <a:solidFill>
                  <a:schemeClr val="tx1"/>
                </a:solidFill>
                <a:latin typeface="Roboto" panose="02000000000000000000" pitchFamily="2" charset="0"/>
              </a:rPr>
              <a:t>Можна “втратити” задачі з високим пріоритетом. </a:t>
            </a:r>
            <a:endParaRPr lang="en-US" sz="2000" dirty="0">
              <a:solidFill>
                <a:schemeClr val="tx1"/>
              </a:solidFill>
            </a:endParaRPr>
          </a:p>
        </p:txBody>
      </p:sp>
      <p:sp>
        <p:nvSpPr>
          <p:cNvPr id="6" name="Заголовок 1">
            <a:extLst>
              <a:ext uri="{FF2B5EF4-FFF2-40B4-BE49-F238E27FC236}">
                <a16:creationId xmlns:a16="http://schemas.microsoft.com/office/drawing/2014/main" id="{F72411BB-31B7-4E55-BDB9-7939D8D89EDE}"/>
              </a:ext>
            </a:extLst>
          </p:cNvPr>
          <p:cNvSpPr>
            <a:spLocks noGrp="1"/>
          </p:cNvSpPr>
          <p:nvPr>
            <p:ph type="title"/>
          </p:nvPr>
        </p:nvSpPr>
        <p:spPr>
          <a:xfrm>
            <a:off x="685800" y="445169"/>
            <a:ext cx="10820400" cy="685800"/>
          </a:xfrm>
        </p:spPr>
        <p:txBody>
          <a:bodyPr>
            <a:normAutofit fontScale="90000"/>
          </a:bodyPr>
          <a:lstStyle/>
          <a:p>
            <a:r>
              <a:rPr lang="en-US" dirty="0">
                <a:latin typeface="Segoe UI Variable Display Semib" pitchFamily="2" charset="0"/>
              </a:rPr>
              <a:t>AGILE Framework - KANBAN</a:t>
            </a:r>
          </a:p>
        </p:txBody>
      </p:sp>
    </p:spTree>
    <p:extLst>
      <p:ext uri="{BB962C8B-B14F-4D97-AF65-F5344CB8AC3E}">
        <p14:creationId xmlns:p14="http://schemas.microsoft.com/office/powerpoint/2010/main" val="18877716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B1338D22-9186-47B5-B8C5-9277EE293044}"/>
              </a:ext>
            </a:extLst>
          </p:cNvPr>
          <p:cNvSpPr>
            <a:spLocks noGrp="1"/>
          </p:cNvSpPr>
          <p:nvPr>
            <p:ph type="title"/>
          </p:nvPr>
        </p:nvSpPr>
        <p:spPr>
          <a:xfrm>
            <a:off x="541421" y="356136"/>
            <a:ext cx="10820400" cy="685800"/>
          </a:xfrm>
        </p:spPr>
        <p:txBody>
          <a:bodyPr>
            <a:normAutofit fontScale="90000"/>
          </a:bodyPr>
          <a:lstStyle/>
          <a:p>
            <a:r>
              <a:rPr lang="uk-UA" dirty="0">
                <a:latin typeface="Segoe UI Variable Display Semib" pitchFamily="2" charset="0"/>
              </a:rPr>
              <a:t>Коли та яку методологію використовувати?</a:t>
            </a:r>
            <a:endParaRPr lang="en-US" dirty="0">
              <a:latin typeface="Segoe UI Variable Display Semib" pitchFamily="2" charset="0"/>
            </a:endParaRPr>
          </a:p>
        </p:txBody>
      </p:sp>
      <p:pic>
        <p:nvPicPr>
          <p:cNvPr id="5" name="Рисунок 5">
            <a:extLst>
              <a:ext uri="{FF2B5EF4-FFF2-40B4-BE49-F238E27FC236}">
                <a16:creationId xmlns:a16="http://schemas.microsoft.com/office/drawing/2014/main" id="{4C6190F3-45AB-4B44-BCA8-269ADF4C56B9}"/>
              </a:ext>
            </a:extLst>
          </p:cNvPr>
          <p:cNvPicPr>
            <a:picLocks noChangeAspect="1"/>
          </p:cNvPicPr>
          <p:nvPr/>
        </p:nvPicPr>
        <p:blipFill>
          <a:blip r:embed="rId2"/>
          <a:stretch>
            <a:fillRect/>
          </a:stretch>
        </p:blipFill>
        <p:spPr>
          <a:xfrm>
            <a:off x="453189" y="1876513"/>
            <a:ext cx="11285621" cy="3631470"/>
          </a:xfrm>
          <a:prstGeom prst="rect">
            <a:avLst/>
          </a:prstGeom>
        </p:spPr>
      </p:pic>
    </p:spTree>
    <p:extLst>
      <p:ext uri="{BB962C8B-B14F-4D97-AF65-F5344CB8AC3E}">
        <p14:creationId xmlns:p14="http://schemas.microsoft.com/office/powerpoint/2010/main" val="17413648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657E79F722A6464EA424781432ED9DA3" ma:contentTypeVersion="10" ma:contentTypeDescription="Створення нового документа." ma:contentTypeScope="" ma:versionID="6465eccec37f5b0b9f4c66f68bcc5c9c">
  <xsd:schema xmlns:xsd="http://www.w3.org/2001/XMLSchema" xmlns:xs="http://www.w3.org/2001/XMLSchema" xmlns:p="http://schemas.microsoft.com/office/2006/metadata/properties" xmlns:ns2="83d6ca54-f76a-49c6-8681-7871cab654f0" xmlns:ns3="4de1ffb0-3e50-4596-80ff-7d86b39fcc40" targetNamespace="http://schemas.microsoft.com/office/2006/metadata/properties" ma:root="true" ma:fieldsID="3c57ace63e951481e608264caaf01059" ns2:_="" ns3:_="">
    <xsd:import namespace="83d6ca54-f76a-49c6-8681-7871cab654f0"/>
    <xsd:import namespace="4de1ffb0-3e50-4596-80ff-7d86b39fcc4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d6ca54-f76a-49c6-8681-7871cab654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Теги зображень" ma:readOnly="false" ma:fieldId="{5cf76f15-5ced-4ddc-b409-7134ff3c332f}" ma:taxonomyMulti="true" ma:sspId="e5ed4982-6aa5-4c40-bfe4-44b657fb2fd0"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de1ffb0-3e50-4596-80ff-7d86b39fcc40"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ea268ab9-29dc-4217-8c2d-f3d227c5ffcf}" ma:internalName="TaxCatchAll" ma:showField="CatchAllData" ma:web="4de1ffb0-3e50-4596-80ff-7d86b39fcc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вмісту"/>
        <xsd:element ref="dc:title" minOccurs="0" maxOccurs="1" ma:index="4" ma:displayName="Заголовок"/>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4de1ffb0-3e50-4596-80ff-7d86b39fcc40" xsi:nil="true"/>
    <lcf76f155ced4ddcb4097134ff3c332f xmlns="83d6ca54-f76a-49c6-8681-7871cab654f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40B41D6-5146-4FAD-8977-1A82E12D0687}"/>
</file>

<file path=customXml/itemProps2.xml><?xml version="1.0" encoding="utf-8"?>
<ds:datastoreItem xmlns:ds="http://schemas.openxmlformats.org/officeDocument/2006/customXml" ds:itemID="{857EE596-66E6-4983-A9A6-45A55C838410}"/>
</file>

<file path=customXml/itemProps3.xml><?xml version="1.0" encoding="utf-8"?>
<ds:datastoreItem xmlns:ds="http://schemas.openxmlformats.org/officeDocument/2006/customXml" ds:itemID="{572F5664-45D8-4982-8527-D1815DBC639E}"/>
</file>

<file path=docProps/app.xml><?xml version="1.0" encoding="utf-8"?>
<Properties xmlns="http://schemas.openxmlformats.org/officeDocument/2006/extended-properties" xmlns:vt="http://schemas.openxmlformats.org/officeDocument/2006/docPropsVTypes">
  <Template/>
  <TotalTime>7232</TotalTime>
  <Words>2097</Words>
  <Application>Microsoft Office PowerPoint</Application>
  <PresentationFormat>Widescreen</PresentationFormat>
  <Paragraphs>285</Paragraphs>
  <Slides>48</Slides>
  <Notes>0</Notes>
  <HiddenSlides>1</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48</vt:i4>
      </vt:variant>
    </vt:vector>
  </HeadingPairs>
  <TitlesOfParts>
    <vt:vector size="65" baseType="lpstr">
      <vt:lpstr>-apple-system</vt:lpstr>
      <vt:lpstr>Arial</vt:lpstr>
      <vt:lpstr>Calibri</vt:lpstr>
      <vt:lpstr>Calibri Light</vt:lpstr>
      <vt:lpstr>CharterITCPro-Regular</vt:lpstr>
      <vt:lpstr>Corbel</vt:lpstr>
      <vt:lpstr>Gill Sans</vt:lpstr>
      <vt:lpstr>inherit</vt:lpstr>
      <vt:lpstr>Noto Sans Symbols</vt:lpstr>
      <vt:lpstr>Open Sans</vt:lpstr>
      <vt:lpstr>Roboto</vt:lpstr>
      <vt:lpstr>Segoe UI</vt:lpstr>
      <vt:lpstr>Segoe UI Variable Display Semib</vt:lpstr>
      <vt:lpstr>Segoe UI Variable Text Semibold</vt:lpstr>
      <vt:lpstr>var(--med-font)</vt:lpstr>
      <vt:lpstr>Wingdings</vt:lpstr>
      <vt:lpstr>Office Theme</vt:lpstr>
      <vt:lpstr>МЕТОДОЛОГІЇ  РОЗРОБКИ ІТ ПРОЄКТІВ  ЯК ОБРАТИ НАЙЕФЕКТИВНІШУ</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ЩО ВРАХОВУВАТИ?</vt:lpstr>
      <vt:lpstr>ЕТАПИ РОЗВИТКУ КОМАНДИ</vt:lpstr>
      <vt:lpstr>ХТО ВИ В КОМАНДІ?</vt:lpstr>
      <vt:lpstr>РОЛЬ ЛІДЕРА</vt:lpstr>
      <vt:lpstr>РОЛІ В ІТ ПРОЕКТІ</vt:lpstr>
      <vt:lpstr>PROJECT&amp;PRODUCT MANAGER</vt:lpstr>
      <vt:lpstr>BUSINESS ANALYST</vt:lpstr>
      <vt:lpstr>ARCHITECT</vt:lpstr>
      <vt:lpstr>DEVELOPER</vt:lpstr>
      <vt:lpstr>QUALITY CONTROL (QC)</vt:lpstr>
      <vt:lpstr>РЕСУРСИ ДЛЯ КОМАНДНОЇ РОБОТИ</vt:lpstr>
      <vt:lpstr>ЖИТТЄВИЙ ЦИКЛ ІТ ПРОЄКТУ</vt:lpstr>
      <vt:lpstr>ЕТАПИ СТВОРЕННЯ ПРОДУКТУ</vt:lpstr>
      <vt:lpstr>SOFTWARE DEVELOPMENT LIFE CYCLE</vt:lpstr>
      <vt:lpstr>SOFTWARE DEVELOPMENT METHODOLOGY</vt:lpstr>
      <vt:lpstr>МЕТОДОЛОГІЇ РОЗРОБКИ ПЗ</vt:lpstr>
      <vt:lpstr>КАСКАДНА МОДЕЛЬ</vt:lpstr>
      <vt:lpstr>КАСКАДНА МОДЕЛЬ</vt:lpstr>
      <vt:lpstr>V-ПОДІБНА МОДЕЛЬ</vt:lpstr>
      <vt:lpstr>V-ПОДІБНА МОДЕЛЬ</vt:lpstr>
      <vt:lpstr>СПІРАЛЬНА МОДЕЛЬ</vt:lpstr>
      <vt:lpstr>СПІРАЛЬНА МОДЕЛЬ</vt:lpstr>
      <vt:lpstr>ІНКРЕМЕНТНА МОДЕЛЬ</vt:lpstr>
      <vt:lpstr>ІНКРЕМЕНТНА МОДЕЛЬ</vt:lpstr>
      <vt:lpstr>AGILE INTRO</vt:lpstr>
      <vt:lpstr>ЯК ЦЕ ПРАЦЮЄ?</vt:lpstr>
      <vt:lpstr>AGILE МЕТОДОЛОГІЯ</vt:lpstr>
      <vt:lpstr>AGILE МЕТОДОЛОГІЯ</vt:lpstr>
      <vt:lpstr>WATERFALL МЕТОДОЛОГІЯ</vt:lpstr>
      <vt:lpstr>WATERFALL МЕТОДОЛОГІЯ</vt:lpstr>
      <vt:lpstr>AGILE Framework - SCRUM</vt:lpstr>
      <vt:lpstr>PRODUCT/SPRINT Backlog</vt:lpstr>
      <vt:lpstr>РОЛІ В SCRUM</vt:lpstr>
      <vt:lpstr>SCRUM MEETINGS</vt:lpstr>
      <vt:lpstr>AGILE Framework - KANBAN</vt:lpstr>
      <vt:lpstr>AGILE Framework - KANBAN</vt:lpstr>
      <vt:lpstr>Коли та яку методологію використовувати?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МЕТОДОЛОГІЇ РОЗРОБКИ ІТ ПРОЄКТІВ  ЯК ОБРАТИ НАЙЕФЕКТИВНІШУ</dc:title>
  <dc:creator>Виталий Сватко</dc:creator>
  <cp:lastModifiedBy>Виталий Сватко</cp:lastModifiedBy>
  <cp:revision>38</cp:revision>
  <dcterms:created xsi:type="dcterms:W3CDTF">2025-09-03T16:16:09Z</dcterms:created>
  <dcterms:modified xsi:type="dcterms:W3CDTF">2025-09-11T06:47:58Z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0x010100657E79F722A6464EA424781432ED9DA3</vt:lpwstr>
  </property>
</Properties>
</file>